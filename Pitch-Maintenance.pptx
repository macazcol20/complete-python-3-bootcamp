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FE4E2AE_9B70E189.xml" ContentType="application/vnd.ms-powerpoint.comments+xml"/>
  <Override PartName="/ppt/comments/modernComment_7FE4E2B2_675E44E.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4"/>
  </p:sldMasterIdLst>
  <p:notesMasterIdLst>
    <p:notesMasterId r:id="rId10"/>
  </p:notesMasterIdLst>
  <p:handoutMasterIdLst>
    <p:handoutMasterId r:id="rId11"/>
  </p:handoutMasterIdLst>
  <p:sldIdLst>
    <p:sldId id="2145706668" r:id="rId5"/>
    <p:sldId id="2145706669" r:id="rId6"/>
    <p:sldId id="2145706670" r:id="rId7"/>
    <p:sldId id="2145706674" r:id="rId8"/>
    <p:sldId id="2145706673" r:id="rId9"/>
  </p:sldIdLst>
  <p:sldSz cx="12192000" cy="6858000"/>
  <p:notesSz cx="6858000" cy="9144000"/>
  <p:custDataLst>
    <p:tags r:id="rId12"/>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670B200-480A-8B60-BBD6-D58FA3F811B2}" name="Nancy Epstein" initials="NE" userId="Nancy Epstein" providerId="None"/>
  <p188:author id="{984A371C-893D-0748-D433-011383D74C5C}" name="Ellens, Marc" initials="EM" userId="S::marc.ellens@capgemini-gs.com::fa0fccd1-d950-4a74-bfef-0d7c16f91895" providerId="AD"/>
  <p188:author id="{B541CE75-CF0C-D3BF-38F2-5D7D9E894849}" name="Ariotti, Scott" initials="AS" userId="S::scott.ariotti@capgemini-gs.com::db86454e-2eba-4a1b-961d-988c9bae4503" providerId="AD"/>
  <p188:author id="{432AFB78-699D-C325-F7B5-D045223394F3}" name="Vanderbeck, John" initials="VJ" userId="S::john.vanderbeck@capgemini-gs.com::2a91e8d7-0142-4902-9d8e-e717d23be0c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AD"/>
    <a:srgbClr val="000000"/>
    <a:srgbClr val="F2F2F2"/>
    <a:srgbClr val="A6A6A6"/>
    <a:srgbClr val="D4D4D4"/>
    <a:srgbClr val="A4A4A4"/>
    <a:srgbClr val="CBD5E3"/>
    <a:srgbClr val="FF6327"/>
    <a:srgbClr val="01D1D0"/>
    <a:srgbClr val="E6E7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3AD124-0324-F0E8-8F29-6EBCC7EE0603}" v="1269" dt="2025-04-14T19:03:07.109"/>
    <p1510:client id="{A915A1BE-1166-3796-2326-F55857C34C66}" v="596" dt="2025-04-14T21:08:49.912"/>
    <p1510:client id="{AEE63040-CEF0-F91B-8FFF-74E301A1EBE3}" v="17" dt="2025-04-14T21:07:41.937"/>
    <p1510:client id="{EF2525FE-73D3-BFA0-09BB-3C15019C094C}" v="684" dt="2025-04-14T21:05:01.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120" y="240"/>
      </p:cViewPr>
      <p:guideLst>
        <p:guide orient="horz" pos="2341"/>
        <p:guide pos="3659"/>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gs" Target="tags/tag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omments/modernComment_7FE4E2AE_9B70E189.xml><?xml version="1.0" encoding="utf-8"?>
<p188:cmLst xmlns:a="http://schemas.openxmlformats.org/drawingml/2006/main" xmlns:r="http://schemas.openxmlformats.org/officeDocument/2006/relationships" xmlns:p188="http://schemas.microsoft.com/office/powerpoint/2018/8/main">
  <p188:cm id="{23ECD928-9DC6-46B3-A064-434CE3E5DF67}" authorId="{1670B200-480A-8B60-BBD6-D58FA3F811B2}" created="2025-03-26T20:41:52.041">
    <ac:deMkLst xmlns:ac="http://schemas.microsoft.com/office/drawing/2013/main/command">
      <pc:docMk xmlns:pc="http://schemas.microsoft.com/office/powerpoint/2013/main/command"/>
      <pc:sldMk xmlns:pc="http://schemas.microsoft.com/office/powerpoint/2013/main/command" cId="2607866249" sldId="2145706670"/>
      <ac:spMk id="3" creationId="{E896D343-50E7-5838-DDFE-A0736B6FBAE6}"/>
    </ac:deMkLst>
    <p188:txBody>
      <a:bodyPr/>
      <a:lstStyle/>
      <a:p>
        <a:r>
          <a:rPr lang="en-US"/>
          <a:t>Doesn’t seem to be set up for automatic calculation.</a:t>
        </a:r>
      </a:p>
    </p188:txBody>
  </p188:cm>
</p188:cmLst>
</file>

<file path=ppt/comments/modernComment_7FE4E2B2_675E44E.xml><?xml version="1.0" encoding="utf-8"?>
<p188:cmLst xmlns:a="http://schemas.openxmlformats.org/drawingml/2006/main" xmlns:r="http://schemas.openxmlformats.org/officeDocument/2006/relationships" xmlns:p188="http://schemas.microsoft.com/office/powerpoint/2018/8/main">
  <p188:cm id="{20CB46AF-A1D9-434E-BE19-E257CBE88EC2}" authorId="{B541CE75-CF0C-D3BF-38F2-5D7D9E894849}" created="2025-04-08T20:02:56.388">
    <ac:deMkLst xmlns:ac="http://schemas.microsoft.com/office/drawing/2013/main/command">
      <pc:docMk xmlns:pc="http://schemas.microsoft.com/office/powerpoint/2013/main/command"/>
      <pc:sldMk xmlns:pc="http://schemas.microsoft.com/office/powerpoint/2013/main/command" cId="108389454" sldId="2145706674"/>
      <ac:spMk id="4" creationId="{E150FF32-FCA2-45C1-7A91-F9989CA62FCF}"/>
    </ac:deMkLst>
    <p188:replyLst>
      <p188:reply id="{4F8CEA7F-4A1B-43FE-818D-DFF6874317BC}" authorId="{984A371C-893D-0748-D433-011383D74C5C}" created="2025-04-08T20:21:18.726">
        <p188:txBody>
          <a:bodyPr/>
          <a:lstStyle/>
          <a:p>
            <a:r>
              <a:rPr lang="en-US"/>
              <a:t>I think it makes sense. </a:t>
            </a:r>
          </a:p>
        </p188:txBody>
      </p188:reply>
      <p188:reply id="{F3374EF9-D62C-49A0-9879-BD30E2D72E3F}" authorId="{432AFB78-699D-C325-F7B5-D045223394F3}" created="2025-04-08T23:05:50.804">
        <p188:txBody>
          <a:bodyPr/>
          <a:lstStyle/>
          <a:p>
            <a:r>
              <a:rPr lang="en-US"/>
              <a:t>hah didn't even notice the menus were in Deutsch</a:t>
            </a:r>
          </a:p>
        </p188:txBody>
      </p188:reply>
    </p188:replyLst>
    <p188:txBody>
      <a:bodyPr/>
      <a:lstStyle/>
      <a:p>
        <a:r>
          <a:rPr lang="en-US"/>
          <a:t>[@Vanderbeck, John] [@Ellens, Marc]  is this making sense?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15/04/2025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15/04/2025</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BF385-16A6-D88F-9943-06D31E4E9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6A830-7F5F-2884-2855-3035162C2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044C0-BDB9-C7F6-3F54-610DBE1E1664}"/>
              </a:ext>
            </a:extLst>
          </p:cNvPr>
          <p:cNvSpPr>
            <a:spLocks noGrp="1"/>
          </p:cNvSpPr>
          <p:nvPr>
            <p:ph type="body" idx="1"/>
          </p:nvPr>
        </p:nvSpPr>
        <p:spPr/>
        <p:txBody>
          <a:bodyPr/>
          <a:lstStyle/>
          <a:p>
            <a:endParaRPr lang="en-US" b="1">
              <a:solidFill>
                <a:srgbClr val="FF0000"/>
              </a:solidFill>
            </a:endParaRPr>
          </a:p>
        </p:txBody>
      </p:sp>
      <p:sp>
        <p:nvSpPr>
          <p:cNvPr id="4" name="Slide Number Placeholder 3">
            <a:extLst>
              <a:ext uri="{FF2B5EF4-FFF2-40B4-BE49-F238E27FC236}">
                <a16:creationId xmlns:a16="http://schemas.microsoft.com/office/drawing/2014/main" id="{6A61CF79-3ADC-D71A-68D7-15E98D5EF9E9}"/>
              </a:ext>
            </a:extLst>
          </p:cNvPr>
          <p:cNvSpPr>
            <a:spLocks noGrp="1"/>
          </p:cNvSpPr>
          <p:nvPr>
            <p:ph type="sldNum" sz="quarter" idx="5"/>
          </p:nvPr>
        </p:nvSpPr>
        <p:spPr/>
        <p:txBody>
          <a:bodyPr/>
          <a:lstStyle/>
          <a:p>
            <a:fld id="{C0696B5C-12A0-4042-B4D0-BD3B9A4F58C6}" type="slidenum">
              <a:rPr lang="pt-BR" smtClean="0"/>
              <a:pPr/>
              <a:t>1</a:t>
            </a:fld>
            <a:endParaRPr lang="pt-BR"/>
          </a:p>
        </p:txBody>
      </p:sp>
    </p:spTree>
    <p:extLst>
      <p:ext uri="{BB962C8B-B14F-4D97-AF65-F5344CB8AC3E}">
        <p14:creationId xmlns:p14="http://schemas.microsoft.com/office/powerpoint/2010/main" val="2305609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BF385-16A6-D88F-9943-06D31E4E9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6A830-7F5F-2884-2855-3035162C2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044C0-BDB9-C7F6-3F54-610DBE1E1664}"/>
              </a:ext>
            </a:extLst>
          </p:cNvPr>
          <p:cNvSpPr>
            <a:spLocks noGrp="1"/>
          </p:cNvSpPr>
          <p:nvPr>
            <p:ph type="body" idx="1"/>
          </p:nvPr>
        </p:nvSpPr>
        <p:spPr/>
        <p:txBody>
          <a:bodyPr/>
          <a:lstStyle/>
          <a:p>
            <a:r>
              <a:rPr lang="en-US" b="1">
                <a:solidFill>
                  <a:srgbClr val="FF0000"/>
                </a:solidFill>
              </a:rPr>
              <a:t>Incumbent, competition, teaming partners as one group </a:t>
            </a:r>
          </a:p>
        </p:txBody>
      </p:sp>
      <p:sp>
        <p:nvSpPr>
          <p:cNvPr id="4" name="Slide Number Placeholder 3">
            <a:extLst>
              <a:ext uri="{FF2B5EF4-FFF2-40B4-BE49-F238E27FC236}">
                <a16:creationId xmlns:a16="http://schemas.microsoft.com/office/drawing/2014/main" id="{6A61CF79-3ADC-D71A-68D7-15E98D5EF9E9}"/>
              </a:ext>
            </a:extLst>
          </p:cNvPr>
          <p:cNvSpPr>
            <a:spLocks noGrp="1"/>
          </p:cNvSpPr>
          <p:nvPr>
            <p:ph type="sldNum" sz="quarter" idx="5"/>
          </p:nvPr>
        </p:nvSpPr>
        <p:spPr/>
        <p:txBody>
          <a:bodyPr/>
          <a:lstStyle/>
          <a:p>
            <a:fld id="{C0696B5C-12A0-4042-B4D0-BD3B9A4F58C6}" type="slidenum">
              <a:rPr lang="pt-BR" smtClean="0"/>
              <a:pPr/>
              <a:t>2</a:t>
            </a:fld>
            <a:endParaRPr lang="pt-BR"/>
          </a:p>
        </p:txBody>
      </p:sp>
    </p:spTree>
    <p:extLst>
      <p:ext uri="{BB962C8B-B14F-4D97-AF65-F5344CB8AC3E}">
        <p14:creationId xmlns:p14="http://schemas.microsoft.com/office/powerpoint/2010/main" val="1250990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4BB5A-F52C-C0B3-D00A-D4B4C4C4F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7C616-33F0-63D9-E849-FC516CCB7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CB4A71-BFBB-DB43-991E-AF3AF0026049}"/>
              </a:ext>
            </a:extLst>
          </p:cNvPr>
          <p:cNvSpPr>
            <a:spLocks noGrp="1"/>
          </p:cNvSpPr>
          <p:nvPr>
            <p:ph type="body" idx="1"/>
          </p:nvPr>
        </p:nvSpPr>
        <p:spPr/>
        <p:txBody>
          <a:bodyPr/>
          <a:lstStyle/>
          <a:p>
            <a:r>
              <a:rPr lang="en-US" b="1">
                <a:solidFill>
                  <a:srgbClr val="FF0000"/>
                </a:solidFill>
                <a:ea typeface="Verdana"/>
              </a:rPr>
              <a:t>1-3 months (best to worst case)</a:t>
            </a:r>
          </a:p>
          <a:p>
            <a:endParaRPr lang="en-US" b="1">
              <a:solidFill>
                <a:srgbClr val="FF0000"/>
              </a:solidFill>
              <a:ea typeface="Verdana"/>
            </a:endParaRPr>
          </a:p>
          <a:p>
            <a:r>
              <a:rPr lang="en-US" b="1">
                <a:solidFill>
                  <a:srgbClr val="FF0000"/>
                </a:solidFill>
                <a:ea typeface="Verdana"/>
              </a:rPr>
              <a:t>What is the input?  Drone 360? Lidar?</a:t>
            </a:r>
            <a:endParaRPr lang="en-US"/>
          </a:p>
          <a:p>
            <a:r>
              <a:rPr lang="en-US" b="1">
                <a:solidFill>
                  <a:srgbClr val="FF0000"/>
                </a:solidFill>
                <a:ea typeface="Verdana"/>
              </a:rPr>
              <a:t>Does the demo actually do classification or is it faked?</a:t>
            </a:r>
          </a:p>
          <a:p>
            <a:r>
              <a:rPr lang="en-US" b="1">
                <a:solidFill>
                  <a:srgbClr val="FF0000"/>
                </a:solidFill>
                <a:ea typeface="Verdana"/>
              </a:rPr>
              <a:t>Generate list of assumptions</a:t>
            </a:r>
          </a:p>
          <a:p>
            <a:pPr marL="171450" indent="-171450">
              <a:buFont typeface="Arial"/>
              <a:buChar char="•"/>
            </a:pPr>
            <a:r>
              <a:rPr lang="en-US" b="1">
                <a:solidFill>
                  <a:srgbClr val="FF0000"/>
                </a:solidFill>
                <a:ea typeface="Verdana"/>
              </a:rPr>
              <a:t>AWS/ Pipeline Setup</a:t>
            </a:r>
          </a:p>
          <a:p>
            <a:endParaRPr lang="en-US" b="1">
              <a:solidFill>
                <a:srgbClr val="FF0000"/>
              </a:solidFill>
              <a:ea typeface="Verdana"/>
            </a:endParaRPr>
          </a:p>
          <a:p>
            <a:r>
              <a:rPr lang="en-US" b="1">
                <a:solidFill>
                  <a:srgbClr val="FF0000"/>
                </a:solidFill>
                <a:ea typeface="Verdana"/>
              </a:rPr>
              <a:t>List of direct costs (software/ licenses, estimated monthly AWS </a:t>
            </a:r>
            <a:r>
              <a:rPr lang="en-US" b="1" err="1">
                <a:solidFill>
                  <a:srgbClr val="FF0000"/>
                </a:solidFill>
                <a:ea typeface="Verdana"/>
              </a:rPr>
              <a:t>etc</a:t>
            </a:r>
            <a:r>
              <a:rPr lang="en-US" b="1">
                <a:solidFill>
                  <a:srgbClr val="FF0000"/>
                </a:solidFill>
                <a:ea typeface="Verdana"/>
              </a:rPr>
              <a:t>)</a:t>
            </a:r>
          </a:p>
        </p:txBody>
      </p:sp>
      <p:sp>
        <p:nvSpPr>
          <p:cNvPr id="4" name="Slide Number Placeholder 3">
            <a:extLst>
              <a:ext uri="{FF2B5EF4-FFF2-40B4-BE49-F238E27FC236}">
                <a16:creationId xmlns:a16="http://schemas.microsoft.com/office/drawing/2014/main" id="{6F0D0F97-EE2E-D3A8-3D31-17B40E2C6F26}"/>
              </a:ext>
            </a:extLst>
          </p:cNvPr>
          <p:cNvSpPr>
            <a:spLocks noGrp="1"/>
          </p:cNvSpPr>
          <p:nvPr>
            <p:ph type="sldNum" sz="quarter" idx="5"/>
          </p:nvPr>
        </p:nvSpPr>
        <p:spPr/>
        <p:txBody>
          <a:bodyPr/>
          <a:lstStyle/>
          <a:p>
            <a:fld id="{C0696B5C-12A0-4042-B4D0-BD3B9A4F58C6}" type="slidenum">
              <a:rPr lang="pt-BR" smtClean="0"/>
              <a:pPr/>
              <a:t>3</a:t>
            </a:fld>
            <a:endParaRPr lang="pt-BR"/>
          </a:p>
        </p:txBody>
      </p:sp>
    </p:spTree>
    <p:extLst>
      <p:ext uri="{BB962C8B-B14F-4D97-AF65-F5344CB8AC3E}">
        <p14:creationId xmlns:p14="http://schemas.microsoft.com/office/powerpoint/2010/main" val="23899330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hyperlink" Target="http://www.youtube.com/capgeminimedia"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www.linkedin.com/company/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twitter.com/capgemini" TargetMode="External"/><Relationship Id="rId4" Type="http://schemas.openxmlformats.org/officeDocument/2006/relationships/hyperlink" Target="http://www.facebook.com/capgemini" TargetMode="External"/><Relationship Id="rId9"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hyperlink" Target="http://www.twitter.com/capgemini" TargetMode="Externa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4.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4.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 Id="rId14" Type="http://schemas.openxmlformats.org/officeDocument/2006/relationships/image" Target="../media/image12.sv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hyperlink" Target="http://www.youtube.com/capgeminimedia" TargetMode="External"/><Relationship Id="rId14" Type="http://schemas.openxmlformats.org/officeDocument/2006/relationships/image" Target="../media/image1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7.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7.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8.png"/><Relationship Id="rId3"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hyperlink" Target="http://www.youtube.com/capgeminimedia" TargetMode="External"/><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hyperlink" Target="http://www.linkedin.com/company/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twitter.com/capgemini" TargetMode="External"/><Relationship Id="rId4" Type="http://schemas.openxmlformats.org/officeDocument/2006/relationships/hyperlink" Target="http://www.facebook.com/capgemini" TargetMode="External"/><Relationship Id="rId9"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6" name="Image 5" descr="Capgemini">
            <a:extLst>
              <a:ext uri="{FF2B5EF4-FFF2-40B4-BE49-F238E27FC236}">
                <a16:creationId xmlns:a16="http://schemas.microsoft.com/office/drawing/2014/main" id="{B290AA58-6524-4A50-851C-8EA6E75AA5E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114616468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Image 6" descr="Capgemini">
            <a:extLst>
              <a:ext uri="{FF2B5EF4-FFF2-40B4-BE49-F238E27FC236}">
                <a16:creationId xmlns:a16="http://schemas.microsoft.com/office/drawing/2014/main" id="{873884F3-4760-488E-A25C-0D285C88AE3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91580975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6" name="Image 5" descr="Capgemini">
            <a:extLst>
              <a:ext uri="{FF2B5EF4-FFF2-40B4-BE49-F238E27FC236}">
                <a16:creationId xmlns:a16="http://schemas.microsoft.com/office/drawing/2014/main" id="{4E7913BD-2F2A-43EA-9355-0DD8C035B5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31066277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35864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fr-FR"/>
              <a:t>Modifiez le style du titre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fr-FR"/>
              <a:t>Cliquez sur l'icône pour ajouter une image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984728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2080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1052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702503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8272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930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2265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72961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9659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0205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79863836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813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34056626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30606095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3" name="Image 12" descr="Capgemini">
            <a:extLst>
              <a:ext uri="{FF2B5EF4-FFF2-40B4-BE49-F238E27FC236}">
                <a16:creationId xmlns:a16="http://schemas.microsoft.com/office/drawing/2014/main" id="{A0C8CF1B-496A-4A5B-A698-8344534684E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808368" flipV="1">
            <a:off x="4403152" y="337083"/>
            <a:ext cx="8831279" cy="4103533"/>
          </a:xfrm>
          <a:prstGeom prst="rect">
            <a:avLst/>
          </a:prstGeom>
        </p:spPr>
      </p:pic>
      <p:pic>
        <p:nvPicPr>
          <p:cNvPr id="21" name="Picture 7" descr="facebook">
            <a:hlinkClick r:id="rId4"/>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pic>
        <p:nvPicPr>
          <p:cNvPr id="17" name="Picture 2" descr="LinkedIn">
            <a:hlinkClick r:id="rId6"/>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SlideShare">
            <a:hlinkClick r:id="rId8"/>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Twitter">
            <a:hlinkClick r:id="rId10"/>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YouTube">
            <a:hlinkClick r:id="rId12"/>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spTree>
    <p:extLst>
      <p:ext uri="{BB962C8B-B14F-4D97-AF65-F5344CB8AC3E}">
        <p14:creationId xmlns:p14="http://schemas.microsoft.com/office/powerpoint/2010/main" val="240433091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email">
            <a:extLst>
              <a:ext uri="{28A0092B-C50C-407E-A947-70E740481C1C}">
                <a14:useLocalDpi xmlns:a14="http://schemas.microsoft.com/office/drawing/2010/main"/>
              </a:ext>
            </a:extLst>
          </a:blip>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4" name="Image 23" descr="Capgemini">
            <a:extLst>
              <a:ext uri="{FF2B5EF4-FFF2-40B4-BE49-F238E27FC236}">
                <a16:creationId xmlns:a16="http://schemas.microsoft.com/office/drawing/2014/main" id="{67291309-8FC0-47AE-9F48-E59E45B7FC66}"/>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831487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FBB6F5A-C089-49EB-85DA-04CA2652AF6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4882211" cy="6858000"/>
          </a:xfrm>
          <a:prstGeom prst="rect">
            <a:avLst/>
          </a:prstGeom>
        </p:spPr>
      </p:pic>
      <p:sp>
        <p:nvSpPr>
          <p:cNvPr id="2" name="Title 1">
            <a:extLst>
              <a:ext uri="{FF2B5EF4-FFF2-40B4-BE49-F238E27FC236}">
                <a16:creationId xmlns:a16="http://schemas.microsoft.com/office/drawing/2014/main" id="{4774F36F-3194-40C1-BFCB-D2FC8CB290B2}"/>
              </a:ext>
            </a:extLst>
          </p:cNvPr>
          <p:cNvSpPr>
            <a:spLocks noGrp="1"/>
          </p:cNvSpPr>
          <p:nvPr>
            <p:ph type="title" hasCustomPrompt="1"/>
          </p:nvPr>
        </p:nvSpPr>
        <p:spPr>
          <a:xfrm>
            <a:off x="191344" y="9144"/>
            <a:ext cx="3056632" cy="827568"/>
          </a:xfrm>
          <a:prstGeom prst="rect">
            <a:avLst/>
          </a:prstGeom>
        </p:spPr>
        <p:txBody>
          <a:bodyPr/>
          <a:lstStyle>
            <a:lvl1pPr algn="l">
              <a:defRPr sz="4000">
                <a:solidFill>
                  <a:schemeClr val="bg1"/>
                </a:solidFill>
              </a:defRPr>
            </a:lvl1pPr>
          </a:lstStyle>
          <a:p>
            <a:r>
              <a:rPr lang="en-US"/>
              <a:t>Agenda</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2080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5229200"/>
            <a:ext cx="6699299"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933246"/>
            <a:ext cx="6699299" cy="2243691"/>
          </a:xfrm>
        </p:spPr>
        <p:txBody>
          <a:bodyPr wrap="square" lIns="36000" rIns="36000" bIns="0" anchor="b" anchorCtr="0">
            <a:spAutoFit/>
          </a:bodyPr>
          <a:lstStyle>
            <a:lvl1pPr algn="l">
              <a:lnSpc>
                <a:spcPct val="90000"/>
              </a:lnSpc>
              <a:defRPr sz="5400" b="1" baseline="0">
                <a:solidFill>
                  <a:schemeClr val="bg1"/>
                </a:solidFill>
                <a:latin typeface="+mn-lt"/>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84BC735E-A9A3-4A52-8056-D6C0AF2637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1384" y="642523"/>
            <a:ext cx="4200525" cy="962025"/>
          </a:xfrm>
          <a:prstGeom prst="rect">
            <a:avLst/>
          </a:prstGeom>
        </p:spPr>
      </p:pic>
    </p:spTree>
    <p:extLst>
      <p:ext uri="{BB962C8B-B14F-4D97-AF65-F5344CB8AC3E}">
        <p14:creationId xmlns:p14="http://schemas.microsoft.com/office/powerpoint/2010/main" val="385961422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ltGray">
          <a:xfrm>
            <a:off x="0" y="0"/>
            <a:ext cx="2783632" cy="6858001"/>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0F43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grpSp>
        <p:nvGrpSpPr>
          <p:cNvPr id="8" name="Group 37">
            <a:extLst>
              <a:ext uri="{FF2B5EF4-FFF2-40B4-BE49-F238E27FC236}">
                <a16:creationId xmlns:a16="http://schemas.microsoft.com/office/drawing/2014/main" id="{A0131EFA-E3CA-4470-968C-AA4EF9936122}"/>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FE038D48-6B7B-4F99-AD46-1A717A987A8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099682C-62AB-45A8-A317-C09E541E1A7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12964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p:nvPicPr>
        <p:blipFill rotWithShape="1">
          <a:blip r:embed="rId12" cstate="email">
            <a:extLst>
              <a:ext uri="{28A0092B-C50C-407E-A947-70E740481C1C}">
                <a14:useLocalDpi xmlns:a14="http://schemas.microsoft.com/office/drawing/2010/main"/>
              </a:ext>
            </a:extLst>
          </a:blip>
          <a:srcRect/>
          <a:stretch/>
        </p:blipFill>
        <p:spPr>
          <a:xfrm rot="1808368" flipV="1">
            <a:off x="4394821" y="417955"/>
            <a:ext cx="8667942" cy="4117924"/>
          </a:xfrm>
          <a:prstGeom prst="rect">
            <a:avLst/>
          </a:prstGeom>
        </p:spPr>
      </p:pic>
      <p:pic>
        <p:nvPicPr>
          <p:cNvPr id="22" name="Graphic 21">
            <a:extLst>
              <a:ext uri="{FF2B5EF4-FFF2-40B4-BE49-F238E27FC236}">
                <a16:creationId xmlns:a16="http://schemas.microsoft.com/office/drawing/2014/main" id="{87C241BA-1CF8-46FC-BDFB-FE16C11962BA}"/>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551384" y="642523"/>
            <a:ext cx="4200525" cy="962025"/>
          </a:xfrm>
          <a:prstGeom prst="rect">
            <a:avLst/>
          </a:prstGeom>
        </p:spPr>
      </p:pic>
    </p:spTree>
    <p:extLst>
      <p:ext uri="{BB962C8B-B14F-4D97-AF65-F5344CB8AC3E}">
        <p14:creationId xmlns:p14="http://schemas.microsoft.com/office/powerpoint/2010/main" val="270707271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3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3"/>
            <a:extLst>
              <a:ext uri="{FF2B5EF4-FFF2-40B4-BE49-F238E27FC236}">
                <a16:creationId xmlns:a16="http://schemas.microsoft.com/office/drawing/2014/main" id="{F6DF1D6E-8462-43E1-AFC5-8A5C855024F4}"/>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5"/>
            <a:extLst>
              <a:ext uri="{FF2B5EF4-FFF2-40B4-BE49-F238E27FC236}">
                <a16:creationId xmlns:a16="http://schemas.microsoft.com/office/drawing/2014/main" id="{DA74C6D2-FFE3-4CE8-B52D-0A33097AEEAF}"/>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7"/>
            <a:extLst>
              <a:ext uri="{FF2B5EF4-FFF2-40B4-BE49-F238E27FC236}">
                <a16:creationId xmlns:a16="http://schemas.microsoft.com/office/drawing/2014/main" id="{14E10122-92A2-4535-9737-8C1BE0EE0AEC}"/>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9"/>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0" cstate="email">
            <a:extLst>
              <a:ext uri="{28A0092B-C50C-407E-A947-70E740481C1C}">
                <a14:useLocalDpi xmlns:a14="http://schemas.microsoft.com/office/drawing/2010/main"/>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1"/>
            <a:extLst>
              <a:ext uri="{FF2B5EF4-FFF2-40B4-BE49-F238E27FC236}">
                <a16:creationId xmlns:a16="http://schemas.microsoft.com/office/drawing/2014/main" id="{BCC76D32-C587-45AA-A26C-ED5B038C867B}"/>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426720" y="5328053"/>
            <a:ext cx="333195" cy="333195"/>
          </a:xfrm>
          <a:prstGeom prst="rect">
            <a:avLst/>
          </a:prstGeom>
          <a:noFill/>
        </p:spPr>
      </p:pic>
      <p:pic>
        <p:nvPicPr>
          <p:cNvPr id="25" name="Graphic 24">
            <a:extLst>
              <a:ext uri="{FF2B5EF4-FFF2-40B4-BE49-F238E27FC236}">
                <a16:creationId xmlns:a16="http://schemas.microsoft.com/office/drawing/2014/main" id="{A93746CB-8F5F-4B1D-978B-056949B18A09}"/>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7368083" y="5376781"/>
            <a:ext cx="4200525" cy="962025"/>
          </a:xfrm>
          <a:prstGeom prst="rect">
            <a:avLst/>
          </a:prstGeom>
        </p:spPr>
      </p:pic>
    </p:spTree>
    <p:extLst>
      <p:ext uri="{BB962C8B-B14F-4D97-AF65-F5344CB8AC3E}">
        <p14:creationId xmlns:p14="http://schemas.microsoft.com/office/powerpoint/2010/main" val="41532138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pic>
        <p:nvPicPr>
          <p:cNvPr id="10" name="Graphic 9">
            <a:extLst>
              <a:ext uri="{FF2B5EF4-FFF2-40B4-BE49-F238E27FC236}">
                <a16:creationId xmlns:a16="http://schemas.microsoft.com/office/drawing/2014/main" id="{DDCA2B41-0A1F-45C2-A74A-EB99E41096F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6351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4447676" y="243840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Section Break</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4420944" y="30182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Tree>
    <p:extLst>
      <p:ext uri="{BB962C8B-B14F-4D97-AF65-F5344CB8AC3E}">
        <p14:creationId xmlns:p14="http://schemas.microsoft.com/office/powerpoint/2010/main" val="25833236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2_Final Slide 1">
    <p:bg>
      <p:bgPr>
        <a:solidFill>
          <a:srgbClr val="272936"/>
        </a:solidFill>
        <a:effectLst/>
      </p:bgPr>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A0C8CF1B-496A-4A5B-A698-8344534684E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808368" flipV="1">
            <a:off x="3661091" y="-1184327"/>
            <a:ext cx="10604299" cy="7497656"/>
          </a:xfrm>
          <a:prstGeom prst="rect">
            <a:avLst/>
          </a:prstGeom>
        </p:spPr>
      </p:pic>
      <p:pic>
        <p:nvPicPr>
          <p:cNvPr id="21" name="Picture 7">
            <a:hlinkClick r:id="rId4"/>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pic>
        <p:nvPicPr>
          <p:cNvPr id="17" name="Picture 2">
            <a:hlinkClick r:id="rId6"/>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a:hlinkClick r:id="rId8"/>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a:hlinkClick r:id="rId10"/>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a:hlinkClick r:id="rId12"/>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sp>
        <p:nvSpPr>
          <p:cNvPr id="10" name="Rectangle 9">
            <a:extLst>
              <a:ext uri="{FF2B5EF4-FFF2-40B4-BE49-F238E27FC236}">
                <a16:creationId xmlns:a16="http://schemas.microsoft.com/office/drawing/2014/main" id="{A973D0F9-886C-4EA8-B316-DB71CEC803E6}"/>
              </a:ext>
            </a:extLst>
          </p:cNvPr>
          <p:cNvSpPr/>
          <p:nvPr userDrawn="1"/>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300,000 team members in nearly 50 countries. With its strong 50-year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2020 global revenues of €16 billion.</a:t>
            </a:r>
          </a:p>
        </p:txBody>
      </p:sp>
      <p:sp>
        <p:nvSpPr>
          <p:cNvPr id="11" name="Rectangle 10">
            <a:extLst>
              <a:ext uri="{FF2B5EF4-FFF2-40B4-BE49-F238E27FC236}">
                <a16:creationId xmlns:a16="http://schemas.microsoft.com/office/drawing/2014/main" id="{921203B5-B99A-4410-9182-9C5A64527577}"/>
              </a:ext>
            </a:extLst>
          </p:cNvPr>
          <p:cNvSpPr/>
          <p:nvPr userDrawn="1"/>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sp>
        <p:nvSpPr>
          <p:cNvPr id="14" name="Rectangle 13">
            <a:extLst>
              <a:ext uri="{FF2B5EF4-FFF2-40B4-BE49-F238E27FC236}">
                <a16:creationId xmlns:a16="http://schemas.microsoft.com/office/drawing/2014/main" id="{CAC36D09-F89B-4C93-A0F8-D2C81F20E3E7}"/>
              </a:ext>
            </a:extLst>
          </p:cNvPr>
          <p:cNvSpPr/>
          <p:nvPr userDrawn="1"/>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Tree>
    <p:extLst>
      <p:ext uri="{BB962C8B-B14F-4D97-AF65-F5344CB8AC3E}">
        <p14:creationId xmlns:p14="http://schemas.microsoft.com/office/powerpoint/2010/main" val="89474635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Solution Development Pitch Deck</a:t>
            </a:r>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464422243"/>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 id="2147483874" r:id="rId18"/>
    <p:sldLayoutId id="2147483875" r:id="rId19"/>
    <p:sldLayoutId id="2147483876" r:id="rId20"/>
    <p:sldLayoutId id="2147483877" r:id="rId21"/>
    <p:sldLayoutId id="2147483878" r:id="rId22"/>
    <p:sldLayoutId id="2147483879" r:id="rId23"/>
    <p:sldLayoutId id="2147483880" r:id="rId24"/>
    <p:sldLayoutId id="2147483881" r:id="rId25"/>
    <p:sldLayoutId id="2147483828" r:id="rId26"/>
    <p:sldLayoutId id="2147483827" r:id="rId27"/>
    <p:sldLayoutId id="2147483831" r:id="rId28"/>
    <p:sldLayoutId id="2147483833" r:id="rId29"/>
    <p:sldLayoutId id="2147483837" r:id="rId30"/>
    <p:sldLayoutId id="2147483821" r:id="rId31"/>
    <p:sldLayoutId id="2147483834" r:id="rId32"/>
    <p:sldLayoutId id="2147483882"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1.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microsoft.com/office/2018/10/relationships/comments" Target="../comments/modernComment_7FE4E2AE_9B70E189.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microsoft.com/office/2018/10/relationships/comments" Target="../comments/modernComment_7FE4E2B2_675E44E.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49243-F9F8-E112-413D-C30E21CB02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9A066D-459C-7AFF-C91B-B2BF4B1B77C9}"/>
              </a:ext>
            </a:extLst>
          </p:cNvPr>
          <p:cNvSpPr>
            <a:spLocks noGrp="1"/>
          </p:cNvSpPr>
          <p:nvPr>
            <p:ph type="title"/>
          </p:nvPr>
        </p:nvSpPr>
        <p:spPr>
          <a:xfrm>
            <a:off x="304800" y="152401"/>
            <a:ext cx="11125236" cy="457200"/>
          </a:xfrm>
        </p:spPr>
        <p:txBody>
          <a:bodyPr/>
          <a:lstStyle/>
          <a:p>
            <a:r>
              <a:rPr lang="en-US"/>
              <a:t>SOLUTION INVESTMENT PITCH OVERVIEW</a:t>
            </a:r>
          </a:p>
        </p:txBody>
      </p:sp>
      <p:sp>
        <p:nvSpPr>
          <p:cNvPr id="10" name="Rectangle 1">
            <a:extLst>
              <a:ext uri="{FF2B5EF4-FFF2-40B4-BE49-F238E27FC236}">
                <a16:creationId xmlns:a16="http://schemas.microsoft.com/office/drawing/2014/main" id="{27D6A161-4686-27AA-0C5D-40C5E1A0F2CA}"/>
              </a:ext>
            </a:extLst>
          </p:cNvPr>
          <p:cNvSpPr>
            <a:spLocks noChangeArrowheads="1"/>
          </p:cNvSpPr>
          <p:nvPr/>
        </p:nvSpPr>
        <p:spPr bwMode="auto">
          <a:xfrm flipV="1">
            <a:off x="3505199" y="4649499"/>
            <a:ext cx="365263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200"/>
          </a:p>
        </p:txBody>
      </p:sp>
      <p:graphicFrame>
        <p:nvGraphicFramePr>
          <p:cNvPr id="2" name="Table 3">
            <a:extLst>
              <a:ext uri="{FF2B5EF4-FFF2-40B4-BE49-F238E27FC236}">
                <a16:creationId xmlns:a16="http://schemas.microsoft.com/office/drawing/2014/main" id="{836D1CF2-113D-D31F-3A90-88AEC6ACB00B}"/>
              </a:ext>
            </a:extLst>
          </p:cNvPr>
          <p:cNvGraphicFramePr>
            <a:graphicFrameLocks noGrp="1"/>
          </p:cNvGraphicFramePr>
          <p:nvPr>
            <p:extLst>
              <p:ext uri="{D42A27DB-BD31-4B8C-83A1-F6EECF244321}">
                <p14:modId xmlns:p14="http://schemas.microsoft.com/office/powerpoint/2010/main" val="1815247084"/>
              </p:ext>
            </p:extLst>
          </p:nvPr>
        </p:nvGraphicFramePr>
        <p:xfrm>
          <a:off x="304800" y="628868"/>
          <a:ext cx="11519052" cy="304800"/>
        </p:xfrm>
        <a:graphic>
          <a:graphicData uri="http://schemas.openxmlformats.org/drawingml/2006/table">
            <a:tbl>
              <a:tblPr bandRow="1">
                <a:tableStyleId>{5C22544A-7EE6-4342-B048-85BDC9FD1C3A}</a:tableStyleId>
              </a:tblPr>
              <a:tblGrid>
                <a:gridCol w="2394857">
                  <a:extLst>
                    <a:ext uri="{9D8B030D-6E8A-4147-A177-3AD203B41FA5}">
                      <a16:colId xmlns:a16="http://schemas.microsoft.com/office/drawing/2014/main" val="3588745383"/>
                    </a:ext>
                  </a:extLst>
                </a:gridCol>
                <a:gridCol w="9124195">
                  <a:extLst>
                    <a:ext uri="{9D8B030D-6E8A-4147-A177-3AD203B41FA5}">
                      <a16:colId xmlns:a16="http://schemas.microsoft.com/office/drawing/2014/main" val="829081756"/>
                    </a:ext>
                  </a:extLst>
                </a:gridCol>
              </a:tblGrid>
              <a:tr h="280882">
                <a:tc>
                  <a:txBody>
                    <a:bodyPr/>
                    <a:lstStyle/>
                    <a:p>
                      <a:r>
                        <a:rPr lang="en-US" sz="1400" b="1">
                          <a:solidFill>
                            <a:schemeClr val="bg1"/>
                          </a:solidFill>
                        </a:rPr>
                        <a:t>Solution Initiative Name</a:t>
                      </a:r>
                    </a:p>
                  </a:txBody>
                  <a:tcPr>
                    <a:solidFill>
                      <a:schemeClr val="accent1">
                        <a:lumMod val="75000"/>
                      </a:schemeClr>
                    </a:solidFill>
                  </a:tcPr>
                </a:tc>
                <a:tc>
                  <a:txBody>
                    <a:bodyPr/>
                    <a:lstStyle/>
                    <a:p>
                      <a:r>
                        <a:rPr lang="en-US" sz="1400" b="1" dirty="0"/>
                        <a:t>Mimeo Maintenance</a:t>
                      </a:r>
                    </a:p>
                  </a:txBody>
                  <a:tcPr>
                    <a:solidFill>
                      <a:schemeClr val="bg2">
                        <a:lumMod val="90000"/>
                      </a:schemeClr>
                    </a:solidFill>
                  </a:tcPr>
                </a:tc>
                <a:extLst>
                  <a:ext uri="{0D108BD9-81ED-4DB2-BD59-A6C34878D82A}">
                    <a16:rowId xmlns:a16="http://schemas.microsoft.com/office/drawing/2014/main" val="1510082024"/>
                  </a:ext>
                </a:extLst>
              </a:tr>
            </a:tbl>
          </a:graphicData>
        </a:graphic>
      </p:graphicFrame>
      <p:graphicFrame>
        <p:nvGraphicFramePr>
          <p:cNvPr id="4" name="Table 3">
            <a:extLst>
              <a:ext uri="{FF2B5EF4-FFF2-40B4-BE49-F238E27FC236}">
                <a16:creationId xmlns:a16="http://schemas.microsoft.com/office/drawing/2014/main" id="{EB8503EC-6175-CD91-0085-981423FAA6CD}"/>
              </a:ext>
            </a:extLst>
          </p:cNvPr>
          <p:cNvGraphicFramePr>
            <a:graphicFrameLocks noGrp="1"/>
          </p:cNvGraphicFramePr>
          <p:nvPr>
            <p:extLst>
              <p:ext uri="{D42A27DB-BD31-4B8C-83A1-F6EECF244321}">
                <p14:modId xmlns:p14="http://schemas.microsoft.com/office/powerpoint/2010/main" val="2262018033"/>
              </p:ext>
            </p:extLst>
          </p:nvPr>
        </p:nvGraphicFramePr>
        <p:xfrm>
          <a:off x="4284921" y="3931867"/>
          <a:ext cx="3975861" cy="2543382"/>
        </p:xfrm>
        <a:graphic>
          <a:graphicData uri="http://schemas.openxmlformats.org/drawingml/2006/table">
            <a:tbl>
              <a:tblPr bandRow="1">
                <a:tableStyleId>{5C22544A-7EE6-4342-B048-85BDC9FD1C3A}</a:tableStyleId>
              </a:tblPr>
              <a:tblGrid>
                <a:gridCol w="1264979">
                  <a:extLst>
                    <a:ext uri="{9D8B030D-6E8A-4147-A177-3AD203B41FA5}">
                      <a16:colId xmlns:a16="http://schemas.microsoft.com/office/drawing/2014/main" val="3588745383"/>
                    </a:ext>
                  </a:extLst>
                </a:gridCol>
                <a:gridCol w="829318">
                  <a:extLst>
                    <a:ext uri="{9D8B030D-6E8A-4147-A177-3AD203B41FA5}">
                      <a16:colId xmlns:a16="http://schemas.microsoft.com/office/drawing/2014/main" val="605161954"/>
                    </a:ext>
                  </a:extLst>
                </a:gridCol>
                <a:gridCol w="1881564">
                  <a:extLst>
                    <a:ext uri="{9D8B030D-6E8A-4147-A177-3AD203B41FA5}">
                      <a16:colId xmlns:a16="http://schemas.microsoft.com/office/drawing/2014/main" val="829081756"/>
                    </a:ext>
                  </a:extLst>
                </a:gridCol>
              </a:tblGrid>
              <a:tr h="249476">
                <a:tc gridSpan="2">
                  <a:txBody>
                    <a:bodyPr/>
                    <a:lstStyle/>
                    <a:p>
                      <a:r>
                        <a:rPr lang="en-US" sz="1100" b="1">
                          <a:solidFill>
                            <a:schemeClr val="bg1"/>
                          </a:solidFill>
                        </a:rPr>
                        <a:t>Initiative Budget</a:t>
                      </a:r>
                    </a:p>
                  </a:txBody>
                  <a:tcPr>
                    <a:solidFill>
                      <a:schemeClr val="accent1"/>
                    </a:solidFill>
                  </a:tcPr>
                </a:tc>
                <a:tc hMerge="1">
                  <a:txBody>
                    <a:bodyPr/>
                    <a:lstStyle/>
                    <a:p>
                      <a:endParaRPr lang="en-US"/>
                    </a:p>
                  </a:txBody>
                  <a:tcPr/>
                </a:tc>
                <a:tc>
                  <a:txBody>
                    <a:bodyPr/>
                    <a:lstStyle/>
                    <a:p>
                      <a:endParaRPr lang="en-US" sz="1100" b="1"/>
                    </a:p>
                  </a:txBody>
                  <a:tcPr>
                    <a:solidFill>
                      <a:schemeClr val="bg2">
                        <a:lumMod val="90000"/>
                      </a:schemeClr>
                    </a:solidFill>
                  </a:tcPr>
                </a:tc>
                <a:extLst>
                  <a:ext uri="{0D108BD9-81ED-4DB2-BD59-A6C34878D82A}">
                    <a16:rowId xmlns:a16="http://schemas.microsoft.com/office/drawing/2014/main" val="1510082024"/>
                  </a:ext>
                </a:extLst>
              </a:tr>
              <a:tr h="410900">
                <a:tc gridSpan="2">
                  <a:txBody>
                    <a:bodyPr/>
                    <a:lstStyle/>
                    <a:p>
                      <a:r>
                        <a:rPr lang="en-US" sz="1100" b="1">
                          <a:solidFill>
                            <a:schemeClr val="bg1"/>
                          </a:solidFill>
                        </a:rPr>
                        <a:t>Market Potential / Total Oppt’y Pipeline $</a:t>
                      </a:r>
                    </a:p>
                  </a:txBody>
                  <a:tcPr>
                    <a:solidFill>
                      <a:schemeClr val="accent1"/>
                    </a:solidFill>
                  </a:tcPr>
                </a:tc>
                <a:tc hMerge="1">
                  <a:txBody>
                    <a:bodyPr/>
                    <a:lstStyle/>
                    <a:p>
                      <a:endParaRPr lang="en-US"/>
                    </a:p>
                  </a:txBody>
                  <a:tcPr/>
                </a:tc>
                <a:tc>
                  <a:txBody>
                    <a:bodyPr/>
                    <a:lstStyle/>
                    <a:p>
                      <a:endParaRPr lang="en-US" sz="1100"/>
                    </a:p>
                  </a:txBody>
                  <a:tcPr>
                    <a:solidFill>
                      <a:schemeClr val="bg2">
                        <a:lumMod val="90000"/>
                      </a:schemeClr>
                    </a:solidFill>
                  </a:tcPr>
                </a:tc>
                <a:extLst>
                  <a:ext uri="{0D108BD9-81ED-4DB2-BD59-A6C34878D82A}">
                    <a16:rowId xmlns:a16="http://schemas.microsoft.com/office/drawing/2014/main" val="2542645192"/>
                  </a:ext>
                </a:extLst>
              </a:tr>
              <a:tr h="249476">
                <a:tc gridSpan="3">
                  <a:txBody>
                    <a:bodyPr/>
                    <a:lstStyle/>
                    <a:p>
                      <a:r>
                        <a:rPr lang="en-US" sz="1100" b="1">
                          <a:solidFill>
                            <a:schemeClr val="bg1"/>
                          </a:solidFill>
                        </a:rPr>
                        <a:t>Tech Partnership/CapNA Involvement &amp; Investment</a:t>
                      </a:r>
                    </a:p>
                  </a:txBody>
                  <a:tcPr>
                    <a:solidFill>
                      <a:schemeClr val="accent1">
                        <a:lumMod val="50000"/>
                      </a:schemeClr>
                    </a:solidFill>
                  </a:tcPr>
                </a:tc>
                <a:tc hMerge="1">
                  <a:txBody>
                    <a:bodyPr/>
                    <a:lstStyle/>
                    <a:p>
                      <a:endParaRPr lang="en-US"/>
                    </a:p>
                  </a:txBody>
                  <a:tcPr/>
                </a:tc>
                <a:tc hMerge="1">
                  <a:txBody>
                    <a:bodyPr/>
                    <a:lstStyle/>
                    <a:p>
                      <a:endParaRPr lang="en-US" sz="1100"/>
                    </a:p>
                  </a:txBody>
                  <a:tcPr>
                    <a:solidFill>
                      <a:schemeClr val="bg2">
                        <a:lumMod val="90000"/>
                      </a:schemeClr>
                    </a:solidFill>
                  </a:tcPr>
                </a:tc>
                <a:extLst>
                  <a:ext uri="{0D108BD9-81ED-4DB2-BD59-A6C34878D82A}">
                    <a16:rowId xmlns:a16="http://schemas.microsoft.com/office/drawing/2014/main" val="2528816696"/>
                  </a:ext>
                </a:extLst>
              </a:tr>
              <a:tr h="249476">
                <a:tc>
                  <a:txBody>
                    <a:bodyPr/>
                    <a:lstStyle/>
                    <a:p>
                      <a:r>
                        <a:rPr lang="en-US" sz="1100" b="1">
                          <a:solidFill>
                            <a:schemeClr val="bg1"/>
                          </a:solidFill>
                        </a:rPr>
                        <a:t>Partner </a:t>
                      </a:r>
                      <a:r>
                        <a:rPr lang="en-US" sz="900" b="0">
                          <a:solidFill>
                            <a:schemeClr val="bg1"/>
                          </a:solidFill>
                          <a:latin typeface="Ubuntu Light" panose="020B0304030602030204" pitchFamily="34" charset="0"/>
                        </a:rPr>
                        <a:t>(e.g., AWS)</a:t>
                      </a:r>
                    </a:p>
                  </a:txBody>
                  <a:tcPr marR="0">
                    <a:solidFill>
                      <a:schemeClr val="accent1">
                        <a:lumMod val="75000"/>
                      </a:schemeClr>
                    </a:solidFill>
                  </a:tcPr>
                </a:tc>
                <a:tc gridSpan="2">
                  <a:txBody>
                    <a:bodyPr/>
                    <a:lstStyle/>
                    <a:p>
                      <a:r>
                        <a:rPr lang="en-US" sz="1100" b="1">
                          <a:solidFill>
                            <a:schemeClr val="bg1"/>
                          </a:solidFill>
                        </a:rPr>
                        <a:t>Details </a:t>
                      </a:r>
                      <a:r>
                        <a:rPr lang="en-US" sz="900" b="0">
                          <a:solidFill>
                            <a:schemeClr val="bg1"/>
                          </a:solidFill>
                          <a:latin typeface="Ubuntu Light" panose="020B0304030602030204" pitchFamily="34" charset="0"/>
                        </a:rPr>
                        <a:t>(e.g., $10k AWS credit)</a:t>
                      </a:r>
                      <a:endParaRPr lang="en-US" sz="1100" b="0">
                        <a:solidFill>
                          <a:schemeClr val="bg1"/>
                        </a:solidFill>
                        <a:latin typeface="Ubuntu Light" panose="020B0304030602030204" pitchFamily="34" charset="0"/>
                      </a:endParaRPr>
                    </a:p>
                  </a:txBody>
                  <a:tcPr marR="0">
                    <a:solidFill>
                      <a:schemeClr val="accent1">
                        <a:lumMod val="75000"/>
                      </a:schemeClr>
                    </a:solidFill>
                  </a:tcPr>
                </a:tc>
                <a:tc hMerge="1">
                  <a:txBody>
                    <a:bodyPr/>
                    <a:lstStyle/>
                    <a:p>
                      <a:endParaRPr lang="en-US"/>
                    </a:p>
                  </a:txBody>
                  <a:tcPr/>
                </a:tc>
                <a:extLst>
                  <a:ext uri="{0D108BD9-81ED-4DB2-BD59-A6C34878D82A}">
                    <a16:rowId xmlns:a16="http://schemas.microsoft.com/office/drawing/2014/main" val="1258861785"/>
                  </a:ext>
                </a:extLst>
              </a:tr>
              <a:tr h="333374">
                <a:tc>
                  <a:txBody>
                    <a:bodyPr/>
                    <a:lstStyle/>
                    <a:p>
                      <a:endParaRPr lang="en-US" sz="1100" b="1">
                        <a:solidFill>
                          <a:schemeClr val="tx1"/>
                        </a:solidFill>
                      </a:endParaRPr>
                    </a:p>
                  </a:txBody>
                  <a:tcPr>
                    <a:solidFill>
                      <a:srgbClr val="D4D4D4"/>
                    </a:solidFill>
                  </a:tcPr>
                </a:tc>
                <a:tc gridSpan="2">
                  <a:txBody>
                    <a:bodyPr/>
                    <a:lstStyle/>
                    <a:p>
                      <a:endParaRPr lang="en-US" sz="1100">
                        <a:solidFill>
                          <a:schemeClr val="tx1"/>
                        </a:solidFill>
                      </a:endParaRPr>
                    </a:p>
                  </a:txBody>
                  <a:tcPr>
                    <a:solidFill>
                      <a:srgbClr val="D4D4D4"/>
                    </a:solidFill>
                  </a:tcPr>
                </a:tc>
                <a:tc hMerge="1">
                  <a:txBody>
                    <a:bodyPr/>
                    <a:lstStyle/>
                    <a:p>
                      <a:endParaRPr/>
                    </a:p>
                  </a:txBody>
                  <a:tcPr>
                    <a:solidFill>
                      <a:schemeClr val="bg2">
                        <a:lumMod val="90000"/>
                      </a:schemeClr>
                    </a:solidFill>
                  </a:tcPr>
                </a:tc>
                <a:extLst>
                  <a:ext uri="{0D108BD9-81ED-4DB2-BD59-A6C34878D82A}">
                    <a16:rowId xmlns:a16="http://schemas.microsoft.com/office/drawing/2014/main" val="3052700086"/>
                  </a:ext>
                </a:extLst>
              </a:tr>
              <a:tr h="333374">
                <a:tc>
                  <a:txBody>
                    <a:bodyPr/>
                    <a:lstStyle/>
                    <a:p>
                      <a:endParaRPr lang="en-US" sz="1100" b="1">
                        <a:solidFill>
                          <a:schemeClr val="tx1"/>
                        </a:solidFill>
                      </a:endParaRPr>
                    </a:p>
                  </a:txBody>
                  <a:tcPr>
                    <a:solidFill>
                      <a:srgbClr val="D4D4D4"/>
                    </a:solidFill>
                  </a:tcPr>
                </a:tc>
                <a:tc gridSpan="2">
                  <a:txBody>
                    <a:bodyPr/>
                    <a:lstStyle/>
                    <a:p>
                      <a:endParaRPr lang="en-US" sz="1100">
                        <a:solidFill>
                          <a:schemeClr val="tx1"/>
                        </a:solidFill>
                      </a:endParaRPr>
                    </a:p>
                  </a:txBody>
                  <a:tcPr>
                    <a:solidFill>
                      <a:srgbClr val="D4D4D4"/>
                    </a:solidFill>
                  </a:tcPr>
                </a:tc>
                <a:tc hMerge="1">
                  <a:txBody>
                    <a:bodyPr/>
                    <a:lstStyle/>
                    <a:p>
                      <a:endParaRPr/>
                    </a:p>
                  </a:txBody>
                  <a:tcPr>
                    <a:solidFill>
                      <a:schemeClr val="bg2">
                        <a:lumMod val="90000"/>
                      </a:schemeClr>
                    </a:solidFill>
                  </a:tcPr>
                </a:tc>
                <a:extLst>
                  <a:ext uri="{0D108BD9-81ED-4DB2-BD59-A6C34878D82A}">
                    <a16:rowId xmlns:a16="http://schemas.microsoft.com/office/drawing/2014/main" val="595898161"/>
                  </a:ext>
                </a:extLst>
              </a:tr>
              <a:tr h="336337">
                <a:tc>
                  <a:txBody>
                    <a:bodyPr/>
                    <a:lstStyle/>
                    <a:p>
                      <a:endParaRPr lang="en-US" sz="1100" b="1">
                        <a:solidFill>
                          <a:schemeClr val="tx1"/>
                        </a:solidFill>
                      </a:endParaRPr>
                    </a:p>
                  </a:txBody>
                  <a:tcPr>
                    <a:solidFill>
                      <a:srgbClr val="D4D4D4"/>
                    </a:solidFill>
                  </a:tcPr>
                </a:tc>
                <a:tc gridSpan="2">
                  <a:txBody>
                    <a:bodyPr/>
                    <a:lstStyle/>
                    <a:p>
                      <a:endParaRPr lang="en-US" sz="1100">
                        <a:solidFill>
                          <a:schemeClr val="tx1"/>
                        </a:solidFill>
                      </a:endParaRPr>
                    </a:p>
                  </a:txBody>
                  <a:tcPr>
                    <a:solidFill>
                      <a:srgbClr val="D4D4D4"/>
                    </a:solidFill>
                  </a:tcPr>
                </a:tc>
                <a:tc hMerge="1">
                  <a:txBody>
                    <a:bodyPr/>
                    <a:lstStyle/>
                    <a:p>
                      <a:endParaRPr/>
                    </a:p>
                  </a:txBody>
                  <a:tcPr>
                    <a:solidFill>
                      <a:schemeClr val="bg2">
                        <a:lumMod val="90000"/>
                      </a:schemeClr>
                    </a:solidFill>
                  </a:tcPr>
                </a:tc>
                <a:extLst>
                  <a:ext uri="{0D108BD9-81ED-4DB2-BD59-A6C34878D82A}">
                    <a16:rowId xmlns:a16="http://schemas.microsoft.com/office/drawing/2014/main" val="168541313"/>
                  </a:ext>
                </a:extLst>
              </a:tr>
              <a:tr h="336337">
                <a:tc>
                  <a:txBody>
                    <a:bodyPr/>
                    <a:lstStyle/>
                    <a:p>
                      <a:endParaRPr lang="en-US" sz="1100" b="1">
                        <a:solidFill>
                          <a:schemeClr val="tx1"/>
                        </a:solidFill>
                      </a:endParaRPr>
                    </a:p>
                  </a:txBody>
                  <a:tcPr>
                    <a:solidFill>
                      <a:srgbClr val="D4D4D4"/>
                    </a:solidFill>
                  </a:tcPr>
                </a:tc>
                <a:tc gridSpan="2">
                  <a:txBody>
                    <a:bodyPr/>
                    <a:lstStyle/>
                    <a:p>
                      <a:endParaRPr lang="en-US" sz="1100">
                        <a:solidFill>
                          <a:schemeClr val="tx1"/>
                        </a:solidFill>
                      </a:endParaRPr>
                    </a:p>
                  </a:txBody>
                  <a:tcPr>
                    <a:solidFill>
                      <a:srgbClr val="D4D4D4"/>
                    </a:solidFill>
                  </a:tcPr>
                </a:tc>
                <a:tc hMerge="1">
                  <a:txBody>
                    <a:bodyPr/>
                    <a:lstStyle/>
                    <a:p>
                      <a:endParaRPr lang="en-US"/>
                    </a:p>
                  </a:txBody>
                  <a:tcPr/>
                </a:tc>
                <a:extLst>
                  <a:ext uri="{0D108BD9-81ED-4DB2-BD59-A6C34878D82A}">
                    <a16:rowId xmlns:a16="http://schemas.microsoft.com/office/drawing/2014/main" val="2922280146"/>
                  </a:ext>
                </a:extLst>
              </a:tr>
            </a:tbl>
          </a:graphicData>
        </a:graphic>
      </p:graphicFrame>
      <p:graphicFrame>
        <p:nvGraphicFramePr>
          <p:cNvPr id="6" name="Table 5">
            <a:extLst>
              <a:ext uri="{FF2B5EF4-FFF2-40B4-BE49-F238E27FC236}">
                <a16:creationId xmlns:a16="http://schemas.microsoft.com/office/drawing/2014/main" id="{CEB5B720-1A8B-5C81-66CA-700F5F495F00}"/>
              </a:ext>
            </a:extLst>
          </p:cNvPr>
          <p:cNvGraphicFramePr>
            <a:graphicFrameLocks noGrp="1"/>
          </p:cNvGraphicFramePr>
          <p:nvPr>
            <p:extLst>
              <p:ext uri="{D42A27DB-BD31-4B8C-83A1-F6EECF244321}">
                <p14:modId xmlns:p14="http://schemas.microsoft.com/office/powerpoint/2010/main" val="2412056703"/>
              </p:ext>
            </p:extLst>
          </p:nvPr>
        </p:nvGraphicFramePr>
        <p:xfrm>
          <a:off x="310138" y="988543"/>
          <a:ext cx="11519051" cy="2877349"/>
        </p:xfrm>
        <a:graphic>
          <a:graphicData uri="http://schemas.openxmlformats.org/drawingml/2006/table">
            <a:tbl>
              <a:tblPr bandRow="1">
                <a:tableStyleId>{5C22544A-7EE6-4342-B048-85BDC9FD1C3A}</a:tableStyleId>
              </a:tblPr>
              <a:tblGrid>
                <a:gridCol w="11519051">
                  <a:extLst>
                    <a:ext uri="{9D8B030D-6E8A-4147-A177-3AD203B41FA5}">
                      <a16:colId xmlns:a16="http://schemas.microsoft.com/office/drawing/2014/main" val="829081756"/>
                    </a:ext>
                  </a:extLst>
                </a:gridCol>
              </a:tblGrid>
              <a:tr h="290968">
                <a:tc>
                  <a:txBody>
                    <a:bodyPr/>
                    <a:lstStyle/>
                    <a:p>
                      <a:r>
                        <a:rPr lang="en-US" sz="1150" b="1">
                          <a:solidFill>
                            <a:schemeClr val="bg1"/>
                          </a:solidFill>
                        </a:rPr>
                        <a:t>Brief Description of Proposed Solution: </a:t>
                      </a:r>
                      <a:r>
                        <a:rPr lang="en-US" sz="1150">
                          <a:solidFill>
                            <a:schemeClr val="bg1"/>
                          </a:solidFill>
                          <a:latin typeface="Aptos Narrow"/>
                        </a:rPr>
                        <a:t>(e</a:t>
                      </a:r>
                      <a:r>
                        <a:rPr lang="en-US" sz="1150" b="0" i="0" u="none" strike="noStrike">
                          <a:solidFill>
                            <a:schemeClr val="bg1"/>
                          </a:solidFill>
                          <a:effectLst/>
                          <a:latin typeface="Aptos Narrow"/>
                        </a:rPr>
                        <a:t>.g., developing a solution for xxx, revising a commercial solution for federal consumption, demo of a specific capability, etc. )</a:t>
                      </a:r>
                      <a:endParaRPr lang="en-US" sz="1150" b="1">
                        <a:solidFill>
                          <a:schemeClr val="bg1"/>
                        </a:solidFill>
                        <a:latin typeface="Aptos Narrow"/>
                      </a:endParaRPr>
                    </a:p>
                  </a:txBody>
                  <a:tcPr>
                    <a:solidFill>
                      <a:srgbClr val="0070AD"/>
                    </a:solidFill>
                  </a:tcPr>
                </a:tc>
                <a:extLst>
                  <a:ext uri="{0D108BD9-81ED-4DB2-BD59-A6C34878D82A}">
                    <a16:rowId xmlns:a16="http://schemas.microsoft.com/office/drawing/2014/main" val="1154174274"/>
                  </a:ext>
                </a:extLst>
              </a:tr>
              <a:tr h="1282415">
                <a:tc>
                  <a:txBody>
                    <a:bodyPr/>
                    <a:lstStyle/>
                    <a:p>
                      <a:r>
                        <a:rPr lang="en-US" sz="1150"/>
                        <a:t>Update and improve procedures and usage documents for general Mimeo customers </a:t>
                      </a:r>
                    </a:p>
                    <a:p>
                      <a:pPr marL="171450" lvl="0" indent="-171450">
                        <a:buFont typeface="Arial"/>
                        <a:buChar char="•"/>
                      </a:pPr>
                      <a:r>
                        <a:rPr lang="en-US" sz="1150" b="0" i="0" u="none" strike="noStrike" noProof="0">
                          <a:solidFill>
                            <a:srgbClr val="000000"/>
                          </a:solidFill>
                          <a:latin typeface="Ubuntu"/>
                        </a:rPr>
                        <a:t>Provide automation procedures for standing up and shutting down production clusters</a:t>
                      </a:r>
                    </a:p>
                    <a:p>
                      <a:pPr marL="171450" lvl="0" indent="-171450">
                        <a:buFont typeface="Arial"/>
                        <a:buChar char="•"/>
                      </a:pPr>
                      <a:r>
                        <a:rPr lang="en-US" sz="1150"/>
                        <a:t>Modernize the deployment, address machine allocation issues (pool management)</a:t>
                      </a:r>
                    </a:p>
                    <a:p>
                      <a:pPr marL="171450" lvl="0" indent="-171450">
                        <a:buClr>
                          <a:srgbClr val="000000"/>
                        </a:buClr>
                        <a:buFont typeface="Arial,Sans-Serif"/>
                        <a:buChar char="•"/>
                      </a:pPr>
                      <a:r>
                        <a:rPr lang="en-US" sz="1150" b="0" i="0" u="none" strike="noStrike" noProof="0">
                          <a:solidFill>
                            <a:srgbClr val="000000"/>
                          </a:solidFill>
                          <a:latin typeface="Ubuntu"/>
                        </a:rPr>
                        <a:t>Implement effective scaling of resources</a:t>
                      </a:r>
                    </a:p>
                    <a:p>
                      <a:pPr marL="171450" lvl="0" indent="-171450">
                        <a:buClr>
                          <a:srgbClr val="000000"/>
                        </a:buClr>
                        <a:buFont typeface="Arial,Sans-Serif"/>
                        <a:buChar char="•"/>
                      </a:pPr>
                      <a:r>
                        <a:rPr lang="en-US" sz="1150" b="0" i="0" u="none" strike="noStrike" noProof="0">
                          <a:solidFill>
                            <a:srgbClr val="000000"/>
                          </a:solidFill>
                          <a:latin typeface="Ubuntu"/>
                        </a:rPr>
                        <a:t>Deployment to AWS GovCloud</a:t>
                      </a:r>
                    </a:p>
                  </a:txBody>
                  <a:tcPr>
                    <a:solidFill>
                      <a:schemeClr val="bg2">
                        <a:lumMod val="90000"/>
                      </a:schemeClr>
                    </a:solidFill>
                  </a:tcPr>
                </a:tc>
                <a:extLst>
                  <a:ext uri="{0D108BD9-81ED-4DB2-BD59-A6C34878D82A}">
                    <a16:rowId xmlns:a16="http://schemas.microsoft.com/office/drawing/2014/main" val="1838371051"/>
                  </a:ext>
                </a:extLst>
              </a:tr>
              <a:tr h="290968">
                <a:tc>
                  <a:txBody>
                    <a:bodyPr/>
                    <a:lstStyle/>
                    <a:p>
                      <a:r>
                        <a:rPr lang="en-US" sz="1150" b="1">
                          <a:solidFill>
                            <a:schemeClr val="bg1"/>
                          </a:solidFill>
                        </a:rPr>
                        <a:t>Why does it matter?</a:t>
                      </a:r>
                      <a:r>
                        <a:rPr lang="en-US" sz="1150">
                          <a:solidFill>
                            <a:schemeClr val="bg2">
                              <a:lumMod val="50000"/>
                            </a:schemeClr>
                          </a:solidFill>
                          <a:latin typeface="Aptos Narrow"/>
                        </a:rPr>
                        <a:t> </a:t>
                      </a:r>
                      <a:r>
                        <a:rPr lang="en-US" sz="1150">
                          <a:solidFill>
                            <a:schemeClr val="bg1"/>
                          </a:solidFill>
                          <a:latin typeface="Aptos Narrow"/>
                        </a:rPr>
                        <a:t>(how does this differentiate us in the market, help us approach opportunities, generate new leads, showcase, etc</a:t>
                      </a:r>
                      <a:r>
                        <a:rPr lang="en-US" sz="1150" b="0" i="0" u="none" strike="noStrike">
                          <a:solidFill>
                            <a:schemeClr val="bg1"/>
                          </a:solidFill>
                          <a:effectLst/>
                          <a:latin typeface="Aptos Narrow"/>
                        </a:rPr>
                        <a:t>.)</a:t>
                      </a:r>
                      <a:endParaRPr lang="en-US" sz="1150" b="1">
                        <a:solidFill>
                          <a:schemeClr val="bg1"/>
                        </a:solidFill>
                        <a:latin typeface="Aptos Narrow"/>
                      </a:endParaRPr>
                    </a:p>
                  </a:txBody>
                  <a:tcPr>
                    <a:solidFill>
                      <a:srgbClr val="0070AD"/>
                    </a:solidFill>
                  </a:tcPr>
                </a:tc>
                <a:extLst>
                  <a:ext uri="{0D108BD9-81ED-4DB2-BD59-A6C34878D82A}">
                    <a16:rowId xmlns:a16="http://schemas.microsoft.com/office/drawing/2014/main" val="1510082024"/>
                  </a:ext>
                </a:extLst>
              </a:tr>
              <a:tr h="1012998">
                <a:tc>
                  <a:txBody>
                    <a:bodyPr/>
                    <a:lstStyle/>
                    <a:p>
                      <a:pPr marL="171450" indent="-171450">
                        <a:buFont typeface="Arial" panose="020B0604020202020204" pitchFamily="34" charset="0"/>
                        <a:buChar char="•"/>
                      </a:pPr>
                      <a:r>
                        <a:rPr lang="en-US" sz="1150" b="0" i="0" u="none" strike="noStrike" noProof="0">
                          <a:latin typeface="Ubuntu"/>
                        </a:rPr>
                        <a:t>Enable Mimeo to be effectively idle at minimal cost and easily deployed for client use cases</a:t>
                      </a:r>
                      <a:endParaRPr lang="en-US" b="1"/>
                    </a:p>
                    <a:p>
                      <a:pPr marL="171450" lvl="0" indent="-171450">
                        <a:buFont typeface="Arial" panose="020B0604020202020204" pitchFamily="34" charset="0"/>
                        <a:buChar char="•"/>
                      </a:pPr>
                      <a:r>
                        <a:rPr lang="en-US" sz="1150" b="1" i="0" u="none" strike="noStrike" noProof="0">
                          <a:latin typeface="Ubuntu"/>
                        </a:rPr>
                        <a:t>Reducing monthly costs from ~$6,000 to ~$500</a:t>
                      </a:r>
                      <a:endParaRPr lang="en-US" b="1"/>
                    </a:p>
                    <a:p>
                      <a:pPr marL="171450" lvl="0" indent="-171450">
                        <a:buFont typeface="Arial" panose="020B0604020202020204" pitchFamily="34" charset="0"/>
                        <a:buChar char="•"/>
                      </a:pPr>
                      <a:r>
                        <a:rPr lang="en-US" sz="1150" b="0" i="0" u="none" strike="noStrike" noProof="0">
                          <a:latin typeface="Ubuntu"/>
                        </a:rPr>
                        <a:t>Modernizing and automating deployment will reduce costs further by avoiding out of date software penalties </a:t>
                      </a:r>
                    </a:p>
                    <a:p>
                      <a:pPr marL="171450" lvl="0" indent="-171450">
                        <a:buFont typeface="Arial" panose="020B0604020202020204" pitchFamily="34" charset="0"/>
                        <a:buChar char="•"/>
                      </a:pPr>
                      <a:r>
                        <a:rPr lang="en-US" sz="1150" b="0" i="0" u="none" strike="noStrike" noProof="0">
                          <a:latin typeface="Ubuntu"/>
                        </a:rPr>
                        <a:t>These modernizations remove barrier of entry for future clients</a:t>
                      </a:r>
                    </a:p>
                    <a:p>
                      <a:pPr marL="171450" lvl="0" indent="-171450">
                        <a:buFont typeface="Arial" panose="020B0604020202020204" pitchFamily="34" charset="0"/>
                        <a:buChar char="•"/>
                      </a:pPr>
                      <a:r>
                        <a:rPr lang="en-US" sz="1150" b="0" i="0" u="none" strike="noStrike" noProof="0">
                          <a:latin typeface="Ubuntu"/>
                        </a:rPr>
                        <a:t>Potential funding for AWS GovCloud deployment</a:t>
                      </a:r>
                    </a:p>
                  </a:txBody>
                  <a:tcPr>
                    <a:solidFill>
                      <a:schemeClr val="bg2">
                        <a:lumMod val="90000"/>
                      </a:schemeClr>
                    </a:solidFill>
                  </a:tcPr>
                </a:tc>
                <a:extLst>
                  <a:ext uri="{0D108BD9-81ED-4DB2-BD59-A6C34878D82A}">
                    <a16:rowId xmlns:a16="http://schemas.microsoft.com/office/drawing/2014/main" val="2962234428"/>
                  </a:ext>
                </a:extLst>
              </a:tr>
            </a:tbl>
          </a:graphicData>
        </a:graphic>
      </p:graphicFrame>
      <p:graphicFrame>
        <p:nvGraphicFramePr>
          <p:cNvPr id="15" name="Table 14">
            <a:extLst>
              <a:ext uri="{FF2B5EF4-FFF2-40B4-BE49-F238E27FC236}">
                <a16:creationId xmlns:a16="http://schemas.microsoft.com/office/drawing/2014/main" id="{F7886392-D8DE-0BEC-3C50-CDF6EA2D4D62}"/>
              </a:ext>
            </a:extLst>
          </p:cNvPr>
          <p:cNvGraphicFramePr>
            <a:graphicFrameLocks noGrp="1"/>
          </p:cNvGraphicFramePr>
          <p:nvPr>
            <p:extLst>
              <p:ext uri="{D42A27DB-BD31-4B8C-83A1-F6EECF244321}">
                <p14:modId xmlns:p14="http://schemas.microsoft.com/office/powerpoint/2010/main" val="886961098"/>
              </p:ext>
            </p:extLst>
          </p:nvPr>
        </p:nvGraphicFramePr>
        <p:xfrm>
          <a:off x="303017" y="5220625"/>
          <a:ext cx="3869950" cy="1254624"/>
        </p:xfrm>
        <a:graphic>
          <a:graphicData uri="http://schemas.openxmlformats.org/drawingml/2006/table">
            <a:tbl>
              <a:tblPr bandRow="1">
                <a:tableStyleId>{5C22544A-7EE6-4342-B048-85BDC9FD1C3A}</a:tableStyleId>
              </a:tblPr>
              <a:tblGrid>
                <a:gridCol w="855223">
                  <a:extLst>
                    <a:ext uri="{9D8B030D-6E8A-4147-A177-3AD203B41FA5}">
                      <a16:colId xmlns:a16="http://schemas.microsoft.com/office/drawing/2014/main" val="1872141062"/>
                    </a:ext>
                  </a:extLst>
                </a:gridCol>
                <a:gridCol w="3014727">
                  <a:extLst>
                    <a:ext uri="{9D8B030D-6E8A-4147-A177-3AD203B41FA5}">
                      <a16:colId xmlns:a16="http://schemas.microsoft.com/office/drawing/2014/main" val="3290596282"/>
                    </a:ext>
                  </a:extLst>
                </a:gridCol>
              </a:tblGrid>
              <a:tr h="284181">
                <a:tc gridSpan="2">
                  <a:txBody>
                    <a:bodyPr/>
                    <a:lstStyle/>
                    <a:p>
                      <a:r>
                        <a:rPr lang="en-US" sz="1100" b="1">
                          <a:solidFill>
                            <a:schemeClr val="bg1"/>
                          </a:solidFill>
                        </a:rPr>
                        <a:t>Staffing Plan</a:t>
                      </a:r>
                      <a:endParaRPr lang="en-US" sz="1100"/>
                    </a:p>
                  </a:txBody>
                  <a:tcPr>
                    <a:solidFill>
                      <a:schemeClr val="accent1">
                        <a:lumMod val="75000"/>
                      </a:schemeClr>
                    </a:solidFill>
                  </a:tcPr>
                </a:tc>
                <a:tc hMerge="1">
                  <a:txBody>
                    <a:bodyPr/>
                    <a:lstStyle/>
                    <a:p>
                      <a:endParaRPr lang="en-US"/>
                    </a:p>
                  </a:txBody>
                  <a:tcPr/>
                </a:tc>
                <a:extLst>
                  <a:ext uri="{0D108BD9-81ED-4DB2-BD59-A6C34878D82A}">
                    <a16:rowId xmlns:a16="http://schemas.microsoft.com/office/drawing/2014/main" val="3460031922"/>
                  </a:ext>
                </a:extLst>
              </a:tr>
              <a:tr h="381672">
                <a:tc>
                  <a:txBody>
                    <a:bodyPr/>
                    <a:lstStyle/>
                    <a:p>
                      <a:r>
                        <a:rPr lang="en-US" sz="1100" b="1">
                          <a:solidFill>
                            <a:schemeClr val="bg1"/>
                          </a:solidFill>
                        </a:rPr>
                        <a:t>CGS</a:t>
                      </a:r>
                    </a:p>
                  </a:txBody>
                  <a:tcPr>
                    <a:solidFill>
                      <a:srgbClr val="0070AD"/>
                    </a:solidFill>
                  </a:tcPr>
                </a:tc>
                <a:tc>
                  <a:txBody>
                    <a:bodyPr/>
                    <a:lstStyle/>
                    <a:p>
                      <a:endParaRPr lang="en-US" sz="1100"/>
                    </a:p>
                  </a:txBody>
                  <a:tcPr>
                    <a:solidFill>
                      <a:srgbClr val="D4D4D4"/>
                    </a:solidFill>
                  </a:tcPr>
                </a:tc>
                <a:extLst>
                  <a:ext uri="{0D108BD9-81ED-4DB2-BD59-A6C34878D82A}">
                    <a16:rowId xmlns:a16="http://schemas.microsoft.com/office/drawing/2014/main" val="973271099"/>
                  </a:ext>
                </a:extLst>
              </a:tr>
              <a:tr h="588771">
                <a:tc>
                  <a:txBody>
                    <a:bodyPr/>
                    <a:lstStyle/>
                    <a:p>
                      <a:r>
                        <a:rPr lang="en-US" sz="1100" b="1">
                          <a:solidFill>
                            <a:schemeClr val="bg1"/>
                          </a:solidFill>
                        </a:rPr>
                        <a:t>External </a:t>
                      </a:r>
                      <a:r>
                        <a:rPr lang="en-US" sz="1000" b="1">
                          <a:solidFill>
                            <a:schemeClr val="bg1"/>
                          </a:solidFill>
                        </a:rPr>
                        <a:t>(Cap, Hires?)</a:t>
                      </a:r>
                      <a:endParaRPr lang="en-US" sz="1100" b="1">
                        <a:solidFill>
                          <a:schemeClr val="bg1"/>
                        </a:solidFill>
                      </a:endParaRPr>
                    </a:p>
                  </a:txBody>
                  <a:tcPr>
                    <a:solidFill>
                      <a:srgbClr val="0070A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a:solidFill>
                          <a:srgbClr val="FF0000"/>
                        </a:solidFill>
                      </a:endParaRPr>
                    </a:p>
                  </a:txBody>
                  <a:tcPr>
                    <a:solidFill>
                      <a:srgbClr val="D4D4D4"/>
                    </a:solidFill>
                  </a:tcPr>
                </a:tc>
                <a:extLst>
                  <a:ext uri="{0D108BD9-81ED-4DB2-BD59-A6C34878D82A}">
                    <a16:rowId xmlns:a16="http://schemas.microsoft.com/office/drawing/2014/main" val="3773308870"/>
                  </a:ext>
                </a:extLst>
              </a:tr>
            </a:tbl>
          </a:graphicData>
        </a:graphic>
      </p:graphicFrame>
      <p:graphicFrame>
        <p:nvGraphicFramePr>
          <p:cNvPr id="18" name="Table 17">
            <a:extLst>
              <a:ext uri="{FF2B5EF4-FFF2-40B4-BE49-F238E27FC236}">
                <a16:creationId xmlns:a16="http://schemas.microsoft.com/office/drawing/2014/main" id="{C14B8CCC-BD69-4CE5-A86B-3AA8EA9B0868}"/>
              </a:ext>
            </a:extLst>
          </p:cNvPr>
          <p:cNvGraphicFramePr>
            <a:graphicFrameLocks noGrp="1"/>
          </p:cNvGraphicFramePr>
          <p:nvPr>
            <p:extLst>
              <p:ext uri="{D42A27DB-BD31-4B8C-83A1-F6EECF244321}">
                <p14:modId xmlns:p14="http://schemas.microsoft.com/office/powerpoint/2010/main" val="3464250999"/>
              </p:ext>
            </p:extLst>
          </p:nvPr>
        </p:nvGraphicFramePr>
        <p:xfrm>
          <a:off x="303017" y="3925225"/>
          <a:ext cx="3869950" cy="1295400"/>
        </p:xfrm>
        <a:graphic>
          <a:graphicData uri="http://schemas.openxmlformats.org/drawingml/2006/table">
            <a:tbl>
              <a:tblPr bandRow="1">
                <a:tableStyleId>{5C22544A-7EE6-4342-B048-85BDC9FD1C3A}</a:tableStyleId>
              </a:tblPr>
              <a:tblGrid>
                <a:gridCol w="1515735">
                  <a:extLst>
                    <a:ext uri="{9D8B030D-6E8A-4147-A177-3AD203B41FA5}">
                      <a16:colId xmlns:a16="http://schemas.microsoft.com/office/drawing/2014/main" val="3588745383"/>
                    </a:ext>
                  </a:extLst>
                </a:gridCol>
                <a:gridCol w="2354215">
                  <a:extLst>
                    <a:ext uri="{9D8B030D-6E8A-4147-A177-3AD203B41FA5}">
                      <a16:colId xmlns:a16="http://schemas.microsoft.com/office/drawing/2014/main" val="829081756"/>
                    </a:ext>
                  </a:extLst>
                </a:gridCol>
              </a:tblGrid>
              <a:tr h="215900">
                <a:tc>
                  <a:txBody>
                    <a:bodyPr/>
                    <a:lstStyle/>
                    <a:p>
                      <a:r>
                        <a:rPr lang="en-US" sz="1100" b="1">
                          <a:solidFill>
                            <a:schemeClr val="bg1"/>
                          </a:solidFill>
                        </a:rPr>
                        <a:t>Solution Team Lead</a:t>
                      </a:r>
                    </a:p>
                  </a:txBody>
                  <a:tcPr marR="0">
                    <a:solidFill>
                      <a:schemeClr val="accent1"/>
                    </a:solidFill>
                  </a:tcPr>
                </a:tc>
                <a:tc>
                  <a:txBody>
                    <a:bodyPr/>
                    <a:lstStyle/>
                    <a:p>
                      <a:r>
                        <a:rPr lang="en-US" sz="1100"/>
                        <a:t>TBD</a:t>
                      </a:r>
                    </a:p>
                  </a:txBody>
                  <a:tcPr>
                    <a:solidFill>
                      <a:schemeClr val="bg2">
                        <a:lumMod val="90000"/>
                      </a:schemeClr>
                    </a:solidFill>
                  </a:tcPr>
                </a:tc>
                <a:extLst>
                  <a:ext uri="{0D108BD9-81ED-4DB2-BD59-A6C34878D82A}">
                    <a16:rowId xmlns:a16="http://schemas.microsoft.com/office/drawing/2014/main" val="1154174274"/>
                  </a:ext>
                </a:extLst>
              </a:tr>
              <a:tr h="215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rPr>
                        <a:t>Presentation Date</a:t>
                      </a:r>
                    </a:p>
                  </a:txBody>
                  <a:tcPr marR="0">
                    <a:solidFill>
                      <a:schemeClr val="accent1"/>
                    </a:solidFill>
                  </a:tcPr>
                </a:tc>
                <a:tc>
                  <a:txBody>
                    <a:bodyPr/>
                    <a:lstStyle/>
                    <a:p>
                      <a:r>
                        <a:rPr lang="en-US" sz="1100"/>
                        <a:t>TBD</a:t>
                      </a:r>
                    </a:p>
                  </a:txBody>
                  <a:tcPr>
                    <a:solidFill>
                      <a:schemeClr val="bg2">
                        <a:lumMod val="90000"/>
                      </a:schemeClr>
                    </a:solidFill>
                  </a:tcPr>
                </a:tc>
                <a:extLst>
                  <a:ext uri="{0D108BD9-81ED-4DB2-BD59-A6C34878D82A}">
                    <a16:rowId xmlns:a16="http://schemas.microsoft.com/office/drawing/2014/main" val="2962234428"/>
                  </a:ext>
                </a:extLst>
              </a:tr>
              <a:tr h="215900">
                <a:tc>
                  <a:txBody>
                    <a:bodyPr/>
                    <a:lstStyle/>
                    <a:p>
                      <a:r>
                        <a:rPr lang="en-US" sz="1100" b="1">
                          <a:solidFill>
                            <a:schemeClr val="bg1"/>
                          </a:solidFill>
                        </a:rPr>
                        <a:t>Est. Start Date</a:t>
                      </a:r>
                    </a:p>
                  </a:txBody>
                  <a:tcPr marR="0">
                    <a:solidFill>
                      <a:schemeClr val="accent1"/>
                    </a:solidFill>
                  </a:tcPr>
                </a:tc>
                <a:tc>
                  <a:txBody>
                    <a:bodyPr/>
                    <a:lstStyle/>
                    <a:p>
                      <a:r>
                        <a:rPr lang="en-US" sz="1100"/>
                        <a:t>TBD</a:t>
                      </a:r>
                    </a:p>
                  </a:txBody>
                  <a:tcPr>
                    <a:solidFill>
                      <a:schemeClr val="bg2">
                        <a:lumMod val="90000"/>
                      </a:schemeClr>
                    </a:solidFill>
                  </a:tcPr>
                </a:tc>
                <a:extLst>
                  <a:ext uri="{0D108BD9-81ED-4DB2-BD59-A6C34878D82A}">
                    <a16:rowId xmlns:a16="http://schemas.microsoft.com/office/drawing/2014/main" val="2542645192"/>
                  </a:ext>
                </a:extLst>
              </a:tr>
              <a:tr h="215900">
                <a:tc>
                  <a:txBody>
                    <a:bodyPr/>
                    <a:lstStyle/>
                    <a:p>
                      <a:r>
                        <a:rPr lang="en-US" sz="1100" b="1">
                          <a:solidFill>
                            <a:schemeClr val="bg1"/>
                          </a:solidFill>
                        </a:rPr>
                        <a:t>Est. End Date</a:t>
                      </a:r>
                    </a:p>
                  </a:txBody>
                  <a:tcPr marR="0">
                    <a:solidFill>
                      <a:schemeClr val="accent1"/>
                    </a:solidFill>
                  </a:tcPr>
                </a:tc>
                <a:tc>
                  <a:txBody>
                    <a:bodyPr/>
                    <a:lstStyle/>
                    <a:p>
                      <a:r>
                        <a:rPr lang="en-US" sz="1100"/>
                        <a:t>TBD</a:t>
                      </a:r>
                    </a:p>
                  </a:txBody>
                  <a:tcPr>
                    <a:solidFill>
                      <a:schemeClr val="bg2">
                        <a:lumMod val="90000"/>
                      </a:schemeClr>
                    </a:solidFill>
                  </a:tcPr>
                </a:tc>
                <a:extLst>
                  <a:ext uri="{0D108BD9-81ED-4DB2-BD59-A6C34878D82A}">
                    <a16:rowId xmlns:a16="http://schemas.microsoft.com/office/drawing/2014/main" val="3052700086"/>
                  </a:ext>
                </a:extLst>
              </a:tr>
              <a:tr h="215900">
                <a:tc>
                  <a:txBody>
                    <a:bodyPr/>
                    <a:lstStyle/>
                    <a:p>
                      <a:r>
                        <a:rPr lang="en-US" sz="1100" b="1">
                          <a:solidFill>
                            <a:schemeClr val="bg1"/>
                          </a:solidFill>
                        </a:rPr>
                        <a:t># of Sprints</a:t>
                      </a:r>
                    </a:p>
                  </a:txBody>
                  <a:tcPr marR="0">
                    <a:solidFill>
                      <a:schemeClr val="accent1"/>
                    </a:solidFill>
                  </a:tcPr>
                </a:tc>
                <a:tc>
                  <a:txBody>
                    <a:bodyPr/>
                    <a:lstStyle/>
                    <a:p>
                      <a:r>
                        <a:rPr lang="en-US" sz="1100"/>
                        <a:t>TBD</a:t>
                      </a:r>
                    </a:p>
                  </a:txBody>
                  <a:tcPr>
                    <a:solidFill>
                      <a:schemeClr val="bg2">
                        <a:lumMod val="90000"/>
                      </a:schemeClr>
                    </a:solidFill>
                  </a:tcPr>
                </a:tc>
                <a:extLst>
                  <a:ext uri="{0D108BD9-81ED-4DB2-BD59-A6C34878D82A}">
                    <a16:rowId xmlns:a16="http://schemas.microsoft.com/office/drawing/2014/main" val="514133721"/>
                  </a:ext>
                </a:extLst>
              </a:tr>
            </a:tbl>
          </a:graphicData>
        </a:graphic>
      </p:graphicFrame>
      <p:graphicFrame>
        <p:nvGraphicFramePr>
          <p:cNvPr id="7" name="Table 6">
            <a:extLst>
              <a:ext uri="{FF2B5EF4-FFF2-40B4-BE49-F238E27FC236}">
                <a16:creationId xmlns:a16="http://schemas.microsoft.com/office/drawing/2014/main" id="{EFF863F2-E0A7-F0BB-A684-91BD184F407B}"/>
              </a:ext>
            </a:extLst>
          </p:cNvPr>
          <p:cNvGraphicFramePr>
            <a:graphicFrameLocks noGrp="1"/>
          </p:cNvGraphicFramePr>
          <p:nvPr>
            <p:extLst>
              <p:ext uri="{D42A27DB-BD31-4B8C-83A1-F6EECF244321}">
                <p14:modId xmlns:p14="http://schemas.microsoft.com/office/powerpoint/2010/main" val="1320710598"/>
              </p:ext>
            </p:extLst>
          </p:nvPr>
        </p:nvGraphicFramePr>
        <p:xfrm>
          <a:off x="8349998" y="3931867"/>
          <a:ext cx="3472071" cy="2543381"/>
        </p:xfrm>
        <a:graphic>
          <a:graphicData uri="http://schemas.openxmlformats.org/drawingml/2006/table">
            <a:tbl>
              <a:tblPr bandRow="1">
                <a:tableStyleId>{5C22544A-7EE6-4342-B048-85BDC9FD1C3A}</a:tableStyleId>
              </a:tblPr>
              <a:tblGrid>
                <a:gridCol w="1065307">
                  <a:extLst>
                    <a:ext uri="{9D8B030D-6E8A-4147-A177-3AD203B41FA5}">
                      <a16:colId xmlns:a16="http://schemas.microsoft.com/office/drawing/2014/main" val="3588745383"/>
                    </a:ext>
                  </a:extLst>
                </a:gridCol>
                <a:gridCol w="756787">
                  <a:extLst>
                    <a:ext uri="{9D8B030D-6E8A-4147-A177-3AD203B41FA5}">
                      <a16:colId xmlns:a16="http://schemas.microsoft.com/office/drawing/2014/main" val="1348063085"/>
                    </a:ext>
                  </a:extLst>
                </a:gridCol>
                <a:gridCol w="670079">
                  <a:extLst>
                    <a:ext uri="{9D8B030D-6E8A-4147-A177-3AD203B41FA5}">
                      <a16:colId xmlns:a16="http://schemas.microsoft.com/office/drawing/2014/main" val="154461141"/>
                    </a:ext>
                  </a:extLst>
                </a:gridCol>
                <a:gridCol w="979898">
                  <a:extLst>
                    <a:ext uri="{9D8B030D-6E8A-4147-A177-3AD203B41FA5}">
                      <a16:colId xmlns:a16="http://schemas.microsoft.com/office/drawing/2014/main" val="457042573"/>
                    </a:ext>
                  </a:extLst>
                </a:gridCol>
              </a:tblGrid>
              <a:tr h="271341">
                <a:tc gridSpan="4">
                  <a:txBody>
                    <a:bodyPr/>
                    <a:lstStyle/>
                    <a:p>
                      <a:r>
                        <a:rPr lang="en-US" sz="1100" b="1">
                          <a:solidFill>
                            <a:schemeClr val="bg1"/>
                          </a:solidFill>
                        </a:rPr>
                        <a:t>CGS Sector Alignment</a:t>
                      </a:r>
                    </a:p>
                  </a:txBody>
                  <a:tcPr>
                    <a:solidFill>
                      <a:schemeClr val="accent1">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62075314"/>
                  </a:ext>
                </a:extLst>
              </a:tr>
              <a:tr h="436501">
                <a:tc>
                  <a:txBody>
                    <a:bodyPr/>
                    <a:lstStyle/>
                    <a:p>
                      <a:r>
                        <a:rPr lang="en-US" sz="1100" b="0">
                          <a:solidFill>
                            <a:schemeClr val="tx1"/>
                          </a:solidFill>
                        </a:rPr>
                        <a:t>Federal </a:t>
                      </a:r>
                      <a:r>
                        <a:rPr lang="en-US" sz="1000" b="0">
                          <a:solidFill>
                            <a:schemeClr val="tx1"/>
                          </a:solidFill>
                        </a:rPr>
                        <a:t>(All Sectors)</a:t>
                      </a:r>
                      <a:endParaRPr lang="en-US" sz="1100" b="0">
                        <a:solidFill>
                          <a:schemeClr val="tx1"/>
                        </a:solidFill>
                      </a:endParaRPr>
                    </a:p>
                  </a:txBody>
                  <a:tcPr marL="274320">
                    <a:solidFill>
                      <a:srgbClr val="D4D4D4"/>
                    </a:solidFill>
                  </a:tcPr>
                </a:tc>
                <a:tc>
                  <a:txBody>
                    <a:bodyPr/>
                    <a:lstStyle/>
                    <a:p>
                      <a:r>
                        <a:rPr lang="en-US" sz="1100" b="0">
                          <a:solidFill>
                            <a:schemeClr val="tx1"/>
                          </a:solidFill>
                        </a:rPr>
                        <a:t>H&amp;H</a:t>
                      </a:r>
                    </a:p>
                  </a:txBody>
                  <a:tcPr marL="274320">
                    <a:solidFill>
                      <a:srgbClr val="D4D4D4"/>
                    </a:solidFill>
                  </a:tcPr>
                </a:tc>
                <a:tc>
                  <a:txBody>
                    <a:bodyPr/>
                    <a:lstStyle/>
                    <a:p>
                      <a:r>
                        <a:rPr lang="en-US" sz="1100" b="0">
                          <a:solidFill>
                            <a:schemeClr val="tx1"/>
                          </a:solidFill>
                        </a:rPr>
                        <a:t>A&amp;D</a:t>
                      </a:r>
                      <a:endParaRPr lang="en-US"/>
                    </a:p>
                  </a:txBody>
                  <a:tcPr marL="274320">
                    <a:solidFill>
                      <a:srgbClr val="D4D4D4"/>
                    </a:solidFill>
                  </a:tcPr>
                </a:tc>
                <a:tc>
                  <a:txBody>
                    <a:bodyPr/>
                    <a:lstStyle/>
                    <a:p>
                      <a:r>
                        <a:rPr lang="en-US" sz="1100" b="0">
                          <a:solidFill>
                            <a:schemeClr val="tx1"/>
                          </a:solidFill>
                        </a:rPr>
                        <a:t>Civil</a:t>
                      </a:r>
                    </a:p>
                  </a:txBody>
                  <a:tcPr marL="274320">
                    <a:solidFill>
                      <a:srgbClr val="D4D4D4"/>
                    </a:solidFill>
                  </a:tcPr>
                </a:tc>
                <a:extLst>
                  <a:ext uri="{0D108BD9-81ED-4DB2-BD59-A6C34878D82A}">
                    <a16:rowId xmlns:a16="http://schemas.microsoft.com/office/drawing/2014/main" val="4290267325"/>
                  </a:ext>
                </a:extLst>
              </a:tr>
              <a:tr h="271341">
                <a:tc gridSpan="4">
                  <a:txBody>
                    <a:bodyPr/>
                    <a:lstStyle/>
                    <a:p>
                      <a:r>
                        <a:rPr lang="en-US" sz="1100" b="1">
                          <a:solidFill>
                            <a:schemeClr val="bg1"/>
                          </a:solidFill>
                        </a:rPr>
                        <a:t>One Capgemini Group Offer Priority Alignment</a:t>
                      </a:r>
                    </a:p>
                  </a:txBody>
                  <a:tcPr>
                    <a:solidFill>
                      <a:schemeClr val="accent1">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52700086"/>
                  </a:ext>
                </a:extLst>
              </a:tr>
              <a:tr h="271341">
                <a:tc gridSpan="4">
                  <a:txBody>
                    <a:bodyPr/>
                    <a:lstStyle/>
                    <a:p>
                      <a:r>
                        <a:rPr lang="en-US" sz="1050" b="1" cap="all" spc="300" baseline="0">
                          <a:solidFill>
                            <a:schemeClr val="bg1"/>
                          </a:solidFill>
                        </a:rPr>
                        <a:t>Playing Fields</a:t>
                      </a:r>
                      <a:endParaRPr lang="en-US" sz="1050" b="0" i="0" cap="all" spc="300" baseline="0">
                        <a:latin typeface="Ubuntu Light" panose="020B0304030602030204" pitchFamily="34" charset="0"/>
                      </a:endParaRPr>
                    </a:p>
                  </a:txBody>
                  <a:tcPr>
                    <a:solidFill>
                      <a:schemeClr val="accent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95898161"/>
                  </a:ext>
                </a:extLst>
              </a:tr>
              <a:tr h="255379">
                <a:tc gridSpan="2">
                  <a:txBody>
                    <a:bodyPr/>
                    <a:lstStyle/>
                    <a:p>
                      <a:pPr marL="0" indent="0">
                        <a:buFont typeface="Arial" panose="020B0604020202020204" pitchFamily="34" charset="0"/>
                        <a:buNone/>
                      </a:pPr>
                      <a:r>
                        <a:rPr lang="en-US" sz="1000" b="0">
                          <a:solidFill>
                            <a:schemeClr val="tx1"/>
                          </a:solidFill>
                        </a:rPr>
                        <a:t>Intelligent Industry</a:t>
                      </a:r>
                    </a:p>
                  </a:txBody>
                  <a:tcPr marL="457200" marR="0">
                    <a:solidFill>
                      <a:srgbClr val="D4D4D4"/>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a:solidFill>
                            <a:schemeClr val="tx1"/>
                          </a:solidFill>
                        </a:rPr>
                        <a:t>Customer First</a:t>
                      </a:r>
                    </a:p>
                  </a:txBody>
                  <a:tcPr marL="457200" marR="0">
                    <a:solidFill>
                      <a:srgbClr val="D4D4D4"/>
                    </a:solidFill>
                  </a:tcPr>
                </a:tc>
                <a:tc hMerge="1">
                  <a:txBody>
                    <a:bodyPr/>
                    <a:lstStyle/>
                    <a:p>
                      <a:endParaRPr lang="en-US"/>
                    </a:p>
                  </a:txBody>
                  <a:tcPr/>
                </a:tc>
                <a:extLst>
                  <a:ext uri="{0D108BD9-81ED-4DB2-BD59-A6C34878D82A}">
                    <a16:rowId xmlns:a16="http://schemas.microsoft.com/office/drawing/2014/main" val="4081567393"/>
                  </a:ext>
                </a:extLst>
              </a:tr>
              <a:tr h="255379">
                <a:tc gridSpan="4">
                  <a:txBody>
                    <a:bodyPr/>
                    <a:lstStyle/>
                    <a:p>
                      <a:pPr marL="0" indent="0">
                        <a:buFont typeface="Arial" panose="020B0604020202020204" pitchFamily="34" charset="0"/>
                        <a:buNone/>
                      </a:pPr>
                      <a:r>
                        <a:rPr lang="en-US" sz="1000" b="0">
                          <a:solidFill>
                            <a:schemeClr val="tx1"/>
                          </a:solidFill>
                        </a:rPr>
                        <a:t>Enterprise Management</a:t>
                      </a:r>
                    </a:p>
                  </a:txBody>
                  <a:tcPr marL="457200" marR="0">
                    <a:solidFill>
                      <a:srgbClr val="D4D4D4"/>
                    </a:solidFill>
                  </a:tcPr>
                </a:tc>
                <a:tc hMerge="1">
                  <a:txBody>
                    <a:bodyPr/>
                    <a:lstStyle/>
                    <a:p>
                      <a:endParaRPr lang="en-US"/>
                    </a:p>
                  </a:txBody>
                  <a:tcPr/>
                </a:tc>
                <a:tc hMerge="1">
                  <a:txBody>
                    <a:bodyPr/>
                    <a:lstStyle/>
                    <a:p>
                      <a:pPr marL="0" indent="0">
                        <a:buFont typeface="Arial" panose="020B0604020202020204" pitchFamily="34" charset="0"/>
                        <a:buNone/>
                      </a:pPr>
                      <a:endParaRPr lang="en-US" sz="1000" b="0">
                        <a:solidFill>
                          <a:schemeClr val="tx1"/>
                        </a:solidFill>
                      </a:endParaRPr>
                    </a:p>
                  </a:txBody>
                  <a:tcPr marR="0">
                    <a:solidFill>
                      <a:srgbClr val="D4D4D4"/>
                    </a:solidFill>
                  </a:tcPr>
                </a:tc>
                <a:tc hMerge="1">
                  <a:txBody>
                    <a:bodyPr/>
                    <a:lstStyle/>
                    <a:p>
                      <a:endParaRPr lang="en-US"/>
                    </a:p>
                  </a:txBody>
                  <a:tcPr/>
                </a:tc>
                <a:extLst>
                  <a:ext uri="{0D108BD9-81ED-4DB2-BD59-A6C34878D82A}">
                    <a16:rowId xmlns:a16="http://schemas.microsoft.com/office/drawing/2014/main" val="360089517"/>
                  </a:ext>
                </a:extLst>
              </a:tr>
              <a:tr h="271341">
                <a:tc gridSpan="2">
                  <a:txBody>
                    <a:bodyPr/>
                    <a:lstStyle/>
                    <a:p>
                      <a:r>
                        <a:rPr lang="en-US" sz="1050" b="1" cap="all" spc="300" baseline="0" err="1">
                          <a:solidFill>
                            <a:schemeClr val="bg1"/>
                          </a:solidFill>
                        </a:rPr>
                        <a:t>PillarS</a:t>
                      </a:r>
                      <a:endParaRPr lang="en-US" sz="1050" b="1" cap="all" spc="300" baseline="0">
                        <a:solidFill>
                          <a:schemeClr val="bg1"/>
                        </a:solidFill>
                      </a:endParaRPr>
                    </a:p>
                  </a:txBody>
                  <a:tcPr>
                    <a:solidFill>
                      <a:schemeClr val="accent1">
                        <a:lumMod val="75000"/>
                      </a:schemeClr>
                    </a:solidFill>
                  </a:tcPr>
                </a:tc>
                <a:tc hMerge="1">
                  <a:txBody>
                    <a:bodyPr/>
                    <a:lstStyle/>
                    <a:p>
                      <a:endParaRPr lang="en-US"/>
                    </a:p>
                  </a:txBody>
                  <a:tcPr/>
                </a:tc>
                <a:tc gridSpan="2">
                  <a:txBody>
                    <a:bodyPr/>
                    <a:lstStyle/>
                    <a:p>
                      <a:r>
                        <a:rPr lang="en-US" sz="1050" b="1" cap="all" spc="300" baseline="0">
                          <a:solidFill>
                            <a:schemeClr val="bg1"/>
                          </a:solidFill>
                        </a:rPr>
                        <a:t>DNA</a:t>
                      </a:r>
                      <a:endParaRPr lang="en-US" sz="1050"/>
                    </a:p>
                  </a:txBody>
                  <a:tcPr>
                    <a:solidFill>
                      <a:schemeClr val="accent1">
                        <a:lumMod val="75000"/>
                      </a:schemeClr>
                    </a:solidFill>
                  </a:tcPr>
                </a:tc>
                <a:tc hMerge="1">
                  <a:txBody>
                    <a:bodyPr/>
                    <a:lstStyle/>
                    <a:p>
                      <a:endParaRPr lang="en-US"/>
                    </a:p>
                  </a:txBody>
                  <a:tcPr/>
                </a:tc>
                <a:extLst>
                  <a:ext uri="{0D108BD9-81ED-4DB2-BD59-A6C34878D82A}">
                    <a16:rowId xmlns:a16="http://schemas.microsoft.com/office/drawing/2014/main" val="3229940925"/>
                  </a:ext>
                </a:extLst>
              </a:tr>
              <a:tr h="255379">
                <a:tc gridSpan="2">
                  <a:txBody>
                    <a:bodyPr/>
                    <a:lstStyle/>
                    <a:p>
                      <a:pPr marL="0" indent="0">
                        <a:buFont typeface="Arial" panose="020B0604020202020204" pitchFamily="34" charset="0"/>
                        <a:buNone/>
                      </a:pPr>
                      <a:r>
                        <a:rPr lang="en-US" sz="1000" b="0">
                          <a:solidFill>
                            <a:schemeClr val="tx1"/>
                          </a:solidFill>
                        </a:rPr>
                        <a:t>Data &amp; AI</a:t>
                      </a:r>
                    </a:p>
                  </a:txBody>
                  <a:tcPr marL="457200">
                    <a:solidFill>
                      <a:srgbClr val="D4D4D4"/>
                    </a:solidFill>
                  </a:tcPr>
                </a:tc>
                <a:tc hMerge="1">
                  <a:txBody>
                    <a:bodyPr/>
                    <a:lstStyle/>
                    <a:p>
                      <a:endParaRPr lang="en-US"/>
                    </a:p>
                  </a:txBody>
                  <a:tcPr/>
                </a:tc>
                <a:tc gridSpan="2">
                  <a:txBody>
                    <a:bodyPr/>
                    <a:lstStyle/>
                    <a:p>
                      <a:pPr marL="0" indent="0">
                        <a:buFont typeface="Arial" panose="020B0604020202020204" pitchFamily="34" charset="0"/>
                        <a:buNone/>
                      </a:pPr>
                      <a:r>
                        <a:rPr lang="en-US" sz="1000" b="0">
                          <a:solidFill>
                            <a:schemeClr val="tx1"/>
                          </a:solidFill>
                        </a:rPr>
                        <a:t>Cybersecurity</a:t>
                      </a:r>
                    </a:p>
                  </a:txBody>
                  <a:tcPr marL="457200">
                    <a:solidFill>
                      <a:srgbClr val="D4D4D4"/>
                    </a:solidFill>
                  </a:tcPr>
                </a:tc>
                <a:tc hMerge="1">
                  <a:txBody>
                    <a:bodyPr/>
                    <a:lstStyle/>
                    <a:p>
                      <a:endParaRPr lang="en-US"/>
                    </a:p>
                  </a:txBody>
                  <a:tcPr/>
                </a:tc>
                <a:extLst>
                  <a:ext uri="{0D108BD9-81ED-4DB2-BD59-A6C34878D82A}">
                    <a16:rowId xmlns:a16="http://schemas.microsoft.com/office/drawing/2014/main" val="1935952035"/>
                  </a:ext>
                </a:extLst>
              </a:tr>
              <a:tr h="255379">
                <a:tc gridSpan="2">
                  <a:txBody>
                    <a:bodyPr/>
                    <a:lstStyle/>
                    <a:p>
                      <a:pPr marL="0" indent="0">
                        <a:buFont typeface="Arial" panose="020B0604020202020204" pitchFamily="34" charset="0"/>
                        <a:buNone/>
                      </a:pPr>
                      <a:r>
                        <a:rPr lang="en-US" sz="1000" b="0">
                          <a:solidFill>
                            <a:schemeClr val="tx1"/>
                          </a:solidFill>
                        </a:rPr>
                        <a:t>Cloud</a:t>
                      </a:r>
                    </a:p>
                  </a:txBody>
                  <a:tcPr marL="457200">
                    <a:solidFill>
                      <a:srgbClr val="D4D4D4"/>
                    </a:solidFill>
                  </a:tcPr>
                </a:tc>
                <a:tc hMerge="1">
                  <a:txBody>
                    <a:bodyPr/>
                    <a:lstStyle/>
                    <a:p>
                      <a:endParaRPr lang="en-US"/>
                    </a:p>
                  </a:txBody>
                  <a:tcPr/>
                </a:tc>
                <a:tc gridSpan="2">
                  <a:txBody>
                    <a:bodyPr/>
                    <a:lstStyle/>
                    <a:p>
                      <a:pPr marL="0" indent="0">
                        <a:buFont typeface="Arial" panose="020B0604020202020204" pitchFamily="34" charset="0"/>
                        <a:buNone/>
                      </a:pPr>
                      <a:r>
                        <a:rPr lang="en-US" sz="1000" b="0">
                          <a:solidFill>
                            <a:schemeClr val="tx1"/>
                          </a:solidFill>
                        </a:rPr>
                        <a:t>Sustainability</a:t>
                      </a:r>
                    </a:p>
                  </a:txBody>
                  <a:tcPr marL="457200">
                    <a:solidFill>
                      <a:srgbClr val="D4D4D4"/>
                    </a:solidFill>
                  </a:tcPr>
                </a:tc>
                <a:tc hMerge="1">
                  <a:txBody>
                    <a:bodyPr/>
                    <a:lstStyle/>
                    <a:p>
                      <a:endParaRPr lang="en-US"/>
                    </a:p>
                  </a:txBody>
                  <a:tcPr/>
                </a:tc>
                <a:extLst>
                  <a:ext uri="{0D108BD9-81ED-4DB2-BD59-A6C34878D82A}">
                    <a16:rowId xmlns:a16="http://schemas.microsoft.com/office/drawing/2014/main" val="1021569777"/>
                  </a:ext>
                </a:extLst>
              </a:tr>
            </a:tbl>
          </a:graphicData>
        </a:graphic>
      </p:graphicFrame>
      <p:grpSp>
        <p:nvGrpSpPr>
          <p:cNvPr id="8" name="Graphic 7">
            <a:extLst>
              <a:ext uri="{FF2B5EF4-FFF2-40B4-BE49-F238E27FC236}">
                <a16:creationId xmlns:a16="http://schemas.microsoft.com/office/drawing/2014/main" id="{60F51C9B-D169-3F87-937F-25DFFD90A7A6}"/>
              </a:ext>
            </a:extLst>
          </p:cNvPr>
          <p:cNvGrpSpPr/>
          <p:nvPr/>
        </p:nvGrpSpPr>
        <p:grpSpPr>
          <a:xfrm>
            <a:off x="10446170" y="5242797"/>
            <a:ext cx="170021" cy="136556"/>
            <a:chOff x="9530313" y="4620960"/>
            <a:chExt cx="415945" cy="334075"/>
          </a:xfrm>
        </p:grpSpPr>
        <p:sp>
          <p:nvSpPr>
            <p:cNvPr id="19" name="Freeform: Shape 18">
              <a:extLst>
                <a:ext uri="{FF2B5EF4-FFF2-40B4-BE49-F238E27FC236}">
                  <a16:creationId xmlns:a16="http://schemas.microsoft.com/office/drawing/2014/main" id="{F1FAF50A-388D-0D34-8635-1CAD7D9D4EA3}"/>
                </a:ext>
              </a:extLst>
            </p:cNvPr>
            <p:cNvSpPr/>
            <p:nvPr/>
          </p:nvSpPr>
          <p:spPr>
            <a:xfrm>
              <a:off x="9606717" y="4697129"/>
              <a:ext cx="339540" cy="257905"/>
            </a:xfrm>
            <a:custGeom>
              <a:avLst/>
              <a:gdLst>
                <a:gd name="connsiteX0" fmla="*/ 263136 w 339540"/>
                <a:gd name="connsiteY0" fmla="*/ 84598 h 257905"/>
                <a:gd name="connsiteX1" fmla="*/ 263136 w 339540"/>
                <a:gd name="connsiteY1" fmla="*/ 0 h 257905"/>
                <a:gd name="connsiteX2" fmla="*/ 288605 w 339540"/>
                <a:gd name="connsiteY2" fmla="*/ 0 h 257905"/>
                <a:gd name="connsiteX3" fmla="*/ 339541 w 339540"/>
                <a:gd name="connsiteY3" fmla="*/ 50779 h 257905"/>
                <a:gd name="connsiteX4" fmla="*/ 339541 w 339540"/>
                <a:gd name="connsiteY4" fmla="*/ 160767 h 257905"/>
                <a:gd name="connsiteX5" fmla="*/ 288605 w 339540"/>
                <a:gd name="connsiteY5" fmla="*/ 211547 h 257905"/>
                <a:gd name="connsiteX6" fmla="*/ 263136 w 339540"/>
                <a:gd name="connsiteY6" fmla="*/ 211547 h 257905"/>
                <a:gd name="connsiteX7" fmla="*/ 263136 w 339540"/>
                <a:gd name="connsiteY7" fmla="*/ 257906 h 257905"/>
                <a:gd name="connsiteX8" fmla="*/ 216634 w 339540"/>
                <a:gd name="connsiteY8" fmla="*/ 211547 h 257905"/>
                <a:gd name="connsiteX9" fmla="*/ 50936 w 339540"/>
                <a:gd name="connsiteY9" fmla="*/ 211547 h 257905"/>
                <a:gd name="connsiteX10" fmla="*/ 0 w 339540"/>
                <a:gd name="connsiteY10" fmla="*/ 160767 h 257905"/>
                <a:gd name="connsiteX11" fmla="*/ 0 w 339540"/>
                <a:gd name="connsiteY11" fmla="*/ 135377 h 257905"/>
                <a:gd name="connsiteX12" fmla="*/ 212200 w 339540"/>
                <a:gd name="connsiteY12" fmla="*/ 135377 h 257905"/>
                <a:gd name="connsiteX13" fmla="*/ 263136 w 339540"/>
                <a:gd name="connsiteY13" fmla="*/ 84598 h 257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9540" h="257905">
                  <a:moveTo>
                    <a:pt x="263136" y="84598"/>
                  </a:moveTo>
                  <a:lnTo>
                    <a:pt x="263136" y="0"/>
                  </a:lnTo>
                  <a:lnTo>
                    <a:pt x="288605" y="0"/>
                  </a:lnTo>
                  <a:cubicBezTo>
                    <a:pt x="316702" y="51"/>
                    <a:pt x="339489" y="22768"/>
                    <a:pt x="339541" y="50779"/>
                  </a:cubicBezTo>
                  <a:lnTo>
                    <a:pt x="339541" y="160767"/>
                  </a:lnTo>
                  <a:cubicBezTo>
                    <a:pt x="339438" y="188778"/>
                    <a:pt x="316702" y="211444"/>
                    <a:pt x="288605" y="211547"/>
                  </a:cubicBezTo>
                  <a:lnTo>
                    <a:pt x="263136" y="211547"/>
                  </a:lnTo>
                  <a:lnTo>
                    <a:pt x="263136" y="257906"/>
                  </a:lnTo>
                  <a:lnTo>
                    <a:pt x="216634" y="211547"/>
                  </a:lnTo>
                  <a:lnTo>
                    <a:pt x="50936" y="211547"/>
                  </a:lnTo>
                  <a:cubicBezTo>
                    <a:pt x="22839" y="211495"/>
                    <a:pt x="103" y="188778"/>
                    <a:pt x="0" y="160767"/>
                  </a:cubicBezTo>
                  <a:lnTo>
                    <a:pt x="0" y="135377"/>
                  </a:lnTo>
                  <a:lnTo>
                    <a:pt x="212200" y="135377"/>
                  </a:lnTo>
                  <a:cubicBezTo>
                    <a:pt x="240298" y="135326"/>
                    <a:pt x="263033" y="112609"/>
                    <a:pt x="263136" y="84598"/>
                  </a:cubicBezTo>
                  <a:close/>
                </a:path>
              </a:pathLst>
            </a:custGeom>
            <a:solidFill>
              <a:schemeClr val="tx1">
                <a:alpha val="60000"/>
              </a:schemeClr>
            </a:solidFill>
            <a:ln w="5056"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E35D132-A72D-E8F0-F8BD-6DE4A030BC9E}"/>
                </a:ext>
              </a:extLst>
            </p:cNvPr>
            <p:cNvSpPr/>
            <p:nvPr/>
          </p:nvSpPr>
          <p:spPr>
            <a:xfrm>
              <a:off x="9530313" y="4620960"/>
              <a:ext cx="339540" cy="211546"/>
            </a:xfrm>
            <a:custGeom>
              <a:avLst/>
              <a:gdLst>
                <a:gd name="connsiteX0" fmla="*/ 50936 w 339540"/>
                <a:gd name="connsiteY0" fmla="*/ 0 h 211546"/>
                <a:gd name="connsiteX1" fmla="*/ 288605 w 339540"/>
                <a:gd name="connsiteY1" fmla="*/ 0 h 211546"/>
                <a:gd name="connsiteX2" fmla="*/ 339541 w 339540"/>
                <a:gd name="connsiteY2" fmla="*/ 50779 h 211546"/>
                <a:gd name="connsiteX3" fmla="*/ 339541 w 339540"/>
                <a:gd name="connsiteY3" fmla="*/ 76169 h 211546"/>
                <a:gd name="connsiteX4" fmla="*/ 127341 w 339540"/>
                <a:gd name="connsiteY4" fmla="*/ 76169 h 211546"/>
                <a:gd name="connsiteX5" fmla="*/ 76404 w 339540"/>
                <a:gd name="connsiteY5" fmla="*/ 126949 h 211546"/>
                <a:gd name="connsiteX6" fmla="*/ 76404 w 339540"/>
                <a:gd name="connsiteY6" fmla="*/ 211547 h 211546"/>
                <a:gd name="connsiteX7" fmla="*/ 50936 w 339540"/>
                <a:gd name="connsiteY7" fmla="*/ 211547 h 211546"/>
                <a:gd name="connsiteX8" fmla="*/ 0 w 339540"/>
                <a:gd name="connsiteY8" fmla="*/ 160767 h 211546"/>
                <a:gd name="connsiteX9" fmla="*/ 0 w 339540"/>
                <a:gd name="connsiteY9" fmla="*/ 50779 h 211546"/>
                <a:gd name="connsiteX10" fmla="*/ 50936 w 339540"/>
                <a:gd name="connsiteY10" fmla="*/ 0 h 21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540" h="211546">
                  <a:moveTo>
                    <a:pt x="50936" y="0"/>
                  </a:moveTo>
                  <a:lnTo>
                    <a:pt x="288605" y="0"/>
                  </a:lnTo>
                  <a:cubicBezTo>
                    <a:pt x="316702" y="51"/>
                    <a:pt x="339489" y="22768"/>
                    <a:pt x="339541" y="50779"/>
                  </a:cubicBezTo>
                  <a:lnTo>
                    <a:pt x="339541" y="76169"/>
                  </a:lnTo>
                  <a:lnTo>
                    <a:pt x="127341" y="76169"/>
                  </a:lnTo>
                  <a:cubicBezTo>
                    <a:pt x="99243" y="76220"/>
                    <a:pt x="76456" y="98938"/>
                    <a:pt x="76404" y="126949"/>
                  </a:cubicBezTo>
                  <a:lnTo>
                    <a:pt x="76404" y="211547"/>
                  </a:lnTo>
                  <a:lnTo>
                    <a:pt x="50936" y="211547"/>
                  </a:lnTo>
                  <a:cubicBezTo>
                    <a:pt x="22839" y="211495"/>
                    <a:pt x="103" y="188778"/>
                    <a:pt x="0" y="160767"/>
                  </a:cubicBezTo>
                  <a:lnTo>
                    <a:pt x="0" y="50779"/>
                  </a:lnTo>
                  <a:cubicBezTo>
                    <a:pt x="52" y="22768"/>
                    <a:pt x="22839" y="51"/>
                    <a:pt x="50936" y="0"/>
                  </a:cubicBezTo>
                  <a:close/>
                </a:path>
              </a:pathLst>
            </a:custGeom>
            <a:solidFill>
              <a:schemeClr val="tx1">
                <a:alpha val="60000"/>
              </a:schemeClr>
            </a:solidFill>
            <a:ln w="5056"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E1AA62C-4C96-EF4D-F55F-7C3621389187}"/>
                </a:ext>
              </a:extLst>
            </p:cNvPr>
            <p:cNvSpPr/>
            <p:nvPr/>
          </p:nvSpPr>
          <p:spPr>
            <a:xfrm>
              <a:off x="9606717" y="4697129"/>
              <a:ext cx="263136" cy="135377"/>
            </a:xfrm>
            <a:custGeom>
              <a:avLst/>
              <a:gdLst>
                <a:gd name="connsiteX0" fmla="*/ 0 w 263136"/>
                <a:gd name="connsiteY0" fmla="*/ 50779 h 135377"/>
                <a:gd name="connsiteX1" fmla="*/ 0 w 263136"/>
                <a:gd name="connsiteY1" fmla="*/ 135377 h 135377"/>
                <a:gd name="connsiteX2" fmla="*/ 212200 w 263136"/>
                <a:gd name="connsiteY2" fmla="*/ 135377 h 135377"/>
                <a:gd name="connsiteX3" fmla="*/ 263136 w 263136"/>
                <a:gd name="connsiteY3" fmla="*/ 84598 h 135377"/>
                <a:gd name="connsiteX4" fmla="*/ 263136 w 263136"/>
                <a:gd name="connsiteY4" fmla="*/ 0 h 135377"/>
                <a:gd name="connsiteX5" fmla="*/ 50936 w 263136"/>
                <a:gd name="connsiteY5" fmla="*/ 0 h 135377"/>
                <a:gd name="connsiteX6" fmla="*/ 0 w 263136"/>
                <a:gd name="connsiteY6" fmla="*/ 50779 h 135377"/>
                <a:gd name="connsiteX7" fmla="*/ 154510 w 263136"/>
                <a:gd name="connsiteY7" fmla="*/ 67689 h 135377"/>
                <a:gd name="connsiteX8" fmla="*/ 164306 w 263136"/>
                <a:gd name="connsiteY8" fmla="*/ 57975 h 135377"/>
                <a:gd name="connsiteX9" fmla="*/ 174049 w 263136"/>
                <a:gd name="connsiteY9" fmla="*/ 67740 h 135377"/>
                <a:gd name="connsiteX10" fmla="*/ 164306 w 263136"/>
                <a:gd name="connsiteY10" fmla="*/ 77454 h 135377"/>
                <a:gd name="connsiteX11" fmla="*/ 154562 w 263136"/>
                <a:gd name="connsiteY11" fmla="*/ 67740 h 135377"/>
                <a:gd name="connsiteX12" fmla="*/ 154562 w 263136"/>
                <a:gd name="connsiteY12" fmla="*/ 67740 h 135377"/>
                <a:gd name="connsiteX13" fmla="*/ 121824 w 263136"/>
                <a:gd name="connsiteY13" fmla="*/ 67689 h 135377"/>
                <a:gd name="connsiteX14" fmla="*/ 131620 w 263136"/>
                <a:gd name="connsiteY14" fmla="*/ 57923 h 135377"/>
                <a:gd name="connsiteX15" fmla="*/ 141415 w 263136"/>
                <a:gd name="connsiteY15" fmla="*/ 67689 h 135377"/>
                <a:gd name="connsiteX16" fmla="*/ 131620 w 263136"/>
                <a:gd name="connsiteY16" fmla="*/ 77454 h 135377"/>
                <a:gd name="connsiteX17" fmla="*/ 131620 w 263136"/>
                <a:gd name="connsiteY17" fmla="*/ 77454 h 135377"/>
                <a:gd name="connsiteX18" fmla="*/ 121824 w 263136"/>
                <a:gd name="connsiteY18" fmla="*/ 67740 h 135377"/>
                <a:gd name="connsiteX19" fmla="*/ 121824 w 263136"/>
                <a:gd name="connsiteY19" fmla="*/ 67740 h 135377"/>
                <a:gd name="connsiteX20" fmla="*/ 89138 w 263136"/>
                <a:gd name="connsiteY20" fmla="*/ 67689 h 135377"/>
                <a:gd name="connsiteX21" fmla="*/ 98934 w 263136"/>
                <a:gd name="connsiteY21" fmla="*/ 57923 h 135377"/>
                <a:gd name="connsiteX22" fmla="*/ 108729 w 263136"/>
                <a:gd name="connsiteY22" fmla="*/ 67689 h 135377"/>
                <a:gd name="connsiteX23" fmla="*/ 98934 w 263136"/>
                <a:gd name="connsiteY23" fmla="*/ 77454 h 135377"/>
                <a:gd name="connsiteX24" fmla="*/ 98934 w 263136"/>
                <a:gd name="connsiteY24" fmla="*/ 77454 h 135377"/>
                <a:gd name="connsiteX25" fmla="*/ 89190 w 263136"/>
                <a:gd name="connsiteY25" fmla="*/ 67689 h 135377"/>
                <a:gd name="connsiteX26" fmla="*/ 89190 w 263136"/>
                <a:gd name="connsiteY26" fmla="*/ 67689 h 135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3136" h="135377">
                  <a:moveTo>
                    <a:pt x="0" y="50779"/>
                  </a:moveTo>
                  <a:lnTo>
                    <a:pt x="0" y="135377"/>
                  </a:lnTo>
                  <a:lnTo>
                    <a:pt x="212200" y="135377"/>
                  </a:lnTo>
                  <a:cubicBezTo>
                    <a:pt x="240298" y="135326"/>
                    <a:pt x="263033" y="112609"/>
                    <a:pt x="263136" y="84598"/>
                  </a:cubicBezTo>
                  <a:lnTo>
                    <a:pt x="263136" y="0"/>
                  </a:lnTo>
                  <a:lnTo>
                    <a:pt x="50936" y="0"/>
                  </a:lnTo>
                  <a:cubicBezTo>
                    <a:pt x="22839" y="51"/>
                    <a:pt x="52" y="22768"/>
                    <a:pt x="0" y="50779"/>
                  </a:cubicBezTo>
                  <a:close/>
                  <a:moveTo>
                    <a:pt x="154510" y="67689"/>
                  </a:moveTo>
                  <a:cubicBezTo>
                    <a:pt x="154510" y="62344"/>
                    <a:pt x="158892" y="57975"/>
                    <a:pt x="164306" y="57975"/>
                  </a:cubicBezTo>
                  <a:cubicBezTo>
                    <a:pt x="169667" y="57975"/>
                    <a:pt x="174049" y="62344"/>
                    <a:pt x="174049" y="67740"/>
                  </a:cubicBezTo>
                  <a:cubicBezTo>
                    <a:pt x="174049" y="73085"/>
                    <a:pt x="169667" y="77454"/>
                    <a:pt x="164306" y="77454"/>
                  </a:cubicBezTo>
                  <a:cubicBezTo>
                    <a:pt x="158944" y="77454"/>
                    <a:pt x="154562" y="73085"/>
                    <a:pt x="154562" y="67740"/>
                  </a:cubicBezTo>
                  <a:cubicBezTo>
                    <a:pt x="154562" y="67740"/>
                    <a:pt x="154562" y="67740"/>
                    <a:pt x="154562" y="67740"/>
                  </a:cubicBezTo>
                  <a:close/>
                  <a:moveTo>
                    <a:pt x="121824" y="67689"/>
                  </a:moveTo>
                  <a:cubicBezTo>
                    <a:pt x="121824" y="62292"/>
                    <a:pt x="126206" y="57923"/>
                    <a:pt x="131620" y="57923"/>
                  </a:cubicBezTo>
                  <a:cubicBezTo>
                    <a:pt x="137033" y="57923"/>
                    <a:pt x="141415" y="62292"/>
                    <a:pt x="141415" y="67689"/>
                  </a:cubicBezTo>
                  <a:cubicBezTo>
                    <a:pt x="141415" y="73085"/>
                    <a:pt x="137033" y="77454"/>
                    <a:pt x="131620" y="77454"/>
                  </a:cubicBezTo>
                  <a:lnTo>
                    <a:pt x="131620" y="77454"/>
                  </a:lnTo>
                  <a:cubicBezTo>
                    <a:pt x="126258" y="77454"/>
                    <a:pt x="121876" y="73137"/>
                    <a:pt x="121824" y="67740"/>
                  </a:cubicBezTo>
                  <a:cubicBezTo>
                    <a:pt x="121824" y="67740"/>
                    <a:pt x="121824" y="67740"/>
                    <a:pt x="121824" y="67740"/>
                  </a:cubicBezTo>
                  <a:close/>
                  <a:moveTo>
                    <a:pt x="89138" y="67689"/>
                  </a:moveTo>
                  <a:cubicBezTo>
                    <a:pt x="89138" y="62292"/>
                    <a:pt x="93521" y="57923"/>
                    <a:pt x="98934" y="57923"/>
                  </a:cubicBezTo>
                  <a:cubicBezTo>
                    <a:pt x="104347" y="57923"/>
                    <a:pt x="108729" y="62292"/>
                    <a:pt x="108729" y="67689"/>
                  </a:cubicBezTo>
                  <a:cubicBezTo>
                    <a:pt x="108729" y="73085"/>
                    <a:pt x="104347" y="77454"/>
                    <a:pt x="98934" y="77454"/>
                  </a:cubicBezTo>
                  <a:cubicBezTo>
                    <a:pt x="98934" y="77454"/>
                    <a:pt x="98934" y="77454"/>
                    <a:pt x="98934" y="77454"/>
                  </a:cubicBezTo>
                  <a:cubicBezTo>
                    <a:pt x="93572" y="77454"/>
                    <a:pt x="89190" y="73085"/>
                    <a:pt x="89190" y="67689"/>
                  </a:cubicBezTo>
                  <a:lnTo>
                    <a:pt x="89190" y="67689"/>
                  </a:lnTo>
                  <a:close/>
                </a:path>
              </a:pathLst>
            </a:custGeom>
            <a:solidFill>
              <a:schemeClr val="bg1">
                <a:lumMod val="65000"/>
                <a:alpha val="30000"/>
              </a:schemeClr>
            </a:solidFill>
            <a:ln w="5056"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234998B-11D9-BE94-223F-9E2F286B0E20}"/>
                </a:ext>
              </a:extLst>
            </p:cNvPr>
            <p:cNvSpPr/>
            <p:nvPr/>
          </p:nvSpPr>
          <p:spPr>
            <a:xfrm>
              <a:off x="9761227" y="4755103"/>
              <a:ext cx="19539" cy="19479"/>
            </a:xfrm>
            <a:custGeom>
              <a:avLst/>
              <a:gdLst>
                <a:gd name="connsiteX0" fmla="*/ 9744 w 19539"/>
                <a:gd name="connsiteY0" fmla="*/ 0 h 19479"/>
                <a:gd name="connsiteX1" fmla="*/ 19539 w 19539"/>
                <a:gd name="connsiteY1" fmla="*/ 9714 h 19479"/>
                <a:gd name="connsiteX2" fmla="*/ 9795 w 19539"/>
                <a:gd name="connsiteY2" fmla="*/ 19479 h 19479"/>
                <a:gd name="connsiteX3" fmla="*/ 0 w 19539"/>
                <a:gd name="connsiteY3" fmla="*/ 9765 h 19479"/>
                <a:gd name="connsiteX4" fmla="*/ 0 w 19539"/>
                <a:gd name="connsiteY4" fmla="*/ 9765 h 19479"/>
                <a:gd name="connsiteX5" fmla="*/ 9744 w 19539"/>
                <a:gd name="connsiteY5" fmla="*/ 51 h 19479"/>
                <a:gd name="connsiteX6" fmla="*/ 9744 w 19539"/>
                <a:gd name="connsiteY6" fmla="*/ 51 h 1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39" h="19479">
                  <a:moveTo>
                    <a:pt x="9744" y="0"/>
                  </a:moveTo>
                  <a:cubicBezTo>
                    <a:pt x="15157" y="0"/>
                    <a:pt x="19539" y="4317"/>
                    <a:pt x="19539" y="9714"/>
                  </a:cubicBezTo>
                  <a:cubicBezTo>
                    <a:pt x="19539" y="15110"/>
                    <a:pt x="15209" y="19479"/>
                    <a:pt x="9795" y="19479"/>
                  </a:cubicBezTo>
                  <a:cubicBezTo>
                    <a:pt x="4382" y="19479"/>
                    <a:pt x="0" y="15162"/>
                    <a:pt x="0" y="9765"/>
                  </a:cubicBezTo>
                  <a:cubicBezTo>
                    <a:pt x="0" y="9765"/>
                    <a:pt x="0" y="9765"/>
                    <a:pt x="0" y="9765"/>
                  </a:cubicBezTo>
                  <a:cubicBezTo>
                    <a:pt x="0" y="4420"/>
                    <a:pt x="4382" y="51"/>
                    <a:pt x="9744" y="51"/>
                  </a:cubicBezTo>
                  <a:lnTo>
                    <a:pt x="9744" y="51"/>
                  </a:lnTo>
                  <a:close/>
                </a:path>
              </a:pathLst>
            </a:custGeom>
            <a:solidFill>
              <a:schemeClr val="tx1">
                <a:lumMod val="75000"/>
                <a:lumOff val="25000"/>
                <a:alpha val="60000"/>
              </a:schemeClr>
            </a:solidFill>
            <a:ln w="5056"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125154A2-6CFC-3FA0-B42D-7BDD0158B812}"/>
                </a:ext>
              </a:extLst>
            </p:cNvPr>
            <p:cNvSpPr/>
            <p:nvPr/>
          </p:nvSpPr>
          <p:spPr>
            <a:xfrm>
              <a:off x="9728490" y="4755103"/>
              <a:ext cx="19590" cy="19530"/>
            </a:xfrm>
            <a:custGeom>
              <a:avLst/>
              <a:gdLst>
                <a:gd name="connsiteX0" fmla="*/ 9795 w 19590"/>
                <a:gd name="connsiteY0" fmla="*/ 0 h 19530"/>
                <a:gd name="connsiteX1" fmla="*/ 19591 w 19590"/>
                <a:gd name="connsiteY1" fmla="*/ 9765 h 19530"/>
                <a:gd name="connsiteX2" fmla="*/ 9795 w 19590"/>
                <a:gd name="connsiteY2" fmla="*/ 19531 h 19530"/>
                <a:gd name="connsiteX3" fmla="*/ 0 w 19590"/>
                <a:gd name="connsiteY3" fmla="*/ 9765 h 19530"/>
                <a:gd name="connsiteX4" fmla="*/ 0 w 19590"/>
                <a:gd name="connsiteY4" fmla="*/ 9765 h 19530"/>
                <a:gd name="connsiteX5" fmla="*/ 9744 w 19590"/>
                <a:gd name="connsiteY5" fmla="*/ 51 h 19530"/>
                <a:gd name="connsiteX6" fmla="*/ 9744 w 19590"/>
                <a:gd name="connsiteY6" fmla="*/ 51 h 1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90" h="19530">
                  <a:moveTo>
                    <a:pt x="9795" y="0"/>
                  </a:moveTo>
                  <a:cubicBezTo>
                    <a:pt x="15209" y="0"/>
                    <a:pt x="19591" y="4369"/>
                    <a:pt x="19591" y="9765"/>
                  </a:cubicBezTo>
                  <a:cubicBezTo>
                    <a:pt x="19591" y="15162"/>
                    <a:pt x="15209" y="19531"/>
                    <a:pt x="9795" y="19531"/>
                  </a:cubicBezTo>
                  <a:cubicBezTo>
                    <a:pt x="4382" y="19531"/>
                    <a:pt x="0" y="15162"/>
                    <a:pt x="0" y="9765"/>
                  </a:cubicBezTo>
                  <a:cubicBezTo>
                    <a:pt x="0" y="9765"/>
                    <a:pt x="0" y="9765"/>
                    <a:pt x="0" y="9765"/>
                  </a:cubicBezTo>
                  <a:cubicBezTo>
                    <a:pt x="0" y="4420"/>
                    <a:pt x="4382" y="51"/>
                    <a:pt x="9744" y="51"/>
                  </a:cubicBezTo>
                  <a:cubicBezTo>
                    <a:pt x="9744" y="51"/>
                    <a:pt x="9744" y="51"/>
                    <a:pt x="9744" y="51"/>
                  </a:cubicBezTo>
                  <a:close/>
                </a:path>
              </a:pathLst>
            </a:custGeom>
            <a:solidFill>
              <a:schemeClr val="tx1">
                <a:lumMod val="75000"/>
                <a:lumOff val="25000"/>
                <a:alpha val="60000"/>
              </a:schemeClr>
            </a:solidFill>
            <a:ln w="5056"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8732448-A781-A615-E0A4-F5A36F51C2ED}"/>
                </a:ext>
              </a:extLst>
            </p:cNvPr>
            <p:cNvSpPr/>
            <p:nvPr/>
          </p:nvSpPr>
          <p:spPr>
            <a:xfrm>
              <a:off x="9695804" y="4755103"/>
              <a:ext cx="19539" cy="19479"/>
            </a:xfrm>
            <a:custGeom>
              <a:avLst/>
              <a:gdLst>
                <a:gd name="connsiteX0" fmla="*/ 9744 w 19539"/>
                <a:gd name="connsiteY0" fmla="*/ 0 h 19479"/>
                <a:gd name="connsiteX1" fmla="*/ 19539 w 19539"/>
                <a:gd name="connsiteY1" fmla="*/ 9714 h 19479"/>
                <a:gd name="connsiteX2" fmla="*/ 9795 w 19539"/>
                <a:gd name="connsiteY2" fmla="*/ 19479 h 19479"/>
                <a:gd name="connsiteX3" fmla="*/ 0 w 19539"/>
                <a:gd name="connsiteY3" fmla="*/ 9765 h 19479"/>
                <a:gd name="connsiteX4" fmla="*/ 0 w 19539"/>
                <a:gd name="connsiteY4" fmla="*/ 9765 h 19479"/>
                <a:gd name="connsiteX5" fmla="*/ 9744 w 19539"/>
                <a:gd name="connsiteY5" fmla="*/ 51 h 1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39" h="19479">
                  <a:moveTo>
                    <a:pt x="9744" y="0"/>
                  </a:moveTo>
                  <a:cubicBezTo>
                    <a:pt x="15157" y="0"/>
                    <a:pt x="19539" y="4317"/>
                    <a:pt x="19539" y="9714"/>
                  </a:cubicBezTo>
                  <a:cubicBezTo>
                    <a:pt x="19539" y="15110"/>
                    <a:pt x="15209" y="19479"/>
                    <a:pt x="9795" y="19479"/>
                  </a:cubicBezTo>
                  <a:cubicBezTo>
                    <a:pt x="4382" y="19479"/>
                    <a:pt x="0" y="15162"/>
                    <a:pt x="0" y="9765"/>
                  </a:cubicBezTo>
                  <a:cubicBezTo>
                    <a:pt x="0" y="9765"/>
                    <a:pt x="0" y="9765"/>
                    <a:pt x="0" y="9765"/>
                  </a:cubicBezTo>
                  <a:cubicBezTo>
                    <a:pt x="0" y="4420"/>
                    <a:pt x="4382" y="51"/>
                    <a:pt x="9744" y="51"/>
                  </a:cubicBezTo>
                  <a:close/>
                </a:path>
              </a:pathLst>
            </a:custGeom>
            <a:solidFill>
              <a:schemeClr val="tx1">
                <a:lumMod val="75000"/>
                <a:lumOff val="25000"/>
                <a:alpha val="60000"/>
              </a:schemeClr>
            </a:solidFill>
            <a:ln w="5056" cap="flat">
              <a:noFill/>
              <a:prstDash val="solid"/>
              <a:miter/>
            </a:ln>
          </p:spPr>
          <p:txBody>
            <a:bodyPr rtlCol="0" anchor="ctr"/>
            <a:lstStyle/>
            <a:p>
              <a:endParaRPr lang="en-US"/>
            </a:p>
          </p:txBody>
        </p:sp>
      </p:grpSp>
      <p:grpSp>
        <p:nvGrpSpPr>
          <p:cNvPr id="46" name="Graphic 17">
            <a:extLst>
              <a:ext uri="{FF2B5EF4-FFF2-40B4-BE49-F238E27FC236}">
                <a16:creationId xmlns:a16="http://schemas.microsoft.com/office/drawing/2014/main" id="{0CA0F165-70BE-8BE7-47B0-B70C9CF8CC46}"/>
              </a:ext>
            </a:extLst>
          </p:cNvPr>
          <p:cNvGrpSpPr/>
          <p:nvPr/>
        </p:nvGrpSpPr>
        <p:grpSpPr>
          <a:xfrm>
            <a:off x="8622660" y="5231024"/>
            <a:ext cx="163312" cy="161429"/>
            <a:chOff x="8414941" y="4755761"/>
            <a:chExt cx="163312" cy="161429"/>
          </a:xfrm>
        </p:grpSpPr>
        <p:sp>
          <p:nvSpPr>
            <p:cNvPr id="47" name="Freeform: Shape 46">
              <a:extLst>
                <a:ext uri="{FF2B5EF4-FFF2-40B4-BE49-F238E27FC236}">
                  <a16:creationId xmlns:a16="http://schemas.microsoft.com/office/drawing/2014/main" id="{768A501B-1E73-0D67-0D98-4C07D59B4B0D}"/>
                </a:ext>
              </a:extLst>
            </p:cNvPr>
            <p:cNvSpPr/>
            <p:nvPr/>
          </p:nvSpPr>
          <p:spPr>
            <a:xfrm>
              <a:off x="8496455" y="4755761"/>
              <a:ext cx="81798" cy="81365"/>
            </a:xfrm>
            <a:custGeom>
              <a:avLst/>
              <a:gdLst>
                <a:gd name="connsiteX0" fmla="*/ 3096 w 81798"/>
                <a:gd name="connsiteY0" fmla="*/ 6144 h 81365"/>
                <a:gd name="connsiteX1" fmla="*/ 75607 w 81798"/>
                <a:gd name="connsiteY1" fmla="*/ 78284 h 81365"/>
                <a:gd name="connsiteX2" fmla="*/ 78703 w 81798"/>
                <a:gd name="connsiteY2" fmla="*/ 81366 h 81365"/>
                <a:gd name="connsiteX3" fmla="*/ 81798 w 81798"/>
                <a:gd name="connsiteY3" fmla="*/ 78284 h 81365"/>
                <a:gd name="connsiteX4" fmla="*/ 3096 w 81798"/>
                <a:gd name="connsiteY4" fmla="*/ 0 h 81365"/>
                <a:gd name="connsiteX5" fmla="*/ 0 w 81798"/>
                <a:gd name="connsiteY5" fmla="*/ 3082 h 81365"/>
                <a:gd name="connsiteX6" fmla="*/ 3096 w 81798"/>
                <a:gd name="connsiteY6" fmla="*/ 6163 h 81365"/>
                <a:gd name="connsiteX7" fmla="*/ 3096 w 81798"/>
                <a:gd name="connsiteY7" fmla="*/ 6163 h 8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798" h="81365">
                  <a:moveTo>
                    <a:pt x="3096" y="6144"/>
                  </a:moveTo>
                  <a:cubicBezTo>
                    <a:pt x="43093" y="6144"/>
                    <a:pt x="75607" y="38510"/>
                    <a:pt x="75607" y="78284"/>
                  </a:cubicBezTo>
                  <a:cubicBezTo>
                    <a:pt x="75607" y="79988"/>
                    <a:pt x="76993" y="81366"/>
                    <a:pt x="78703" y="81366"/>
                  </a:cubicBezTo>
                  <a:cubicBezTo>
                    <a:pt x="80412" y="81366"/>
                    <a:pt x="81798" y="79988"/>
                    <a:pt x="81798" y="78284"/>
                  </a:cubicBezTo>
                  <a:cubicBezTo>
                    <a:pt x="81798" y="35123"/>
                    <a:pt x="46492" y="0"/>
                    <a:pt x="3096" y="0"/>
                  </a:cubicBezTo>
                  <a:cubicBezTo>
                    <a:pt x="1386" y="0"/>
                    <a:pt x="0" y="1378"/>
                    <a:pt x="0" y="3082"/>
                  </a:cubicBezTo>
                  <a:cubicBezTo>
                    <a:pt x="0" y="4785"/>
                    <a:pt x="1386" y="6163"/>
                    <a:pt x="3096" y="6163"/>
                  </a:cubicBezTo>
                  <a:lnTo>
                    <a:pt x="3096" y="6163"/>
                  </a:lnTo>
                  <a:close/>
                </a:path>
              </a:pathLst>
            </a:custGeom>
            <a:solidFill>
              <a:schemeClr val="tx1">
                <a:alpha val="60000"/>
              </a:schemeClr>
            </a:solidFill>
            <a:ln w="1883"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DFA201B-6C93-D936-A030-742D3A9D1756}"/>
                </a:ext>
              </a:extLst>
            </p:cNvPr>
            <p:cNvSpPr/>
            <p:nvPr/>
          </p:nvSpPr>
          <p:spPr>
            <a:xfrm>
              <a:off x="8496493" y="4777217"/>
              <a:ext cx="60223" cy="59928"/>
            </a:xfrm>
            <a:custGeom>
              <a:avLst/>
              <a:gdLst>
                <a:gd name="connsiteX0" fmla="*/ 3058 w 60223"/>
                <a:gd name="connsiteY0" fmla="*/ 6144 h 59928"/>
                <a:gd name="connsiteX1" fmla="*/ 54032 w 60223"/>
                <a:gd name="connsiteY1" fmla="*/ 56847 h 59928"/>
                <a:gd name="connsiteX2" fmla="*/ 57128 w 60223"/>
                <a:gd name="connsiteY2" fmla="*/ 59928 h 59928"/>
                <a:gd name="connsiteX3" fmla="*/ 60224 w 60223"/>
                <a:gd name="connsiteY3" fmla="*/ 56847 h 59928"/>
                <a:gd name="connsiteX4" fmla="*/ 3096 w 60223"/>
                <a:gd name="connsiteY4" fmla="*/ 0 h 59928"/>
                <a:gd name="connsiteX5" fmla="*/ 0 w 60223"/>
                <a:gd name="connsiteY5" fmla="*/ 3082 h 59928"/>
                <a:gd name="connsiteX6" fmla="*/ 3096 w 60223"/>
                <a:gd name="connsiteY6" fmla="*/ 6163 h 59928"/>
                <a:gd name="connsiteX7" fmla="*/ 3096 w 60223"/>
                <a:gd name="connsiteY7" fmla="*/ 6163 h 59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223" h="59928">
                  <a:moveTo>
                    <a:pt x="3058" y="6144"/>
                  </a:moveTo>
                  <a:cubicBezTo>
                    <a:pt x="31166" y="6144"/>
                    <a:pt x="54032" y="28883"/>
                    <a:pt x="54032" y="56847"/>
                  </a:cubicBezTo>
                  <a:cubicBezTo>
                    <a:pt x="54032" y="58550"/>
                    <a:pt x="55419" y="59928"/>
                    <a:pt x="57128" y="59928"/>
                  </a:cubicBezTo>
                  <a:cubicBezTo>
                    <a:pt x="58837" y="59928"/>
                    <a:pt x="60224" y="58550"/>
                    <a:pt x="60224" y="56847"/>
                  </a:cubicBezTo>
                  <a:cubicBezTo>
                    <a:pt x="60224" y="25495"/>
                    <a:pt x="34603" y="0"/>
                    <a:pt x="3096" y="0"/>
                  </a:cubicBezTo>
                  <a:cubicBezTo>
                    <a:pt x="1386" y="0"/>
                    <a:pt x="0" y="1378"/>
                    <a:pt x="0" y="3082"/>
                  </a:cubicBezTo>
                  <a:cubicBezTo>
                    <a:pt x="0" y="4785"/>
                    <a:pt x="1386" y="6163"/>
                    <a:pt x="3096" y="6163"/>
                  </a:cubicBezTo>
                  <a:lnTo>
                    <a:pt x="3096" y="6163"/>
                  </a:lnTo>
                  <a:close/>
                </a:path>
              </a:pathLst>
            </a:custGeom>
            <a:solidFill>
              <a:schemeClr val="tx1">
                <a:alpha val="40000"/>
              </a:schemeClr>
            </a:solidFill>
            <a:ln w="1883"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683D9F53-107E-BF1D-14A9-D432999D1585}"/>
                </a:ext>
              </a:extLst>
            </p:cNvPr>
            <p:cNvSpPr/>
            <p:nvPr/>
          </p:nvSpPr>
          <p:spPr>
            <a:xfrm>
              <a:off x="8496474" y="4798692"/>
              <a:ext cx="38686" cy="38472"/>
            </a:xfrm>
            <a:custGeom>
              <a:avLst/>
              <a:gdLst>
                <a:gd name="connsiteX0" fmla="*/ 0 w 38686"/>
                <a:gd name="connsiteY0" fmla="*/ 3043 h 38472"/>
                <a:gd name="connsiteX1" fmla="*/ 3096 w 38686"/>
                <a:gd name="connsiteY1" fmla="*/ 6125 h 38472"/>
                <a:gd name="connsiteX2" fmla="*/ 32495 w 38686"/>
                <a:gd name="connsiteY2" fmla="*/ 35391 h 38472"/>
                <a:gd name="connsiteX3" fmla="*/ 35591 w 38686"/>
                <a:gd name="connsiteY3" fmla="*/ 38472 h 38472"/>
                <a:gd name="connsiteX4" fmla="*/ 38687 w 38686"/>
                <a:gd name="connsiteY4" fmla="*/ 35391 h 38472"/>
                <a:gd name="connsiteX5" fmla="*/ 3096 w 38686"/>
                <a:gd name="connsiteY5" fmla="*/ 0 h 38472"/>
                <a:gd name="connsiteX6" fmla="*/ 0 w 38686"/>
                <a:gd name="connsiteY6" fmla="*/ 3082 h 38472"/>
                <a:gd name="connsiteX7" fmla="*/ 0 w 38686"/>
                <a:gd name="connsiteY7" fmla="*/ 3082 h 38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86" h="38472">
                  <a:moveTo>
                    <a:pt x="0" y="3043"/>
                  </a:moveTo>
                  <a:cubicBezTo>
                    <a:pt x="0" y="4747"/>
                    <a:pt x="1386" y="6125"/>
                    <a:pt x="3096" y="6125"/>
                  </a:cubicBezTo>
                  <a:cubicBezTo>
                    <a:pt x="19315" y="6125"/>
                    <a:pt x="32495" y="19236"/>
                    <a:pt x="32495" y="35391"/>
                  </a:cubicBezTo>
                  <a:cubicBezTo>
                    <a:pt x="32495" y="37094"/>
                    <a:pt x="33882" y="38472"/>
                    <a:pt x="35591" y="38472"/>
                  </a:cubicBezTo>
                  <a:cubicBezTo>
                    <a:pt x="37300" y="38472"/>
                    <a:pt x="38687" y="37094"/>
                    <a:pt x="38687" y="35391"/>
                  </a:cubicBezTo>
                  <a:cubicBezTo>
                    <a:pt x="38687" y="15867"/>
                    <a:pt x="22714" y="0"/>
                    <a:pt x="3096" y="0"/>
                  </a:cubicBezTo>
                  <a:cubicBezTo>
                    <a:pt x="1386" y="0"/>
                    <a:pt x="0" y="1378"/>
                    <a:pt x="0" y="3082"/>
                  </a:cubicBezTo>
                  <a:lnTo>
                    <a:pt x="0" y="3082"/>
                  </a:lnTo>
                  <a:close/>
                </a:path>
              </a:pathLst>
            </a:custGeom>
            <a:solidFill>
              <a:schemeClr val="tx1">
                <a:alpha val="20000"/>
              </a:schemeClr>
            </a:solidFill>
            <a:ln w="1883"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4CCE22A-39F3-7281-2DE6-1B59BB03B3FE}"/>
                </a:ext>
              </a:extLst>
            </p:cNvPr>
            <p:cNvSpPr/>
            <p:nvPr/>
          </p:nvSpPr>
          <p:spPr>
            <a:xfrm>
              <a:off x="8433839" y="4780107"/>
              <a:ext cx="22942" cy="59411"/>
            </a:xfrm>
            <a:custGeom>
              <a:avLst/>
              <a:gdLst>
                <a:gd name="connsiteX0" fmla="*/ 20302 w 22942"/>
                <a:gd name="connsiteY0" fmla="*/ 14126 h 59411"/>
                <a:gd name="connsiteX1" fmla="*/ 10484 w 22942"/>
                <a:gd name="connsiteY1" fmla="*/ 14126 h 59411"/>
                <a:gd name="connsiteX2" fmla="*/ 10484 w 22942"/>
                <a:gd name="connsiteY2" fmla="*/ 11465 h 59411"/>
                <a:gd name="connsiteX3" fmla="*/ 20169 w 22942"/>
                <a:gd name="connsiteY3" fmla="*/ 11465 h 59411"/>
                <a:gd name="connsiteX4" fmla="*/ 19600 w 22942"/>
                <a:gd name="connsiteY4" fmla="*/ 0 h 59411"/>
                <a:gd name="connsiteX5" fmla="*/ 3324 w 22942"/>
                <a:gd name="connsiteY5" fmla="*/ 0 h 59411"/>
                <a:gd name="connsiteX6" fmla="*/ 0 w 22942"/>
                <a:gd name="connsiteY6" fmla="*/ 59412 h 59411"/>
                <a:gd name="connsiteX7" fmla="*/ 22942 w 22942"/>
                <a:gd name="connsiteY7" fmla="*/ 59412 h 59411"/>
                <a:gd name="connsiteX8" fmla="*/ 20302 w 22942"/>
                <a:gd name="connsiteY8" fmla="*/ 14126 h 5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2" h="59411">
                  <a:moveTo>
                    <a:pt x="20302" y="14126"/>
                  </a:moveTo>
                  <a:lnTo>
                    <a:pt x="10484" y="14126"/>
                  </a:lnTo>
                  <a:lnTo>
                    <a:pt x="10484" y="11465"/>
                  </a:lnTo>
                  <a:lnTo>
                    <a:pt x="20169" y="11465"/>
                  </a:lnTo>
                  <a:lnTo>
                    <a:pt x="19600" y="0"/>
                  </a:lnTo>
                  <a:lnTo>
                    <a:pt x="3324" y="0"/>
                  </a:lnTo>
                  <a:lnTo>
                    <a:pt x="0" y="59412"/>
                  </a:lnTo>
                  <a:lnTo>
                    <a:pt x="22942" y="59412"/>
                  </a:lnTo>
                  <a:lnTo>
                    <a:pt x="20302" y="14126"/>
                  </a:lnTo>
                  <a:close/>
                </a:path>
              </a:pathLst>
            </a:custGeom>
            <a:solidFill>
              <a:schemeClr val="tx1">
                <a:alpha val="40000"/>
              </a:schemeClr>
            </a:solidFill>
            <a:ln w="1883"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8A491A85-62DD-09EA-792C-FEE7DACE408A}"/>
                </a:ext>
              </a:extLst>
            </p:cNvPr>
            <p:cNvSpPr/>
            <p:nvPr/>
          </p:nvSpPr>
          <p:spPr>
            <a:xfrm>
              <a:off x="8467796" y="4780107"/>
              <a:ext cx="22942" cy="59411"/>
            </a:xfrm>
            <a:custGeom>
              <a:avLst/>
              <a:gdLst>
                <a:gd name="connsiteX0" fmla="*/ 20302 w 22942"/>
                <a:gd name="connsiteY0" fmla="*/ 14126 h 59411"/>
                <a:gd name="connsiteX1" fmla="*/ 10484 w 22942"/>
                <a:gd name="connsiteY1" fmla="*/ 14126 h 59411"/>
                <a:gd name="connsiteX2" fmla="*/ 10484 w 22942"/>
                <a:gd name="connsiteY2" fmla="*/ 11465 h 59411"/>
                <a:gd name="connsiteX3" fmla="*/ 20169 w 22942"/>
                <a:gd name="connsiteY3" fmla="*/ 11465 h 59411"/>
                <a:gd name="connsiteX4" fmla="*/ 19600 w 22942"/>
                <a:gd name="connsiteY4" fmla="*/ 0 h 59411"/>
                <a:gd name="connsiteX5" fmla="*/ 3343 w 22942"/>
                <a:gd name="connsiteY5" fmla="*/ 0 h 59411"/>
                <a:gd name="connsiteX6" fmla="*/ 0 w 22942"/>
                <a:gd name="connsiteY6" fmla="*/ 59412 h 59411"/>
                <a:gd name="connsiteX7" fmla="*/ 22942 w 22942"/>
                <a:gd name="connsiteY7" fmla="*/ 59412 h 59411"/>
                <a:gd name="connsiteX8" fmla="*/ 20302 w 22942"/>
                <a:gd name="connsiteY8" fmla="*/ 14126 h 5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2" h="59411">
                  <a:moveTo>
                    <a:pt x="20302" y="14126"/>
                  </a:moveTo>
                  <a:lnTo>
                    <a:pt x="10484" y="14126"/>
                  </a:lnTo>
                  <a:lnTo>
                    <a:pt x="10484" y="11465"/>
                  </a:lnTo>
                  <a:lnTo>
                    <a:pt x="20169" y="11465"/>
                  </a:lnTo>
                  <a:lnTo>
                    <a:pt x="19600" y="0"/>
                  </a:lnTo>
                  <a:lnTo>
                    <a:pt x="3343" y="0"/>
                  </a:lnTo>
                  <a:lnTo>
                    <a:pt x="0" y="59412"/>
                  </a:lnTo>
                  <a:lnTo>
                    <a:pt x="22942" y="59412"/>
                  </a:lnTo>
                  <a:lnTo>
                    <a:pt x="20302" y="14126"/>
                  </a:lnTo>
                  <a:close/>
                </a:path>
              </a:pathLst>
            </a:custGeom>
            <a:solidFill>
              <a:schemeClr val="tx1">
                <a:alpha val="40000"/>
              </a:schemeClr>
            </a:solidFill>
            <a:ln w="1883"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6990825-A67E-AE99-850E-C1ADE2E7D70E}"/>
                </a:ext>
              </a:extLst>
            </p:cNvPr>
            <p:cNvSpPr/>
            <p:nvPr/>
          </p:nvSpPr>
          <p:spPr>
            <a:xfrm>
              <a:off x="8426470" y="4843538"/>
              <a:ext cx="127018" cy="56540"/>
            </a:xfrm>
            <a:custGeom>
              <a:avLst/>
              <a:gdLst>
                <a:gd name="connsiteX0" fmla="*/ 18517 w 127018"/>
                <a:gd name="connsiteY0" fmla="*/ 39659 h 56540"/>
                <a:gd name="connsiteX1" fmla="*/ 20910 w 127018"/>
                <a:gd name="connsiteY1" fmla="*/ 33917 h 56540"/>
                <a:gd name="connsiteX2" fmla="*/ 26665 w 127018"/>
                <a:gd name="connsiteY2" fmla="*/ 31543 h 56540"/>
                <a:gd name="connsiteX3" fmla="*/ 34812 w 127018"/>
                <a:gd name="connsiteY3" fmla="*/ 39659 h 56540"/>
                <a:gd name="connsiteX4" fmla="*/ 34812 w 127018"/>
                <a:gd name="connsiteY4" fmla="*/ 56541 h 56540"/>
                <a:gd name="connsiteX5" fmla="*/ 127018 w 127018"/>
                <a:gd name="connsiteY5" fmla="*/ 56541 h 56540"/>
                <a:gd name="connsiteX6" fmla="*/ 127018 w 127018"/>
                <a:gd name="connsiteY6" fmla="*/ 0 h 56540"/>
                <a:gd name="connsiteX7" fmla="*/ 0 w 127018"/>
                <a:gd name="connsiteY7" fmla="*/ 0 h 56540"/>
                <a:gd name="connsiteX8" fmla="*/ 0 w 127018"/>
                <a:gd name="connsiteY8" fmla="*/ 56541 h 56540"/>
                <a:gd name="connsiteX9" fmla="*/ 18517 w 127018"/>
                <a:gd name="connsiteY9" fmla="*/ 56541 h 56540"/>
                <a:gd name="connsiteX10" fmla="*/ 18517 w 127018"/>
                <a:gd name="connsiteY10" fmla="*/ 39659 h 56540"/>
                <a:gd name="connsiteX11" fmla="*/ 104570 w 127018"/>
                <a:gd name="connsiteY11" fmla="*/ 15312 h 56540"/>
                <a:gd name="connsiteX12" fmla="*/ 104741 w 127018"/>
                <a:gd name="connsiteY12" fmla="*/ 15159 h 56540"/>
                <a:gd name="connsiteX13" fmla="*/ 115205 w 127018"/>
                <a:gd name="connsiteY13" fmla="*/ 15159 h 56540"/>
                <a:gd name="connsiteX14" fmla="*/ 115376 w 127018"/>
                <a:gd name="connsiteY14" fmla="*/ 15312 h 56540"/>
                <a:gd name="connsiteX15" fmla="*/ 115376 w 127018"/>
                <a:gd name="connsiteY15" fmla="*/ 31141 h 56540"/>
                <a:gd name="connsiteX16" fmla="*/ 115205 w 127018"/>
                <a:gd name="connsiteY16" fmla="*/ 31294 h 56540"/>
                <a:gd name="connsiteX17" fmla="*/ 104741 w 127018"/>
                <a:gd name="connsiteY17" fmla="*/ 31294 h 56540"/>
                <a:gd name="connsiteX18" fmla="*/ 104570 w 127018"/>
                <a:gd name="connsiteY18" fmla="*/ 31141 h 56540"/>
                <a:gd name="connsiteX19" fmla="*/ 104570 w 127018"/>
                <a:gd name="connsiteY19" fmla="*/ 15312 h 56540"/>
                <a:gd name="connsiteX20" fmla="*/ 81324 w 127018"/>
                <a:gd name="connsiteY20" fmla="*/ 15312 h 56540"/>
                <a:gd name="connsiteX21" fmla="*/ 81495 w 127018"/>
                <a:gd name="connsiteY21" fmla="*/ 15159 h 56540"/>
                <a:gd name="connsiteX22" fmla="*/ 91959 w 127018"/>
                <a:gd name="connsiteY22" fmla="*/ 15159 h 56540"/>
                <a:gd name="connsiteX23" fmla="*/ 92130 w 127018"/>
                <a:gd name="connsiteY23" fmla="*/ 15312 h 56540"/>
                <a:gd name="connsiteX24" fmla="*/ 92130 w 127018"/>
                <a:gd name="connsiteY24" fmla="*/ 31141 h 56540"/>
                <a:gd name="connsiteX25" fmla="*/ 91959 w 127018"/>
                <a:gd name="connsiteY25" fmla="*/ 31294 h 56540"/>
                <a:gd name="connsiteX26" fmla="*/ 81495 w 127018"/>
                <a:gd name="connsiteY26" fmla="*/ 31294 h 56540"/>
                <a:gd name="connsiteX27" fmla="*/ 81324 w 127018"/>
                <a:gd name="connsiteY27" fmla="*/ 31141 h 56540"/>
                <a:gd name="connsiteX28" fmla="*/ 81324 w 127018"/>
                <a:gd name="connsiteY28" fmla="*/ 15312 h 56540"/>
                <a:gd name="connsiteX29" fmla="*/ 57698 w 127018"/>
                <a:gd name="connsiteY29" fmla="*/ 15312 h 56540"/>
                <a:gd name="connsiteX30" fmla="*/ 57869 w 127018"/>
                <a:gd name="connsiteY30" fmla="*/ 15159 h 56540"/>
                <a:gd name="connsiteX31" fmla="*/ 68333 w 127018"/>
                <a:gd name="connsiteY31" fmla="*/ 15159 h 56540"/>
                <a:gd name="connsiteX32" fmla="*/ 68504 w 127018"/>
                <a:gd name="connsiteY32" fmla="*/ 15312 h 56540"/>
                <a:gd name="connsiteX33" fmla="*/ 68504 w 127018"/>
                <a:gd name="connsiteY33" fmla="*/ 31141 h 56540"/>
                <a:gd name="connsiteX34" fmla="*/ 68333 w 127018"/>
                <a:gd name="connsiteY34" fmla="*/ 31294 h 56540"/>
                <a:gd name="connsiteX35" fmla="*/ 57869 w 127018"/>
                <a:gd name="connsiteY35" fmla="*/ 31294 h 56540"/>
                <a:gd name="connsiteX36" fmla="*/ 57698 w 127018"/>
                <a:gd name="connsiteY36" fmla="*/ 31141 h 56540"/>
                <a:gd name="connsiteX37" fmla="*/ 57698 w 127018"/>
                <a:gd name="connsiteY37" fmla="*/ 15312 h 5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7018" h="56540">
                  <a:moveTo>
                    <a:pt x="18517" y="39659"/>
                  </a:moveTo>
                  <a:cubicBezTo>
                    <a:pt x="18517" y="37496"/>
                    <a:pt x="19353" y="35467"/>
                    <a:pt x="20910" y="33917"/>
                  </a:cubicBezTo>
                  <a:cubicBezTo>
                    <a:pt x="22449" y="32385"/>
                    <a:pt x="24500" y="31543"/>
                    <a:pt x="26665" y="31543"/>
                  </a:cubicBezTo>
                  <a:cubicBezTo>
                    <a:pt x="31166" y="31543"/>
                    <a:pt x="34812" y="35180"/>
                    <a:pt x="34812" y="39659"/>
                  </a:cubicBezTo>
                  <a:lnTo>
                    <a:pt x="34812" y="56541"/>
                  </a:lnTo>
                  <a:lnTo>
                    <a:pt x="127018" y="56541"/>
                  </a:lnTo>
                  <a:lnTo>
                    <a:pt x="127018" y="0"/>
                  </a:lnTo>
                  <a:lnTo>
                    <a:pt x="0" y="0"/>
                  </a:lnTo>
                  <a:lnTo>
                    <a:pt x="0" y="56541"/>
                  </a:lnTo>
                  <a:lnTo>
                    <a:pt x="18517" y="56541"/>
                  </a:lnTo>
                  <a:lnTo>
                    <a:pt x="18517" y="39659"/>
                  </a:lnTo>
                  <a:close/>
                  <a:moveTo>
                    <a:pt x="104570" y="15312"/>
                  </a:moveTo>
                  <a:cubicBezTo>
                    <a:pt x="104570" y="15312"/>
                    <a:pt x="104646" y="15159"/>
                    <a:pt x="104741" y="15159"/>
                  </a:cubicBezTo>
                  <a:lnTo>
                    <a:pt x="115205" y="15159"/>
                  </a:lnTo>
                  <a:cubicBezTo>
                    <a:pt x="115205" y="15159"/>
                    <a:pt x="115376" y="15236"/>
                    <a:pt x="115376" y="15312"/>
                  </a:cubicBezTo>
                  <a:lnTo>
                    <a:pt x="115376" y="31141"/>
                  </a:lnTo>
                  <a:cubicBezTo>
                    <a:pt x="115376" y="31141"/>
                    <a:pt x="115300" y="31294"/>
                    <a:pt x="115205" y="31294"/>
                  </a:cubicBezTo>
                  <a:lnTo>
                    <a:pt x="104741" y="31294"/>
                  </a:lnTo>
                  <a:cubicBezTo>
                    <a:pt x="104741" y="31294"/>
                    <a:pt x="104570" y="31218"/>
                    <a:pt x="104570" y="31141"/>
                  </a:cubicBezTo>
                  <a:lnTo>
                    <a:pt x="104570" y="15312"/>
                  </a:lnTo>
                  <a:close/>
                  <a:moveTo>
                    <a:pt x="81324" y="15312"/>
                  </a:moveTo>
                  <a:cubicBezTo>
                    <a:pt x="81324" y="15312"/>
                    <a:pt x="81400" y="15159"/>
                    <a:pt x="81495" y="15159"/>
                  </a:cubicBezTo>
                  <a:lnTo>
                    <a:pt x="91959" y="15159"/>
                  </a:lnTo>
                  <a:cubicBezTo>
                    <a:pt x="91959" y="15159"/>
                    <a:pt x="92130" y="15236"/>
                    <a:pt x="92130" y="15312"/>
                  </a:cubicBezTo>
                  <a:lnTo>
                    <a:pt x="92130" y="31141"/>
                  </a:lnTo>
                  <a:cubicBezTo>
                    <a:pt x="92130" y="31141"/>
                    <a:pt x="92054" y="31294"/>
                    <a:pt x="91959" y="31294"/>
                  </a:cubicBezTo>
                  <a:lnTo>
                    <a:pt x="81495" y="31294"/>
                  </a:lnTo>
                  <a:cubicBezTo>
                    <a:pt x="81495" y="31294"/>
                    <a:pt x="81324" y="31218"/>
                    <a:pt x="81324" y="31141"/>
                  </a:cubicBezTo>
                  <a:lnTo>
                    <a:pt x="81324" y="15312"/>
                  </a:lnTo>
                  <a:close/>
                  <a:moveTo>
                    <a:pt x="57698" y="15312"/>
                  </a:moveTo>
                  <a:cubicBezTo>
                    <a:pt x="57698" y="15312"/>
                    <a:pt x="57774" y="15159"/>
                    <a:pt x="57869" y="15159"/>
                  </a:cubicBezTo>
                  <a:lnTo>
                    <a:pt x="68333" y="15159"/>
                  </a:lnTo>
                  <a:cubicBezTo>
                    <a:pt x="68333" y="15159"/>
                    <a:pt x="68504" y="15236"/>
                    <a:pt x="68504" y="15312"/>
                  </a:cubicBezTo>
                  <a:lnTo>
                    <a:pt x="68504" y="31141"/>
                  </a:lnTo>
                  <a:cubicBezTo>
                    <a:pt x="68504" y="31141"/>
                    <a:pt x="68428" y="31294"/>
                    <a:pt x="68333" y="31294"/>
                  </a:cubicBezTo>
                  <a:lnTo>
                    <a:pt x="57869" y="31294"/>
                  </a:lnTo>
                  <a:cubicBezTo>
                    <a:pt x="57869" y="31294"/>
                    <a:pt x="57698" y="31218"/>
                    <a:pt x="57698" y="31141"/>
                  </a:cubicBezTo>
                  <a:lnTo>
                    <a:pt x="57698" y="15312"/>
                  </a:lnTo>
                  <a:close/>
                </a:path>
              </a:pathLst>
            </a:custGeom>
            <a:solidFill>
              <a:schemeClr val="tx1">
                <a:alpha val="60000"/>
              </a:schemeClr>
            </a:solidFill>
            <a:ln w="1883"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82DB6F79-3FBD-87F4-0D20-8F2CAAA58A6B}"/>
                </a:ext>
              </a:extLst>
            </p:cNvPr>
            <p:cNvSpPr/>
            <p:nvPr/>
          </p:nvSpPr>
          <p:spPr>
            <a:xfrm>
              <a:off x="8414941" y="4904117"/>
              <a:ext cx="150093" cy="13072"/>
            </a:xfrm>
            <a:custGeom>
              <a:avLst/>
              <a:gdLst>
                <a:gd name="connsiteX0" fmla="*/ 146713 w 150093"/>
                <a:gd name="connsiteY0" fmla="*/ 804 h 13072"/>
                <a:gd name="connsiteX1" fmla="*/ 145118 w 150093"/>
                <a:gd name="connsiteY1" fmla="*/ 0 h 13072"/>
                <a:gd name="connsiteX2" fmla="*/ 4957 w 150093"/>
                <a:gd name="connsiteY2" fmla="*/ 0 h 13072"/>
                <a:gd name="connsiteX3" fmla="*/ 3362 w 150093"/>
                <a:gd name="connsiteY3" fmla="*/ 804 h 13072"/>
                <a:gd name="connsiteX4" fmla="*/ 399 w 150093"/>
                <a:gd name="connsiteY4" fmla="*/ 4747 h 13072"/>
                <a:gd name="connsiteX5" fmla="*/ 0 w 150093"/>
                <a:gd name="connsiteY5" fmla="*/ 5972 h 13072"/>
                <a:gd name="connsiteX6" fmla="*/ 0 w 150093"/>
                <a:gd name="connsiteY6" fmla="*/ 13073 h 13072"/>
                <a:gd name="connsiteX7" fmla="*/ 150094 w 150093"/>
                <a:gd name="connsiteY7" fmla="*/ 13073 h 13072"/>
                <a:gd name="connsiteX8" fmla="*/ 150094 w 150093"/>
                <a:gd name="connsiteY8" fmla="*/ 5972 h 13072"/>
                <a:gd name="connsiteX9" fmla="*/ 149695 w 150093"/>
                <a:gd name="connsiteY9" fmla="*/ 4747 h 13072"/>
                <a:gd name="connsiteX10" fmla="*/ 146732 w 150093"/>
                <a:gd name="connsiteY10" fmla="*/ 804 h 13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093" h="13072">
                  <a:moveTo>
                    <a:pt x="146713" y="804"/>
                  </a:moveTo>
                  <a:cubicBezTo>
                    <a:pt x="146333" y="287"/>
                    <a:pt x="145744" y="0"/>
                    <a:pt x="145118" y="0"/>
                  </a:cubicBezTo>
                  <a:lnTo>
                    <a:pt x="4957" y="0"/>
                  </a:lnTo>
                  <a:cubicBezTo>
                    <a:pt x="4330" y="0"/>
                    <a:pt x="3722" y="306"/>
                    <a:pt x="3362" y="804"/>
                  </a:cubicBezTo>
                  <a:lnTo>
                    <a:pt x="399" y="4747"/>
                  </a:lnTo>
                  <a:cubicBezTo>
                    <a:pt x="133" y="5091"/>
                    <a:pt x="0" y="5532"/>
                    <a:pt x="0" y="5972"/>
                  </a:cubicBezTo>
                  <a:lnTo>
                    <a:pt x="0" y="13073"/>
                  </a:lnTo>
                  <a:lnTo>
                    <a:pt x="150094" y="13073"/>
                  </a:lnTo>
                  <a:lnTo>
                    <a:pt x="150094" y="5972"/>
                  </a:lnTo>
                  <a:cubicBezTo>
                    <a:pt x="150094" y="5532"/>
                    <a:pt x="149961" y="5110"/>
                    <a:pt x="149695" y="4747"/>
                  </a:cubicBezTo>
                  <a:cubicBezTo>
                    <a:pt x="149695" y="4747"/>
                    <a:pt x="146732" y="804"/>
                    <a:pt x="146732" y="804"/>
                  </a:cubicBezTo>
                  <a:close/>
                </a:path>
              </a:pathLst>
            </a:custGeom>
            <a:solidFill>
              <a:schemeClr val="tx1">
                <a:alpha val="40000"/>
              </a:schemeClr>
            </a:solidFill>
            <a:ln w="1883" cap="flat">
              <a:noFill/>
              <a:prstDash val="solid"/>
              <a:miter/>
            </a:ln>
          </p:spPr>
          <p:txBody>
            <a:bodyPr rtlCol="0" anchor="ctr"/>
            <a:lstStyle/>
            <a:p>
              <a:endParaRPr lang="en-US"/>
            </a:p>
          </p:txBody>
        </p:sp>
      </p:grpSp>
      <p:grpSp>
        <p:nvGrpSpPr>
          <p:cNvPr id="54" name="Graphic 18">
            <a:extLst>
              <a:ext uri="{FF2B5EF4-FFF2-40B4-BE49-F238E27FC236}">
                <a16:creationId xmlns:a16="http://schemas.microsoft.com/office/drawing/2014/main" id="{D78D9CCA-B9D1-225D-53C9-658C72AB8E56}"/>
              </a:ext>
            </a:extLst>
          </p:cNvPr>
          <p:cNvGrpSpPr/>
          <p:nvPr/>
        </p:nvGrpSpPr>
        <p:grpSpPr>
          <a:xfrm>
            <a:off x="8623501" y="5502086"/>
            <a:ext cx="164294" cy="120673"/>
            <a:chOff x="8414264" y="5042266"/>
            <a:chExt cx="164294" cy="120673"/>
          </a:xfrm>
        </p:grpSpPr>
        <p:sp>
          <p:nvSpPr>
            <p:cNvPr id="55" name="Freeform: Shape 54">
              <a:extLst>
                <a:ext uri="{FF2B5EF4-FFF2-40B4-BE49-F238E27FC236}">
                  <a16:creationId xmlns:a16="http://schemas.microsoft.com/office/drawing/2014/main" id="{72B16444-5A40-356C-925C-D2B68E406C96}"/>
                </a:ext>
              </a:extLst>
            </p:cNvPr>
            <p:cNvSpPr/>
            <p:nvPr/>
          </p:nvSpPr>
          <p:spPr>
            <a:xfrm>
              <a:off x="8414264" y="5042266"/>
              <a:ext cx="164294" cy="120673"/>
            </a:xfrm>
            <a:custGeom>
              <a:avLst/>
              <a:gdLst>
                <a:gd name="connsiteX0" fmla="*/ 146202 w 164294"/>
                <a:gd name="connsiteY0" fmla="*/ 21681 h 120673"/>
                <a:gd name="connsiteX1" fmla="*/ 123189 w 164294"/>
                <a:gd name="connsiteY1" fmla="*/ 21681 h 120673"/>
                <a:gd name="connsiteX2" fmla="*/ 118247 w 164294"/>
                <a:gd name="connsiteY2" fmla="*/ 17035 h 120673"/>
                <a:gd name="connsiteX3" fmla="*/ 123189 w 164294"/>
                <a:gd name="connsiteY3" fmla="*/ 12389 h 120673"/>
                <a:gd name="connsiteX4" fmla="*/ 146202 w 164294"/>
                <a:gd name="connsiteY4" fmla="*/ 12389 h 120673"/>
                <a:gd name="connsiteX5" fmla="*/ 151144 w 164294"/>
                <a:gd name="connsiteY5" fmla="*/ 17035 h 120673"/>
                <a:gd name="connsiteX6" fmla="*/ 146202 w 164294"/>
                <a:gd name="connsiteY6" fmla="*/ 21681 h 120673"/>
                <a:gd name="connsiteX7" fmla="*/ 143752 w 164294"/>
                <a:gd name="connsiteY7" fmla="*/ 96800 h 120673"/>
                <a:gd name="connsiteX8" fmla="*/ 121577 w 164294"/>
                <a:gd name="connsiteY8" fmla="*/ 75923 h 120673"/>
                <a:gd name="connsiteX9" fmla="*/ 121577 w 164294"/>
                <a:gd name="connsiteY9" fmla="*/ 46439 h 120673"/>
                <a:gd name="connsiteX10" fmla="*/ 151165 w 164294"/>
                <a:gd name="connsiteY10" fmla="*/ 77231 h 120673"/>
                <a:gd name="connsiteX11" fmla="*/ 143773 w 164294"/>
                <a:gd name="connsiteY11" fmla="*/ 96840 h 120673"/>
                <a:gd name="connsiteX12" fmla="*/ 143752 w 164294"/>
                <a:gd name="connsiteY12" fmla="*/ 96840 h 120673"/>
                <a:gd name="connsiteX13" fmla="*/ 118289 w 164294"/>
                <a:gd name="connsiteY13" fmla="*/ 32461 h 120673"/>
                <a:gd name="connsiteX14" fmla="*/ 123231 w 164294"/>
                <a:gd name="connsiteY14" fmla="*/ 27815 h 120673"/>
                <a:gd name="connsiteX15" fmla="*/ 133094 w 164294"/>
                <a:gd name="connsiteY15" fmla="*/ 27815 h 120673"/>
                <a:gd name="connsiteX16" fmla="*/ 138036 w 164294"/>
                <a:gd name="connsiteY16" fmla="*/ 32461 h 120673"/>
                <a:gd name="connsiteX17" fmla="*/ 133094 w 164294"/>
                <a:gd name="connsiteY17" fmla="*/ 37107 h 120673"/>
                <a:gd name="connsiteX18" fmla="*/ 123231 w 164294"/>
                <a:gd name="connsiteY18" fmla="*/ 37107 h 120673"/>
                <a:gd name="connsiteX19" fmla="*/ 118289 w 164294"/>
                <a:gd name="connsiteY19" fmla="*/ 32461 h 120673"/>
                <a:gd name="connsiteX20" fmla="*/ 118289 w 164294"/>
                <a:gd name="connsiteY20" fmla="*/ 108284 h 120673"/>
                <a:gd name="connsiteX21" fmla="*/ 85602 w 164294"/>
                <a:gd name="connsiteY21" fmla="*/ 80429 h 120673"/>
                <a:gd name="connsiteX22" fmla="*/ 116907 w 164294"/>
                <a:gd name="connsiteY22" fmla="*/ 80429 h 120673"/>
                <a:gd name="connsiteX23" fmla="*/ 139083 w 164294"/>
                <a:gd name="connsiteY23" fmla="*/ 101164 h 120673"/>
                <a:gd name="connsiteX24" fmla="*/ 118268 w 164294"/>
                <a:gd name="connsiteY24" fmla="*/ 108264 h 120673"/>
                <a:gd name="connsiteX25" fmla="*/ 118289 w 164294"/>
                <a:gd name="connsiteY25" fmla="*/ 108264 h 120673"/>
                <a:gd name="connsiteX26" fmla="*/ 115002 w 164294"/>
                <a:gd name="connsiteY26" fmla="*/ 46419 h 120673"/>
                <a:gd name="connsiteX27" fmla="*/ 115002 w 164294"/>
                <a:gd name="connsiteY27" fmla="*/ 74274 h 120673"/>
                <a:gd name="connsiteX28" fmla="*/ 85602 w 164294"/>
                <a:gd name="connsiteY28" fmla="*/ 74274 h 120673"/>
                <a:gd name="connsiteX29" fmla="*/ 115002 w 164294"/>
                <a:gd name="connsiteY29" fmla="*/ 46419 h 120673"/>
                <a:gd name="connsiteX30" fmla="*/ 65709 w 164294"/>
                <a:gd name="connsiteY30" fmla="*/ 68080 h 120673"/>
                <a:gd name="connsiteX31" fmla="*/ 54171 w 164294"/>
                <a:gd name="connsiteY31" fmla="*/ 61604 h 120673"/>
                <a:gd name="connsiteX32" fmla="*/ 39409 w 164294"/>
                <a:gd name="connsiteY32" fmla="*/ 65063 h 120673"/>
                <a:gd name="connsiteX33" fmla="*/ 26280 w 164294"/>
                <a:gd name="connsiteY33" fmla="*/ 77351 h 120673"/>
                <a:gd name="connsiteX34" fmla="*/ 13150 w 164294"/>
                <a:gd name="connsiteY34" fmla="*/ 64982 h 120673"/>
                <a:gd name="connsiteX35" fmla="*/ 26280 w 164294"/>
                <a:gd name="connsiteY35" fmla="*/ 52613 h 120673"/>
                <a:gd name="connsiteX36" fmla="*/ 37817 w 164294"/>
                <a:gd name="connsiteY36" fmla="*/ 59090 h 120673"/>
                <a:gd name="connsiteX37" fmla="*/ 52580 w 164294"/>
                <a:gd name="connsiteY37" fmla="*/ 55630 h 120673"/>
                <a:gd name="connsiteX38" fmla="*/ 65709 w 164294"/>
                <a:gd name="connsiteY38" fmla="*/ 43342 h 120673"/>
                <a:gd name="connsiteX39" fmla="*/ 71761 w 164294"/>
                <a:gd name="connsiteY39" fmla="*/ 44750 h 120673"/>
                <a:gd name="connsiteX40" fmla="*/ 84346 w 164294"/>
                <a:gd name="connsiteY40" fmla="*/ 31616 h 120673"/>
                <a:gd name="connsiteX41" fmla="*/ 82147 w 164294"/>
                <a:gd name="connsiteY41" fmla="*/ 24778 h 120673"/>
                <a:gd name="connsiteX42" fmla="*/ 95276 w 164294"/>
                <a:gd name="connsiteY42" fmla="*/ 12409 h 120673"/>
                <a:gd name="connsiteX43" fmla="*/ 108406 w 164294"/>
                <a:gd name="connsiteY43" fmla="*/ 24778 h 120673"/>
                <a:gd name="connsiteX44" fmla="*/ 95276 w 164294"/>
                <a:gd name="connsiteY44" fmla="*/ 37147 h 120673"/>
                <a:gd name="connsiteX45" fmla="*/ 89183 w 164294"/>
                <a:gd name="connsiteY45" fmla="*/ 35719 h 120673"/>
                <a:gd name="connsiteX46" fmla="*/ 76619 w 164294"/>
                <a:gd name="connsiteY46" fmla="*/ 48873 h 120673"/>
                <a:gd name="connsiteX47" fmla="*/ 78818 w 164294"/>
                <a:gd name="connsiteY47" fmla="*/ 55711 h 120673"/>
                <a:gd name="connsiteX48" fmla="*/ 65688 w 164294"/>
                <a:gd name="connsiteY48" fmla="*/ 68080 h 120673"/>
                <a:gd name="connsiteX49" fmla="*/ 75572 w 164294"/>
                <a:gd name="connsiteY49" fmla="*/ 108304 h 120673"/>
                <a:gd name="connsiteX50" fmla="*/ 65709 w 164294"/>
                <a:gd name="connsiteY50" fmla="*/ 108304 h 120673"/>
                <a:gd name="connsiteX51" fmla="*/ 65709 w 164294"/>
                <a:gd name="connsiteY51" fmla="*/ 77372 h 120673"/>
                <a:gd name="connsiteX52" fmla="*/ 75572 w 164294"/>
                <a:gd name="connsiteY52" fmla="*/ 77372 h 120673"/>
                <a:gd name="connsiteX53" fmla="*/ 75572 w 164294"/>
                <a:gd name="connsiteY53" fmla="*/ 108304 h 120673"/>
                <a:gd name="connsiteX54" fmla="*/ 59155 w 164294"/>
                <a:gd name="connsiteY54" fmla="*/ 108304 h 120673"/>
                <a:gd name="connsiteX55" fmla="*/ 49292 w 164294"/>
                <a:gd name="connsiteY55" fmla="*/ 108304 h 120673"/>
                <a:gd name="connsiteX56" fmla="*/ 49292 w 164294"/>
                <a:gd name="connsiteY56" fmla="*/ 86643 h 120673"/>
                <a:gd name="connsiteX57" fmla="*/ 59155 w 164294"/>
                <a:gd name="connsiteY57" fmla="*/ 86643 h 120673"/>
                <a:gd name="connsiteX58" fmla="*/ 59155 w 164294"/>
                <a:gd name="connsiteY58" fmla="*/ 108304 h 120673"/>
                <a:gd name="connsiteX59" fmla="*/ 42738 w 164294"/>
                <a:gd name="connsiteY59" fmla="*/ 108304 h 120673"/>
                <a:gd name="connsiteX60" fmla="*/ 32876 w 164294"/>
                <a:gd name="connsiteY60" fmla="*/ 108304 h 120673"/>
                <a:gd name="connsiteX61" fmla="*/ 32876 w 164294"/>
                <a:gd name="connsiteY61" fmla="*/ 95935 h 120673"/>
                <a:gd name="connsiteX62" fmla="*/ 42738 w 164294"/>
                <a:gd name="connsiteY62" fmla="*/ 95935 h 120673"/>
                <a:gd name="connsiteX63" fmla="*/ 42738 w 164294"/>
                <a:gd name="connsiteY63" fmla="*/ 108304 h 120673"/>
                <a:gd name="connsiteX64" fmla="*/ 9967 w 164294"/>
                <a:gd name="connsiteY64" fmla="*/ 46439 h 120673"/>
                <a:gd name="connsiteX65" fmla="*/ 9967 w 164294"/>
                <a:gd name="connsiteY65" fmla="*/ 43261 h 120673"/>
                <a:gd name="connsiteX66" fmla="*/ 24583 w 164294"/>
                <a:gd name="connsiteY66" fmla="*/ 29484 h 120673"/>
                <a:gd name="connsiteX67" fmla="*/ 39199 w 164294"/>
                <a:gd name="connsiteY67" fmla="*/ 43261 h 120673"/>
                <a:gd name="connsiteX68" fmla="*/ 39199 w 164294"/>
                <a:gd name="connsiteY68" fmla="*/ 46439 h 120673"/>
                <a:gd name="connsiteX69" fmla="*/ 9967 w 164294"/>
                <a:gd name="connsiteY69" fmla="*/ 46439 h 120673"/>
                <a:gd name="connsiteX70" fmla="*/ 16710 w 164294"/>
                <a:gd name="connsiteY70" fmla="*/ 13354 h 120673"/>
                <a:gd name="connsiteX71" fmla="*/ 24562 w 164294"/>
                <a:gd name="connsiteY71" fmla="*/ 6195 h 120673"/>
                <a:gd name="connsiteX72" fmla="*/ 32415 w 164294"/>
                <a:gd name="connsiteY72" fmla="*/ 13354 h 120673"/>
                <a:gd name="connsiteX73" fmla="*/ 32415 w 164294"/>
                <a:gd name="connsiteY73" fmla="*/ 18101 h 120673"/>
                <a:gd name="connsiteX74" fmla="*/ 24562 w 164294"/>
                <a:gd name="connsiteY74" fmla="*/ 25261 h 120673"/>
                <a:gd name="connsiteX75" fmla="*/ 16710 w 164294"/>
                <a:gd name="connsiteY75" fmla="*/ 18101 h 120673"/>
                <a:gd name="connsiteX76" fmla="*/ 16710 w 164294"/>
                <a:gd name="connsiteY76" fmla="*/ 13354 h 120673"/>
                <a:gd name="connsiteX77" fmla="*/ 151165 w 164294"/>
                <a:gd name="connsiteY77" fmla="*/ 0 h 120673"/>
                <a:gd name="connsiteX78" fmla="*/ 13129 w 164294"/>
                <a:gd name="connsiteY78" fmla="*/ 0 h 120673"/>
                <a:gd name="connsiteX79" fmla="*/ 0 w 164294"/>
                <a:gd name="connsiteY79" fmla="*/ 12369 h 120673"/>
                <a:gd name="connsiteX80" fmla="*/ 0 w 164294"/>
                <a:gd name="connsiteY80" fmla="*/ 108304 h 120673"/>
                <a:gd name="connsiteX81" fmla="*/ 13129 w 164294"/>
                <a:gd name="connsiteY81" fmla="*/ 120673 h 120673"/>
                <a:gd name="connsiteX82" fmla="*/ 151165 w 164294"/>
                <a:gd name="connsiteY82" fmla="*/ 120673 h 120673"/>
                <a:gd name="connsiteX83" fmla="*/ 164294 w 164294"/>
                <a:gd name="connsiteY83" fmla="*/ 108304 h 120673"/>
                <a:gd name="connsiteX84" fmla="*/ 164294 w 164294"/>
                <a:gd name="connsiteY84" fmla="*/ 12369 h 120673"/>
                <a:gd name="connsiteX85" fmla="*/ 151165 w 164294"/>
                <a:gd name="connsiteY85" fmla="*/ 0 h 12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64294" h="120673">
                  <a:moveTo>
                    <a:pt x="146202" y="21681"/>
                  </a:moveTo>
                  <a:lnTo>
                    <a:pt x="123189" y="21681"/>
                  </a:lnTo>
                  <a:cubicBezTo>
                    <a:pt x="120467" y="21681"/>
                    <a:pt x="118247" y="19609"/>
                    <a:pt x="118247" y="17035"/>
                  </a:cubicBezTo>
                  <a:cubicBezTo>
                    <a:pt x="118247" y="14461"/>
                    <a:pt x="120446" y="12389"/>
                    <a:pt x="123189" y="12389"/>
                  </a:cubicBezTo>
                  <a:lnTo>
                    <a:pt x="146202" y="12389"/>
                  </a:lnTo>
                  <a:cubicBezTo>
                    <a:pt x="148924" y="12389"/>
                    <a:pt x="151144" y="14461"/>
                    <a:pt x="151144" y="17035"/>
                  </a:cubicBezTo>
                  <a:cubicBezTo>
                    <a:pt x="151144" y="19609"/>
                    <a:pt x="148945" y="21681"/>
                    <a:pt x="146202" y="21681"/>
                  </a:cubicBezTo>
                  <a:close/>
                  <a:moveTo>
                    <a:pt x="143752" y="96800"/>
                  </a:moveTo>
                  <a:lnTo>
                    <a:pt x="121577" y="75923"/>
                  </a:lnTo>
                  <a:lnTo>
                    <a:pt x="121577" y="46439"/>
                  </a:lnTo>
                  <a:cubicBezTo>
                    <a:pt x="138161" y="47988"/>
                    <a:pt x="151165" y="61201"/>
                    <a:pt x="151165" y="77231"/>
                  </a:cubicBezTo>
                  <a:cubicBezTo>
                    <a:pt x="151165" y="84652"/>
                    <a:pt x="148380" y="91490"/>
                    <a:pt x="143773" y="96840"/>
                  </a:cubicBezTo>
                  <a:lnTo>
                    <a:pt x="143752" y="96840"/>
                  </a:lnTo>
                  <a:close/>
                  <a:moveTo>
                    <a:pt x="118289" y="32461"/>
                  </a:moveTo>
                  <a:cubicBezTo>
                    <a:pt x="118289" y="29907"/>
                    <a:pt x="120488" y="27815"/>
                    <a:pt x="123231" y="27815"/>
                  </a:cubicBezTo>
                  <a:lnTo>
                    <a:pt x="133094" y="27815"/>
                  </a:lnTo>
                  <a:cubicBezTo>
                    <a:pt x="135816" y="27815"/>
                    <a:pt x="138036" y="29887"/>
                    <a:pt x="138036" y="32461"/>
                  </a:cubicBezTo>
                  <a:cubicBezTo>
                    <a:pt x="138036" y="35035"/>
                    <a:pt x="135837" y="37107"/>
                    <a:pt x="133094" y="37107"/>
                  </a:cubicBezTo>
                  <a:lnTo>
                    <a:pt x="123231" y="37107"/>
                  </a:lnTo>
                  <a:cubicBezTo>
                    <a:pt x="120509" y="37107"/>
                    <a:pt x="118289" y="35035"/>
                    <a:pt x="118289" y="32461"/>
                  </a:cubicBezTo>
                  <a:close/>
                  <a:moveTo>
                    <a:pt x="118289" y="108284"/>
                  </a:moveTo>
                  <a:cubicBezTo>
                    <a:pt x="101265" y="108284"/>
                    <a:pt x="87236" y="96056"/>
                    <a:pt x="85602" y="80429"/>
                  </a:cubicBezTo>
                  <a:lnTo>
                    <a:pt x="116907" y="80429"/>
                  </a:lnTo>
                  <a:lnTo>
                    <a:pt x="139083" y="101164"/>
                  </a:lnTo>
                  <a:cubicBezTo>
                    <a:pt x="133450" y="105488"/>
                    <a:pt x="126163" y="108264"/>
                    <a:pt x="118268" y="108264"/>
                  </a:cubicBezTo>
                  <a:lnTo>
                    <a:pt x="118289" y="108264"/>
                  </a:lnTo>
                  <a:close/>
                  <a:moveTo>
                    <a:pt x="115002" y="46419"/>
                  </a:moveTo>
                  <a:lnTo>
                    <a:pt x="115002" y="74274"/>
                  </a:lnTo>
                  <a:lnTo>
                    <a:pt x="85602" y="74274"/>
                  </a:lnTo>
                  <a:cubicBezTo>
                    <a:pt x="87152" y="59673"/>
                    <a:pt x="99485" y="47887"/>
                    <a:pt x="115002" y="46419"/>
                  </a:cubicBezTo>
                  <a:close/>
                  <a:moveTo>
                    <a:pt x="65709" y="68080"/>
                  </a:moveTo>
                  <a:cubicBezTo>
                    <a:pt x="60726" y="68080"/>
                    <a:pt x="56412" y="65465"/>
                    <a:pt x="54171" y="61604"/>
                  </a:cubicBezTo>
                  <a:lnTo>
                    <a:pt x="39409" y="65063"/>
                  </a:lnTo>
                  <a:cubicBezTo>
                    <a:pt x="39325" y="71881"/>
                    <a:pt x="33504" y="77351"/>
                    <a:pt x="26280" y="77351"/>
                  </a:cubicBezTo>
                  <a:cubicBezTo>
                    <a:pt x="19055" y="77351"/>
                    <a:pt x="13150" y="71821"/>
                    <a:pt x="13150" y="64982"/>
                  </a:cubicBezTo>
                  <a:cubicBezTo>
                    <a:pt x="13150" y="58144"/>
                    <a:pt x="19034" y="52613"/>
                    <a:pt x="26280" y="52613"/>
                  </a:cubicBezTo>
                  <a:cubicBezTo>
                    <a:pt x="31263" y="52613"/>
                    <a:pt x="35577" y="55228"/>
                    <a:pt x="37817" y="59090"/>
                  </a:cubicBezTo>
                  <a:lnTo>
                    <a:pt x="52580" y="55630"/>
                  </a:lnTo>
                  <a:cubicBezTo>
                    <a:pt x="52664" y="48812"/>
                    <a:pt x="58485" y="43342"/>
                    <a:pt x="65709" y="43342"/>
                  </a:cubicBezTo>
                  <a:cubicBezTo>
                    <a:pt x="67887" y="43342"/>
                    <a:pt x="69939" y="43824"/>
                    <a:pt x="71761" y="44750"/>
                  </a:cubicBezTo>
                  <a:lnTo>
                    <a:pt x="84346" y="31616"/>
                  </a:lnTo>
                  <a:cubicBezTo>
                    <a:pt x="82964" y="29625"/>
                    <a:pt x="82147" y="27292"/>
                    <a:pt x="82147" y="24778"/>
                  </a:cubicBezTo>
                  <a:cubicBezTo>
                    <a:pt x="82147" y="17940"/>
                    <a:pt x="88031" y="12409"/>
                    <a:pt x="95276" y="12409"/>
                  </a:cubicBezTo>
                  <a:cubicBezTo>
                    <a:pt x="102522" y="12409"/>
                    <a:pt x="108406" y="17940"/>
                    <a:pt x="108406" y="24778"/>
                  </a:cubicBezTo>
                  <a:cubicBezTo>
                    <a:pt x="108406" y="31616"/>
                    <a:pt x="102522" y="37147"/>
                    <a:pt x="95276" y="37147"/>
                  </a:cubicBezTo>
                  <a:cubicBezTo>
                    <a:pt x="93078" y="37147"/>
                    <a:pt x="90984" y="36624"/>
                    <a:pt x="89183" y="35719"/>
                  </a:cubicBezTo>
                  <a:lnTo>
                    <a:pt x="76619" y="48873"/>
                  </a:lnTo>
                  <a:cubicBezTo>
                    <a:pt x="78001" y="50864"/>
                    <a:pt x="78818" y="53197"/>
                    <a:pt x="78818" y="55711"/>
                  </a:cubicBezTo>
                  <a:cubicBezTo>
                    <a:pt x="78818" y="62549"/>
                    <a:pt x="72934" y="68080"/>
                    <a:pt x="65688" y="68080"/>
                  </a:cubicBezTo>
                  <a:close/>
                  <a:moveTo>
                    <a:pt x="75572" y="108304"/>
                  </a:moveTo>
                  <a:lnTo>
                    <a:pt x="65709" y="108304"/>
                  </a:lnTo>
                  <a:lnTo>
                    <a:pt x="65709" y="77372"/>
                  </a:lnTo>
                  <a:lnTo>
                    <a:pt x="75572" y="77372"/>
                  </a:lnTo>
                  <a:lnTo>
                    <a:pt x="75572" y="108304"/>
                  </a:lnTo>
                  <a:close/>
                  <a:moveTo>
                    <a:pt x="59155" y="108304"/>
                  </a:moveTo>
                  <a:lnTo>
                    <a:pt x="49292" y="108304"/>
                  </a:lnTo>
                  <a:lnTo>
                    <a:pt x="49292" y="86643"/>
                  </a:lnTo>
                  <a:lnTo>
                    <a:pt x="59155" y="86643"/>
                  </a:lnTo>
                  <a:lnTo>
                    <a:pt x="59155" y="108304"/>
                  </a:lnTo>
                  <a:close/>
                  <a:moveTo>
                    <a:pt x="42738" y="108304"/>
                  </a:moveTo>
                  <a:lnTo>
                    <a:pt x="32876" y="108304"/>
                  </a:lnTo>
                  <a:lnTo>
                    <a:pt x="32876" y="95935"/>
                  </a:lnTo>
                  <a:lnTo>
                    <a:pt x="42738" y="95935"/>
                  </a:lnTo>
                  <a:lnTo>
                    <a:pt x="42738" y="108304"/>
                  </a:lnTo>
                  <a:close/>
                  <a:moveTo>
                    <a:pt x="9967" y="46439"/>
                  </a:moveTo>
                  <a:lnTo>
                    <a:pt x="9967" y="43261"/>
                  </a:lnTo>
                  <a:cubicBezTo>
                    <a:pt x="9967" y="35659"/>
                    <a:pt x="16522" y="29484"/>
                    <a:pt x="24583" y="29484"/>
                  </a:cubicBezTo>
                  <a:cubicBezTo>
                    <a:pt x="32645" y="29484"/>
                    <a:pt x="39199" y="35659"/>
                    <a:pt x="39199" y="43261"/>
                  </a:cubicBezTo>
                  <a:lnTo>
                    <a:pt x="39199" y="46439"/>
                  </a:lnTo>
                  <a:lnTo>
                    <a:pt x="9967" y="46439"/>
                  </a:lnTo>
                  <a:close/>
                  <a:moveTo>
                    <a:pt x="16710" y="13354"/>
                  </a:moveTo>
                  <a:cubicBezTo>
                    <a:pt x="16710" y="9392"/>
                    <a:pt x="20207" y="6195"/>
                    <a:pt x="24562" y="6195"/>
                  </a:cubicBezTo>
                  <a:cubicBezTo>
                    <a:pt x="28918" y="6195"/>
                    <a:pt x="32415" y="9312"/>
                    <a:pt x="32415" y="13354"/>
                  </a:cubicBezTo>
                  <a:lnTo>
                    <a:pt x="32415" y="18101"/>
                  </a:lnTo>
                  <a:cubicBezTo>
                    <a:pt x="32415" y="22063"/>
                    <a:pt x="28918" y="25261"/>
                    <a:pt x="24562" y="25261"/>
                  </a:cubicBezTo>
                  <a:cubicBezTo>
                    <a:pt x="20207" y="25261"/>
                    <a:pt x="16710" y="22063"/>
                    <a:pt x="16710" y="18101"/>
                  </a:cubicBezTo>
                  <a:lnTo>
                    <a:pt x="16710" y="13354"/>
                  </a:lnTo>
                  <a:close/>
                  <a:moveTo>
                    <a:pt x="151165" y="0"/>
                  </a:moveTo>
                  <a:lnTo>
                    <a:pt x="13129" y="0"/>
                  </a:lnTo>
                  <a:cubicBezTo>
                    <a:pt x="5884" y="0"/>
                    <a:pt x="0" y="5531"/>
                    <a:pt x="0" y="12369"/>
                  </a:cubicBezTo>
                  <a:lnTo>
                    <a:pt x="0" y="108304"/>
                  </a:lnTo>
                  <a:cubicBezTo>
                    <a:pt x="0" y="115142"/>
                    <a:pt x="5884" y="120673"/>
                    <a:pt x="13129" y="120673"/>
                  </a:cubicBezTo>
                  <a:lnTo>
                    <a:pt x="151165" y="120673"/>
                  </a:lnTo>
                  <a:cubicBezTo>
                    <a:pt x="158431" y="120673"/>
                    <a:pt x="164294" y="115142"/>
                    <a:pt x="164294" y="108304"/>
                  </a:cubicBezTo>
                  <a:lnTo>
                    <a:pt x="164294" y="12369"/>
                  </a:lnTo>
                  <a:cubicBezTo>
                    <a:pt x="164294" y="5531"/>
                    <a:pt x="158410" y="0"/>
                    <a:pt x="151165" y="0"/>
                  </a:cubicBezTo>
                  <a:close/>
                </a:path>
              </a:pathLst>
            </a:custGeom>
            <a:solidFill>
              <a:srgbClr val="000000">
                <a:alpha val="60000"/>
              </a:srgbClr>
            </a:solidFill>
            <a:ln w="2076"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48BA7F32-CEDA-4A97-E962-F4752EF658C2}"/>
                </a:ext>
              </a:extLst>
            </p:cNvPr>
            <p:cNvSpPr/>
            <p:nvPr/>
          </p:nvSpPr>
          <p:spPr>
            <a:xfrm>
              <a:off x="8535840" y="5088725"/>
              <a:ext cx="29588" cy="50360"/>
            </a:xfrm>
            <a:custGeom>
              <a:avLst/>
              <a:gdLst>
                <a:gd name="connsiteX0" fmla="*/ 0 w 29588"/>
                <a:gd name="connsiteY0" fmla="*/ 0 h 50360"/>
                <a:gd name="connsiteX1" fmla="*/ 0 w 29588"/>
                <a:gd name="connsiteY1" fmla="*/ 29484 h 50360"/>
                <a:gd name="connsiteX2" fmla="*/ 22175 w 29588"/>
                <a:gd name="connsiteY2" fmla="*/ 50361 h 50360"/>
                <a:gd name="connsiteX3" fmla="*/ 22196 w 29588"/>
                <a:gd name="connsiteY3" fmla="*/ 50361 h 50360"/>
                <a:gd name="connsiteX4" fmla="*/ 29588 w 29588"/>
                <a:gd name="connsiteY4" fmla="*/ 30792 h 50360"/>
                <a:gd name="connsiteX5" fmla="*/ 0 w 29588"/>
                <a:gd name="connsiteY5" fmla="*/ 0 h 50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88" h="50360">
                  <a:moveTo>
                    <a:pt x="0" y="0"/>
                  </a:moveTo>
                  <a:lnTo>
                    <a:pt x="0" y="29484"/>
                  </a:lnTo>
                  <a:lnTo>
                    <a:pt x="22175" y="50361"/>
                  </a:lnTo>
                  <a:lnTo>
                    <a:pt x="22196" y="50361"/>
                  </a:lnTo>
                  <a:cubicBezTo>
                    <a:pt x="26782" y="45051"/>
                    <a:pt x="29588" y="38213"/>
                    <a:pt x="29588" y="30792"/>
                  </a:cubicBezTo>
                  <a:cubicBezTo>
                    <a:pt x="29588" y="14762"/>
                    <a:pt x="16584" y="1549"/>
                    <a:pt x="0" y="0"/>
                  </a:cubicBezTo>
                  <a:close/>
                </a:path>
              </a:pathLst>
            </a:custGeom>
            <a:solidFill>
              <a:srgbClr val="FCFAFA">
                <a:alpha val="40000"/>
              </a:srgbClr>
            </a:solidFill>
            <a:ln w="2076"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09C89B3-3AEC-63F9-0815-480C165F8CF3}"/>
                </a:ext>
              </a:extLst>
            </p:cNvPr>
            <p:cNvSpPr/>
            <p:nvPr/>
          </p:nvSpPr>
          <p:spPr>
            <a:xfrm>
              <a:off x="8532553" y="5070141"/>
              <a:ext cx="19746" cy="9291"/>
            </a:xfrm>
            <a:custGeom>
              <a:avLst/>
              <a:gdLst>
                <a:gd name="connsiteX0" fmla="*/ 14804 w 19746"/>
                <a:gd name="connsiteY0" fmla="*/ 9292 h 9291"/>
                <a:gd name="connsiteX1" fmla="*/ 19746 w 19746"/>
                <a:gd name="connsiteY1" fmla="*/ 4646 h 9291"/>
                <a:gd name="connsiteX2" fmla="*/ 14804 w 19746"/>
                <a:gd name="connsiteY2" fmla="*/ 0 h 9291"/>
                <a:gd name="connsiteX3" fmla="*/ 4942 w 19746"/>
                <a:gd name="connsiteY3" fmla="*/ 0 h 9291"/>
                <a:gd name="connsiteX4" fmla="*/ 0 w 19746"/>
                <a:gd name="connsiteY4" fmla="*/ 4646 h 9291"/>
                <a:gd name="connsiteX5" fmla="*/ 4942 w 19746"/>
                <a:gd name="connsiteY5" fmla="*/ 9292 h 9291"/>
                <a:gd name="connsiteX6" fmla="*/ 14804 w 19746"/>
                <a:gd name="connsiteY6" fmla="*/ 9292 h 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46" h="9291">
                  <a:moveTo>
                    <a:pt x="14804" y="9292"/>
                  </a:moveTo>
                  <a:cubicBezTo>
                    <a:pt x="17548" y="9292"/>
                    <a:pt x="19746" y="7220"/>
                    <a:pt x="19746" y="4646"/>
                  </a:cubicBezTo>
                  <a:cubicBezTo>
                    <a:pt x="19746" y="2072"/>
                    <a:pt x="17527" y="0"/>
                    <a:pt x="14804" y="0"/>
                  </a:cubicBezTo>
                  <a:lnTo>
                    <a:pt x="4942" y="0"/>
                  </a:lnTo>
                  <a:cubicBezTo>
                    <a:pt x="2199" y="0"/>
                    <a:pt x="0" y="2092"/>
                    <a:pt x="0" y="4646"/>
                  </a:cubicBezTo>
                  <a:cubicBezTo>
                    <a:pt x="0" y="7200"/>
                    <a:pt x="2220" y="9292"/>
                    <a:pt x="4942" y="9292"/>
                  </a:cubicBezTo>
                  <a:lnTo>
                    <a:pt x="14804" y="9292"/>
                  </a:lnTo>
                  <a:close/>
                </a:path>
              </a:pathLst>
            </a:custGeom>
            <a:solidFill>
              <a:srgbClr val="FCFAFA">
                <a:alpha val="40000"/>
              </a:srgbClr>
            </a:solidFill>
            <a:ln w="2076"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73EDDD95-8073-6DAE-E827-E8C4AA24DCA9}"/>
                </a:ext>
              </a:extLst>
            </p:cNvPr>
            <p:cNvSpPr/>
            <p:nvPr/>
          </p:nvSpPr>
          <p:spPr>
            <a:xfrm>
              <a:off x="8447118" y="5138221"/>
              <a:ext cx="9862" cy="12368"/>
            </a:xfrm>
            <a:custGeom>
              <a:avLst/>
              <a:gdLst>
                <a:gd name="connsiteX0" fmla="*/ 0 w 9862"/>
                <a:gd name="connsiteY0" fmla="*/ 0 h 12368"/>
                <a:gd name="connsiteX1" fmla="*/ 9863 w 9862"/>
                <a:gd name="connsiteY1" fmla="*/ 0 h 12368"/>
                <a:gd name="connsiteX2" fmla="*/ 9863 w 9862"/>
                <a:gd name="connsiteY2" fmla="*/ 12369 h 12368"/>
                <a:gd name="connsiteX3" fmla="*/ 0 w 9862"/>
                <a:gd name="connsiteY3" fmla="*/ 12369 h 12368"/>
              </a:gdLst>
              <a:ahLst/>
              <a:cxnLst>
                <a:cxn ang="0">
                  <a:pos x="connsiteX0" y="connsiteY0"/>
                </a:cxn>
                <a:cxn ang="0">
                  <a:pos x="connsiteX1" y="connsiteY1"/>
                </a:cxn>
                <a:cxn ang="0">
                  <a:pos x="connsiteX2" y="connsiteY2"/>
                </a:cxn>
                <a:cxn ang="0">
                  <a:pos x="connsiteX3" y="connsiteY3"/>
                </a:cxn>
              </a:cxnLst>
              <a:rect l="l" t="t" r="r" b="b"/>
              <a:pathLst>
                <a:path w="9862" h="12368">
                  <a:moveTo>
                    <a:pt x="0" y="0"/>
                  </a:moveTo>
                  <a:lnTo>
                    <a:pt x="9863" y="0"/>
                  </a:lnTo>
                  <a:lnTo>
                    <a:pt x="9863" y="12369"/>
                  </a:lnTo>
                  <a:lnTo>
                    <a:pt x="0" y="12369"/>
                  </a:lnTo>
                  <a:close/>
                </a:path>
              </a:pathLst>
            </a:custGeom>
            <a:solidFill>
              <a:srgbClr val="FCFAFA">
                <a:alpha val="40000"/>
              </a:srgbClr>
            </a:solidFill>
            <a:ln w="2076"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8CBA695-C12C-4FEC-B696-A37725839EE6}"/>
                </a:ext>
              </a:extLst>
            </p:cNvPr>
            <p:cNvSpPr/>
            <p:nvPr/>
          </p:nvSpPr>
          <p:spPr>
            <a:xfrm>
              <a:off x="8479952" y="5119657"/>
              <a:ext cx="9862" cy="30932"/>
            </a:xfrm>
            <a:custGeom>
              <a:avLst/>
              <a:gdLst>
                <a:gd name="connsiteX0" fmla="*/ 0 w 9862"/>
                <a:gd name="connsiteY0" fmla="*/ 0 h 30932"/>
                <a:gd name="connsiteX1" fmla="*/ 9863 w 9862"/>
                <a:gd name="connsiteY1" fmla="*/ 0 h 30932"/>
                <a:gd name="connsiteX2" fmla="*/ 9863 w 9862"/>
                <a:gd name="connsiteY2" fmla="*/ 30933 h 30932"/>
                <a:gd name="connsiteX3" fmla="*/ 0 w 9862"/>
                <a:gd name="connsiteY3" fmla="*/ 30933 h 30932"/>
              </a:gdLst>
              <a:ahLst/>
              <a:cxnLst>
                <a:cxn ang="0">
                  <a:pos x="connsiteX0" y="connsiteY0"/>
                </a:cxn>
                <a:cxn ang="0">
                  <a:pos x="connsiteX1" y="connsiteY1"/>
                </a:cxn>
                <a:cxn ang="0">
                  <a:pos x="connsiteX2" y="connsiteY2"/>
                </a:cxn>
                <a:cxn ang="0">
                  <a:pos x="connsiteX3" y="connsiteY3"/>
                </a:cxn>
              </a:cxnLst>
              <a:rect l="l" t="t" r="r" b="b"/>
              <a:pathLst>
                <a:path w="9862" h="30932">
                  <a:moveTo>
                    <a:pt x="0" y="0"/>
                  </a:moveTo>
                  <a:lnTo>
                    <a:pt x="9863" y="0"/>
                  </a:lnTo>
                  <a:lnTo>
                    <a:pt x="9863" y="30933"/>
                  </a:lnTo>
                  <a:lnTo>
                    <a:pt x="0" y="30933"/>
                  </a:lnTo>
                  <a:close/>
                </a:path>
              </a:pathLst>
            </a:custGeom>
            <a:solidFill>
              <a:srgbClr val="FCFAFA">
                <a:alpha val="40000"/>
              </a:srgbClr>
            </a:solidFill>
            <a:ln w="2076"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3EB28D76-40FA-2D97-3F3B-EF182291BDDE}"/>
                </a:ext>
              </a:extLst>
            </p:cNvPr>
            <p:cNvSpPr/>
            <p:nvPr/>
          </p:nvSpPr>
          <p:spPr>
            <a:xfrm>
              <a:off x="8463535" y="5128929"/>
              <a:ext cx="9862" cy="21660"/>
            </a:xfrm>
            <a:custGeom>
              <a:avLst/>
              <a:gdLst>
                <a:gd name="connsiteX0" fmla="*/ 0 w 9862"/>
                <a:gd name="connsiteY0" fmla="*/ 0 h 21660"/>
                <a:gd name="connsiteX1" fmla="*/ 9863 w 9862"/>
                <a:gd name="connsiteY1" fmla="*/ 0 h 21660"/>
                <a:gd name="connsiteX2" fmla="*/ 9863 w 9862"/>
                <a:gd name="connsiteY2" fmla="*/ 21661 h 21660"/>
                <a:gd name="connsiteX3" fmla="*/ 0 w 9862"/>
                <a:gd name="connsiteY3" fmla="*/ 21661 h 21660"/>
              </a:gdLst>
              <a:ahLst/>
              <a:cxnLst>
                <a:cxn ang="0">
                  <a:pos x="connsiteX0" y="connsiteY0"/>
                </a:cxn>
                <a:cxn ang="0">
                  <a:pos x="connsiteX1" y="connsiteY1"/>
                </a:cxn>
                <a:cxn ang="0">
                  <a:pos x="connsiteX2" y="connsiteY2"/>
                </a:cxn>
                <a:cxn ang="0">
                  <a:pos x="connsiteX3" y="connsiteY3"/>
                </a:cxn>
              </a:cxnLst>
              <a:rect l="l" t="t" r="r" b="b"/>
              <a:pathLst>
                <a:path w="9862" h="21660">
                  <a:moveTo>
                    <a:pt x="0" y="0"/>
                  </a:moveTo>
                  <a:lnTo>
                    <a:pt x="9863" y="0"/>
                  </a:lnTo>
                  <a:lnTo>
                    <a:pt x="9863" y="21661"/>
                  </a:lnTo>
                  <a:lnTo>
                    <a:pt x="0" y="21661"/>
                  </a:lnTo>
                  <a:close/>
                </a:path>
              </a:pathLst>
            </a:custGeom>
            <a:solidFill>
              <a:srgbClr val="FCFAFA">
                <a:alpha val="40000"/>
              </a:srgbClr>
            </a:solidFill>
            <a:ln w="2076"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97E8044-DDC0-749F-CA6D-CB5416000FCA}"/>
                </a:ext>
              </a:extLst>
            </p:cNvPr>
            <p:cNvSpPr/>
            <p:nvPr/>
          </p:nvSpPr>
          <p:spPr>
            <a:xfrm>
              <a:off x="8532511" y="5054655"/>
              <a:ext cx="32896" cy="9291"/>
            </a:xfrm>
            <a:custGeom>
              <a:avLst/>
              <a:gdLst>
                <a:gd name="connsiteX0" fmla="*/ 4942 w 32896"/>
                <a:gd name="connsiteY0" fmla="*/ 9292 h 9291"/>
                <a:gd name="connsiteX1" fmla="*/ 27955 w 32896"/>
                <a:gd name="connsiteY1" fmla="*/ 9292 h 9291"/>
                <a:gd name="connsiteX2" fmla="*/ 32897 w 32896"/>
                <a:gd name="connsiteY2" fmla="*/ 4646 h 9291"/>
                <a:gd name="connsiteX3" fmla="*/ 27955 w 32896"/>
                <a:gd name="connsiteY3" fmla="*/ 0 h 9291"/>
                <a:gd name="connsiteX4" fmla="*/ 4942 w 32896"/>
                <a:gd name="connsiteY4" fmla="*/ 0 h 9291"/>
                <a:gd name="connsiteX5" fmla="*/ 0 w 32896"/>
                <a:gd name="connsiteY5" fmla="*/ 4646 h 9291"/>
                <a:gd name="connsiteX6" fmla="*/ 4942 w 32896"/>
                <a:gd name="connsiteY6" fmla="*/ 9292 h 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6" h="9291">
                  <a:moveTo>
                    <a:pt x="4942" y="9292"/>
                  </a:moveTo>
                  <a:lnTo>
                    <a:pt x="27955" y="9292"/>
                  </a:lnTo>
                  <a:cubicBezTo>
                    <a:pt x="30698" y="9292"/>
                    <a:pt x="32897" y="7220"/>
                    <a:pt x="32897" y="4646"/>
                  </a:cubicBezTo>
                  <a:cubicBezTo>
                    <a:pt x="32897" y="2072"/>
                    <a:pt x="30677" y="0"/>
                    <a:pt x="27955" y="0"/>
                  </a:cubicBezTo>
                  <a:lnTo>
                    <a:pt x="4942" y="0"/>
                  </a:lnTo>
                  <a:cubicBezTo>
                    <a:pt x="2199" y="0"/>
                    <a:pt x="0" y="2072"/>
                    <a:pt x="0" y="4646"/>
                  </a:cubicBezTo>
                  <a:cubicBezTo>
                    <a:pt x="0" y="7220"/>
                    <a:pt x="2220" y="9292"/>
                    <a:pt x="4942" y="9292"/>
                  </a:cubicBezTo>
                  <a:close/>
                </a:path>
              </a:pathLst>
            </a:custGeom>
            <a:solidFill>
              <a:srgbClr val="FCFAFA">
                <a:alpha val="40000"/>
              </a:srgbClr>
            </a:solidFill>
            <a:ln w="2076"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3F747AE0-4FF3-7548-F5B7-C672D2E200D2}"/>
                </a:ext>
              </a:extLst>
            </p:cNvPr>
            <p:cNvSpPr/>
            <p:nvPr/>
          </p:nvSpPr>
          <p:spPr>
            <a:xfrm>
              <a:off x="8499866" y="5122714"/>
              <a:ext cx="53480" cy="27875"/>
            </a:xfrm>
            <a:custGeom>
              <a:avLst/>
              <a:gdLst>
                <a:gd name="connsiteX0" fmla="*/ 32687 w 53480"/>
                <a:gd name="connsiteY0" fmla="*/ 27875 h 27875"/>
                <a:gd name="connsiteX1" fmla="*/ 32666 w 53480"/>
                <a:gd name="connsiteY1" fmla="*/ 27875 h 27875"/>
                <a:gd name="connsiteX2" fmla="*/ 53480 w 53480"/>
                <a:gd name="connsiteY2" fmla="*/ 20736 h 27875"/>
                <a:gd name="connsiteX3" fmla="*/ 31305 w 53480"/>
                <a:gd name="connsiteY3" fmla="*/ 0 h 27875"/>
                <a:gd name="connsiteX4" fmla="*/ 0 w 53480"/>
                <a:gd name="connsiteY4" fmla="*/ 0 h 27875"/>
                <a:gd name="connsiteX5" fmla="*/ 32687 w 53480"/>
                <a:gd name="connsiteY5" fmla="*/ 27855 h 2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80" h="27875">
                  <a:moveTo>
                    <a:pt x="32687" y="27875"/>
                  </a:moveTo>
                  <a:lnTo>
                    <a:pt x="32666" y="27875"/>
                  </a:lnTo>
                  <a:cubicBezTo>
                    <a:pt x="40561" y="27855"/>
                    <a:pt x="47848" y="25080"/>
                    <a:pt x="53480" y="20736"/>
                  </a:cubicBezTo>
                  <a:lnTo>
                    <a:pt x="31305" y="0"/>
                  </a:lnTo>
                  <a:lnTo>
                    <a:pt x="0" y="0"/>
                  </a:lnTo>
                  <a:cubicBezTo>
                    <a:pt x="1654" y="15647"/>
                    <a:pt x="15663" y="27855"/>
                    <a:pt x="32687" y="27855"/>
                  </a:cubicBezTo>
                  <a:close/>
                </a:path>
              </a:pathLst>
            </a:custGeom>
            <a:solidFill>
              <a:srgbClr val="FCFAFA">
                <a:alpha val="40000"/>
              </a:srgbClr>
            </a:solidFill>
            <a:ln w="2076"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6112546-C6BB-211B-5125-FC7F62697502}"/>
                </a:ext>
              </a:extLst>
            </p:cNvPr>
            <p:cNvSpPr/>
            <p:nvPr/>
          </p:nvSpPr>
          <p:spPr>
            <a:xfrm>
              <a:off x="8424252" y="5071750"/>
              <a:ext cx="29253" cy="16954"/>
            </a:xfrm>
            <a:custGeom>
              <a:avLst/>
              <a:gdLst>
                <a:gd name="connsiteX0" fmla="*/ 29232 w 29253"/>
                <a:gd name="connsiteY0" fmla="*/ 13777 h 16954"/>
                <a:gd name="connsiteX1" fmla="*/ 14616 w 29253"/>
                <a:gd name="connsiteY1" fmla="*/ 0 h 16954"/>
                <a:gd name="connsiteX2" fmla="*/ 0 w 29253"/>
                <a:gd name="connsiteY2" fmla="*/ 13777 h 16954"/>
                <a:gd name="connsiteX3" fmla="*/ 0 w 29253"/>
                <a:gd name="connsiteY3" fmla="*/ 16955 h 16954"/>
                <a:gd name="connsiteX4" fmla="*/ 29253 w 29253"/>
                <a:gd name="connsiteY4" fmla="*/ 16955 h 16954"/>
                <a:gd name="connsiteX5" fmla="*/ 29253 w 29253"/>
                <a:gd name="connsiteY5" fmla="*/ 13777 h 1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253" h="16954">
                  <a:moveTo>
                    <a:pt x="29232" y="13777"/>
                  </a:moveTo>
                  <a:cubicBezTo>
                    <a:pt x="29232" y="6174"/>
                    <a:pt x="22678" y="0"/>
                    <a:pt x="14616" y="0"/>
                  </a:cubicBezTo>
                  <a:cubicBezTo>
                    <a:pt x="6554" y="0"/>
                    <a:pt x="0" y="6174"/>
                    <a:pt x="0" y="13777"/>
                  </a:cubicBezTo>
                  <a:lnTo>
                    <a:pt x="0" y="16955"/>
                  </a:lnTo>
                  <a:lnTo>
                    <a:pt x="29253" y="16955"/>
                  </a:lnTo>
                  <a:lnTo>
                    <a:pt x="29253" y="13777"/>
                  </a:lnTo>
                  <a:close/>
                </a:path>
              </a:pathLst>
            </a:custGeom>
            <a:solidFill>
              <a:srgbClr val="FCFAFA">
                <a:alpha val="40000"/>
              </a:srgbClr>
            </a:solidFill>
            <a:ln w="2076"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39F6DAA3-63DC-CA51-E6F6-01E9239CEFBD}"/>
                </a:ext>
              </a:extLst>
            </p:cNvPr>
            <p:cNvSpPr/>
            <p:nvPr/>
          </p:nvSpPr>
          <p:spPr>
            <a:xfrm>
              <a:off x="8430974" y="5048460"/>
              <a:ext cx="15704" cy="19066"/>
            </a:xfrm>
            <a:custGeom>
              <a:avLst/>
              <a:gdLst>
                <a:gd name="connsiteX0" fmla="*/ 7852 w 15704"/>
                <a:gd name="connsiteY0" fmla="*/ 19066 h 19066"/>
                <a:gd name="connsiteX1" fmla="*/ 15705 w 15704"/>
                <a:gd name="connsiteY1" fmla="*/ 11906 h 19066"/>
                <a:gd name="connsiteX2" fmla="*/ 15705 w 15704"/>
                <a:gd name="connsiteY2" fmla="*/ 7160 h 19066"/>
                <a:gd name="connsiteX3" fmla="*/ 7852 w 15704"/>
                <a:gd name="connsiteY3" fmla="*/ 0 h 19066"/>
                <a:gd name="connsiteX4" fmla="*/ 0 w 15704"/>
                <a:gd name="connsiteY4" fmla="*/ 7160 h 19066"/>
                <a:gd name="connsiteX5" fmla="*/ 0 w 15704"/>
                <a:gd name="connsiteY5" fmla="*/ 11906 h 19066"/>
                <a:gd name="connsiteX6" fmla="*/ 7852 w 15704"/>
                <a:gd name="connsiteY6" fmla="*/ 19066 h 1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04" h="19066">
                  <a:moveTo>
                    <a:pt x="7852" y="19066"/>
                  </a:moveTo>
                  <a:cubicBezTo>
                    <a:pt x="12208" y="19066"/>
                    <a:pt x="15705" y="15869"/>
                    <a:pt x="15705" y="11906"/>
                  </a:cubicBezTo>
                  <a:lnTo>
                    <a:pt x="15705" y="7160"/>
                  </a:lnTo>
                  <a:cubicBezTo>
                    <a:pt x="15705" y="3117"/>
                    <a:pt x="12208" y="0"/>
                    <a:pt x="7852" y="0"/>
                  </a:cubicBezTo>
                  <a:cubicBezTo>
                    <a:pt x="3497" y="0"/>
                    <a:pt x="0" y="3198"/>
                    <a:pt x="0" y="7160"/>
                  </a:cubicBezTo>
                  <a:lnTo>
                    <a:pt x="0" y="11906"/>
                  </a:lnTo>
                  <a:cubicBezTo>
                    <a:pt x="0" y="15869"/>
                    <a:pt x="3497" y="19066"/>
                    <a:pt x="7852" y="19066"/>
                  </a:cubicBezTo>
                  <a:close/>
                </a:path>
              </a:pathLst>
            </a:custGeom>
            <a:solidFill>
              <a:srgbClr val="FCFAFA">
                <a:alpha val="40000"/>
              </a:srgbClr>
            </a:solidFill>
            <a:ln w="2076"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B52F5670-22F3-0341-42F9-1597B25226C5}"/>
                </a:ext>
              </a:extLst>
            </p:cNvPr>
            <p:cNvSpPr/>
            <p:nvPr/>
          </p:nvSpPr>
          <p:spPr>
            <a:xfrm>
              <a:off x="8427393" y="5054715"/>
              <a:ext cx="95276" cy="64942"/>
            </a:xfrm>
            <a:custGeom>
              <a:avLst/>
              <a:gdLst>
                <a:gd name="connsiteX0" fmla="*/ 13129 w 95276"/>
                <a:gd name="connsiteY0" fmla="*/ 40204 h 64942"/>
                <a:gd name="connsiteX1" fmla="*/ 0 w 95276"/>
                <a:gd name="connsiteY1" fmla="*/ 52573 h 64942"/>
                <a:gd name="connsiteX2" fmla="*/ 13129 w 95276"/>
                <a:gd name="connsiteY2" fmla="*/ 64942 h 64942"/>
                <a:gd name="connsiteX3" fmla="*/ 26259 w 95276"/>
                <a:gd name="connsiteY3" fmla="*/ 52654 h 64942"/>
                <a:gd name="connsiteX4" fmla="*/ 41021 w 95276"/>
                <a:gd name="connsiteY4" fmla="*/ 49194 h 64942"/>
                <a:gd name="connsiteX5" fmla="*/ 52559 w 95276"/>
                <a:gd name="connsiteY5" fmla="*/ 55670 h 64942"/>
                <a:gd name="connsiteX6" fmla="*/ 65688 w 95276"/>
                <a:gd name="connsiteY6" fmla="*/ 43301 h 64942"/>
                <a:gd name="connsiteX7" fmla="*/ 63490 w 95276"/>
                <a:gd name="connsiteY7" fmla="*/ 36463 h 64942"/>
                <a:gd name="connsiteX8" fmla="*/ 76054 w 95276"/>
                <a:gd name="connsiteY8" fmla="*/ 23310 h 64942"/>
                <a:gd name="connsiteX9" fmla="*/ 82147 w 95276"/>
                <a:gd name="connsiteY9" fmla="*/ 24738 h 64942"/>
                <a:gd name="connsiteX10" fmla="*/ 95276 w 95276"/>
                <a:gd name="connsiteY10" fmla="*/ 12369 h 64942"/>
                <a:gd name="connsiteX11" fmla="*/ 82147 w 95276"/>
                <a:gd name="connsiteY11" fmla="*/ 0 h 64942"/>
                <a:gd name="connsiteX12" fmla="*/ 69018 w 95276"/>
                <a:gd name="connsiteY12" fmla="*/ 12369 h 64942"/>
                <a:gd name="connsiteX13" fmla="*/ 71217 w 95276"/>
                <a:gd name="connsiteY13" fmla="*/ 19207 h 64942"/>
                <a:gd name="connsiteX14" fmla="*/ 58632 w 95276"/>
                <a:gd name="connsiteY14" fmla="*/ 32340 h 64942"/>
                <a:gd name="connsiteX15" fmla="*/ 52580 w 95276"/>
                <a:gd name="connsiteY15" fmla="*/ 30933 h 64942"/>
                <a:gd name="connsiteX16" fmla="*/ 39451 w 95276"/>
                <a:gd name="connsiteY16" fmla="*/ 43221 h 64942"/>
                <a:gd name="connsiteX17" fmla="*/ 24688 w 95276"/>
                <a:gd name="connsiteY17" fmla="*/ 46680 h 64942"/>
                <a:gd name="connsiteX18" fmla="*/ 13150 w 95276"/>
                <a:gd name="connsiteY18" fmla="*/ 40204 h 6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276" h="64942">
                  <a:moveTo>
                    <a:pt x="13129" y="40204"/>
                  </a:moveTo>
                  <a:cubicBezTo>
                    <a:pt x="5863" y="40204"/>
                    <a:pt x="0" y="45735"/>
                    <a:pt x="0" y="52573"/>
                  </a:cubicBezTo>
                  <a:cubicBezTo>
                    <a:pt x="0" y="59411"/>
                    <a:pt x="5905" y="64942"/>
                    <a:pt x="13129" y="64942"/>
                  </a:cubicBezTo>
                  <a:cubicBezTo>
                    <a:pt x="20354" y="64942"/>
                    <a:pt x="26175" y="59452"/>
                    <a:pt x="26259" y="52654"/>
                  </a:cubicBezTo>
                  <a:lnTo>
                    <a:pt x="41021" y="49194"/>
                  </a:lnTo>
                  <a:cubicBezTo>
                    <a:pt x="43262" y="53056"/>
                    <a:pt x="47575" y="55670"/>
                    <a:pt x="52559" y="55670"/>
                  </a:cubicBezTo>
                  <a:cubicBezTo>
                    <a:pt x="59825" y="55670"/>
                    <a:pt x="65688" y="50140"/>
                    <a:pt x="65688" y="43301"/>
                  </a:cubicBezTo>
                  <a:cubicBezTo>
                    <a:pt x="65688" y="40787"/>
                    <a:pt x="64872" y="38454"/>
                    <a:pt x="63490" y="36463"/>
                  </a:cubicBezTo>
                  <a:lnTo>
                    <a:pt x="76054" y="23310"/>
                  </a:lnTo>
                  <a:cubicBezTo>
                    <a:pt x="77854" y="24215"/>
                    <a:pt x="79948" y="24738"/>
                    <a:pt x="82147" y="24738"/>
                  </a:cubicBezTo>
                  <a:cubicBezTo>
                    <a:pt x="89413" y="24738"/>
                    <a:pt x="95276" y="19207"/>
                    <a:pt x="95276" y="12369"/>
                  </a:cubicBezTo>
                  <a:cubicBezTo>
                    <a:pt x="95276" y="5531"/>
                    <a:pt x="89392" y="0"/>
                    <a:pt x="82147" y="0"/>
                  </a:cubicBezTo>
                  <a:cubicBezTo>
                    <a:pt x="74902" y="0"/>
                    <a:pt x="69018" y="5531"/>
                    <a:pt x="69018" y="12369"/>
                  </a:cubicBezTo>
                  <a:cubicBezTo>
                    <a:pt x="69018" y="14883"/>
                    <a:pt x="69834" y="17216"/>
                    <a:pt x="71217" y="19207"/>
                  </a:cubicBezTo>
                  <a:lnTo>
                    <a:pt x="58632" y="32340"/>
                  </a:lnTo>
                  <a:cubicBezTo>
                    <a:pt x="56810" y="31435"/>
                    <a:pt x="54737" y="30933"/>
                    <a:pt x="52580" y="30933"/>
                  </a:cubicBezTo>
                  <a:cubicBezTo>
                    <a:pt x="45356" y="30933"/>
                    <a:pt x="39514" y="36423"/>
                    <a:pt x="39451" y="43221"/>
                  </a:cubicBezTo>
                  <a:lnTo>
                    <a:pt x="24688" y="46680"/>
                  </a:lnTo>
                  <a:cubicBezTo>
                    <a:pt x="22448" y="42819"/>
                    <a:pt x="18134" y="40204"/>
                    <a:pt x="13150" y="40204"/>
                  </a:cubicBezTo>
                  <a:close/>
                </a:path>
              </a:pathLst>
            </a:custGeom>
            <a:solidFill>
              <a:srgbClr val="FCFAFA">
                <a:alpha val="40000"/>
              </a:srgbClr>
            </a:solidFill>
            <a:ln w="2076"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2D9B8A97-61FE-6D2C-6DAD-2C8B60211511}"/>
                </a:ext>
              </a:extLst>
            </p:cNvPr>
            <p:cNvSpPr/>
            <p:nvPr/>
          </p:nvSpPr>
          <p:spPr>
            <a:xfrm>
              <a:off x="8499866" y="5088704"/>
              <a:ext cx="29399" cy="27855"/>
            </a:xfrm>
            <a:custGeom>
              <a:avLst/>
              <a:gdLst>
                <a:gd name="connsiteX0" fmla="*/ 0 w 29399"/>
                <a:gd name="connsiteY0" fmla="*/ 27855 h 27855"/>
                <a:gd name="connsiteX1" fmla="*/ 29400 w 29399"/>
                <a:gd name="connsiteY1" fmla="*/ 27855 h 27855"/>
                <a:gd name="connsiteX2" fmla="*/ 29400 w 29399"/>
                <a:gd name="connsiteY2" fmla="*/ 0 h 27855"/>
                <a:gd name="connsiteX3" fmla="*/ 0 w 29399"/>
                <a:gd name="connsiteY3" fmla="*/ 27855 h 27855"/>
              </a:gdLst>
              <a:ahLst/>
              <a:cxnLst>
                <a:cxn ang="0">
                  <a:pos x="connsiteX0" y="connsiteY0"/>
                </a:cxn>
                <a:cxn ang="0">
                  <a:pos x="connsiteX1" y="connsiteY1"/>
                </a:cxn>
                <a:cxn ang="0">
                  <a:pos x="connsiteX2" y="connsiteY2"/>
                </a:cxn>
                <a:cxn ang="0">
                  <a:pos x="connsiteX3" y="connsiteY3"/>
                </a:cxn>
              </a:cxnLst>
              <a:rect l="l" t="t" r="r" b="b"/>
              <a:pathLst>
                <a:path w="29399" h="27855">
                  <a:moveTo>
                    <a:pt x="0" y="27855"/>
                  </a:moveTo>
                  <a:lnTo>
                    <a:pt x="29400" y="27855"/>
                  </a:lnTo>
                  <a:lnTo>
                    <a:pt x="29400" y="0"/>
                  </a:lnTo>
                  <a:cubicBezTo>
                    <a:pt x="13883" y="1468"/>
                    <a:pt x="1529" y="13254"/>
                    <a:pt x="0" y="27855"/>
                  </a:cubicBezTo>
                  <a:close/>
                </a:path>
              </a:pathLst>
            </a:custGeom>
            <a:solidFill>
              <a:srgbClr val="FCFAFA">
                <a:alpha val="40000"/>
              </a:srgbClr>
            </a:solidFill>
            <a:ln w="2076" cap="flat">
              <a:noFill/>
              <a:prstDash val="solid"/>
              <a:miter/>
            </a:ln>
          </p:spPr>
          <p:txBody>
            <a:bodyPr rtlCol="0" anchor="ctr"/>
            <a:lstStyle/>
            <a:p>
              <a:endParaRPr lang="en-US"/>
            </a:p>
          </p:txBody>
        </p:sp>
      </p:grpSp>
      <p:pic>
        <p:nvPicPr>
          <p:cNvPr id="67" name="Graphic 66">
            <a:extLst>
              <a:ext uri="{FF2B5EF4-FFF2-40B4-BE49-F238E27FC236}">
                <a16:creationId xmlns:a16="http://schemas.microsoft.com/office/drawing/2014/main" id="{D4CF5B49-2EF9-D101-ED1A-378CEF3F9B2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26177" y="6275924"/>
            <a:ext cx="164991" cy="146135"/>
          </a:xfrm>
          <a:prstGeom prst="rect">
            <a:avLst/>
          </a:prstGeom>
        </p:spPr>
      </p:pic>
      <p:grpSp>
        <p:nvGrpSpPr>
          <p:cNvPr id="68" name="Group 67">
            <a:extLst>
              <a:ext uri="{FF2B5EF4-FFF2-40B4-BE49-F238E27FC236}">
                <a16:creationId xmlns:a16="http://schemas.microsoft.com/office/drawing/2014/main" id="{A7CE6E7F-7567-2792-A857-F1DA6EB1FB86}"/>
              </a:ext>
            </a:extLst>
          </p:cNvPr>
          <p:cNvGrpSpPr/>
          <p:nvPr/>
        </p:nvGrpSpPr>
        <p:grpSpPr>
          <a:xfrm>
            <a:off x="8640471" y="6012659"/>
            <a:ext cx="130917" cy="170895"/>
            <a:chOff x="3898753" y="737502"/>
            <a:chExt cx="4391317" cy="5732310"/>
          </a:xfrm>
        </p:grpSpPr>
        <p:sp>
          <p:nvSpPr>
            <p:cNvPr id="69" name="Freeform: Shape 68">
              <a:extLst>
                <a:ext uri="{FF2B5EF4-FFF2-40B4-BE49-F238E27FC236}">
                  <a16:creationId xmlns:a16="http://schemas.microsoft.com/office/drawing/2014/main" id="{E5C0EDC6-D6E4-2EA7-DABC-115D41317570}"/>
                </a:ext>
              </a:extLst>
            </p:cNvPr>
            <p:cNvSpPr/>
            <p:nvPr/>
          </p:nvSpPr>
          <p:spPr>
            <a:xfrm>
              <a:off x="3898753" y="737502"/>
              <a:ext cx="4391317" cy="5732310"/>
            </a:xfrm>
            <a:custGeom>
              <a:avLst/>
              <a:gdLst>
                <a:gd name="connsiteX0" fmla="*/ 588186 w 593092"/>
                <a:gd name="connsiteY0" fmla="*/ 416973 h 774208"/>
                <a:gd name="connsiteX1" fmla="*/ 542987 w 593092"/>
                <a:gd name="connsiteY1" fmla="*/ 353914 h 774208"/>
                <a:gd name="connsiteX2" fmla="*/ 539656 w 593092"/>
                <a:gd name="connsiteY2" fmla="*/ 312507 h 774208"/>
                <a:gd name="connsiteX3" fmla="*/ 542570 w 593092"/>
                <a:gd name="connsiteY3" fmla="*/ 264100 h 774208"/>
                <a:gd name="connsiteX4" fmla="*/ 266020 w 593092"/>
                <a:gd name="connsiteY4" fmla="*/ 0 h 774208"/>
                <a:gd name="connsiteX5" fmla="*/ 235 w 593092"/>
                <a:gd name="connsiteY5" fmla="*/ 264812 h 774208"/>
                <a:gd name="connsiteX6" fmla="*/ 30507 w 593092"/>
                <a:gd name="connsiteY6" fmla="*/ 428125 h 774208"/>
                <a:gd name="connsiteX7" fmla="*/ 52096 w 593092"/>
                <a:gd name="connsiteY7" fmla="*/ 774208 h 774208"/>
                <a:gd name="connsiteX8" fmla="*/ 340838 w 593092"/>
                <a:gd name="connsiteY8" fmla="*/ 774208 h 774208"/>
                <a:gd name="connsiteX9" fmla="*/ 340838 w 593092"/>
                <a:gd name="connsiteY9" fmla="*/ 673955 h 774208"/>
                <a:gd name="connsiteX10" fmla="*/ 340838 w 593092"/>
                <a:gd name="connsiteY10" fmla="*/ 671997 h 774208"/>
                <a:gd name="connsiteX11" fmla="*/ 348272 w 593092"/>
                <a:gd name="connsiteY11" fmla="*/ 667666 h 774208"/>
                <a:gd name="connsiteX12" fmla="*/ 348450 w 593092"/>
                <a:gd name="connsiteY12" fmla="*/ 667666 h 774208"/>
                <a:gd name="connsiteX13" fmla="*/ 445927 w 593092"/>
                <a:gd name="connsiteY13" fmla="*/ 692522 h 774208"/>
                <a:gd name="connsiteX14" fmla="*/ 517413 w 593092"/>
                <a:gd name="connsiteY14" fmla="*/ 621217 h 774208"/>
                <a:gd name="connsiteX15" fmla="*/ 519197 w 593092"/>
                <a:gd name="connsiteY15" fmla="*/ 580819 h 774208"/>
                <a:gd name="connsiteX16" fmla="*/ 523896 w 593092"/>
                <a:gd name="connsiteY16" fmla="*/ 569489 h 774208"/>
                <a:gd name="connsiteX17" fmla="*/ 512715 w 593092"/>
                <a:gd name="connsiteY17" fmla="*/ 549379 h 774208"/>
                <a:gd name="connsiteX18" fmla="*/ 534304 w 593092"/>
                <a:gd name="connsiteY18" fmla="*/ 532947 h 774208"/>
                <a:gd name="connsiteX19" fmla="*/ 531270 w 593092"/>
                <a:gd name="connsiteY19" fmla="*/ 513252 h 774208"/>
                <a:gd name="connsiteX20" fmla="*/ 530319 w 593092"/>
                <a:gd name="connsiteY20" fmla="*/ 471845 h 774208"/>
                <a:gd name="connsiteX21" fmla="*/ 535315 w 593092"/>
                <a:gd name="connsiteY21" fmla="*/ 465616 h 774208"/>
                <a:gd name="connsiteX22" fmla="*/ 571712 w 593092"/>
                <a:gd name="connsiteY22" fmla="*/ 458320 h 774208"/>
                <a:gd name="connsiteX23" fmla="*/ 581941 w 593092"/>
                <a:gd name="connsiteY23" fmla="*/ 453930 h 774208"/>
                <a:gd name="connsiteX24" fmla="*/ 588305 w 593092"/>
                <a:gd name="connsiteY24" fmla="*/ 416973 h 77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93092" h="774208">
                  <a:moveTo>
                    <a:pt x="588186" y="416973"/>
                  </a:moveTo>
                  <a:lnTo>
                    <a:pt x="542987" y="353914"/>
                  </a:lnTo>
                  <a:cubicBezTo>
                    <a:pt x="534066" y="341871"/>
                    <a:pt x="532817" y="325854"/>
                    <a:pt x="539656" y="312507"/>
                  </a:cubicBezTo>
                  <a:cubicBezTo>
                    <a:pt x="543522" y="304795"/>
                    <a:pt x="542570" y="301355"/>
                    <a:pt x="542570" y="264100"/>
                  </a:cubicBezTo>
                  <a:cubicBezTo>
                    <a:pt x="542570" y="126177"/>
                    <a:pt x="435400" y="0"/>
                    <a:pt x="266020" y="0"/>
                  </a:cubicBezTo>
                  <a:cubicBezTo>
                    <a:pt x="119538" y="534"/>
                    <a:pt x="889" y="118762"/>
                    <a:pt x="235" y="264812"/>
                  </a:cubicBezTo>
                  <a:cubicBezTo>
                    <a:pt x="-1728" y="320812"/>
                    <a:pt x="8621" y="376515"/>
                    <a:pt x="30507" y="428125"/>
                  </a:cubicBezTo>
                  <a:cubicBezTo>
                    <a:pt x="74220" y="532531"/>
                    <a:pt x="59946" y="599862"/>
                    <a:pt x="52096" y="774208"/>
                  </a:cubicBezTo>
                  <a:lnTo>
                    <a:pt x="340838" y="774208"/>
                  </a:lnTo>
                  <a:lnTo>
                    <a:pt x="340838" y="673955"/>
                  </a:lnTo>
                  <a:cubicBezTo>
                    <a:pt x="340778" y="673302"/>
                    <a:pt x="340778" y="672649"/>
                    <a:pt x="340838" y="671997"/>
                  </a:cubicBezTo>
                  <a:cubicBezTo>
                    <a:pt x="341670" y="668734"/>
                    <a:pt x="345001" y="666836"/>
                    <a:pt x="348272" y="667666"/>
                  </a:cubicBezTo>
                  <a:cubicBezTo>
                    <a:pt x="348272" y="667666"/>
                    <a:pt x="348391" y="667666"/>
                    <a:pt x="348450" y="667666"/>
                  </a:cubicBezTo>
                  <a:cubicBezTo>
                    <a:pt x="432248" y="691395"/>
                    <a:pt x="432664" y="692522"/>
                    <a:pt x="445927" y="692522"/>
                  </a:cubicBezTo>
                  <a:cubicBezTo>
                    <a:pt x="485417" y="692522"/>
                    <a:pt x="517413" y="660607"/>
                    <a:pt x="517413" y="621217"/>
                  </a:cubicBezTo>
                  <a:cubicBezTo>
                    <a:pt x="517413" y="581828"/>
                    <a:pt x="517413" y="583311"/>
                    <a:pt x="519197" y="580819"/>
                  </a:cubicBezTo>
                  <a:cubicBezTo>
                    <a:pt x="522112" y="577735"/>
                    <a:pt x="523777" y="573701"/>
                    <a:pt x="523896" y="569489"/>
                  </a:cubicBezTo>
                  <a:cubicBezTo>
                    <a:pt x="523896" y="560828"/>
                    <a:pt x="521517" y="549379"/>
                    <a:pt x="512715" y="549379"/>
                  </a:cubicBezTo>
                  <a:cubicBezTo>
                    <a:pt x="518662" y="549379"/>
                    <a:pt x="531508" y="538226"/>
                    <a:pt x="534304" y="532947"/>
                  </a:cubicBezTo>
                  <a:cubicBezTo>
                    <a:pt x="537694" y="526421"/>
                    <a:pt x="536445" y="518472"/>
                    <a:pt x="531270" y="513252"/>
                  </a:cubicBezTo>
                  <a:cubicBezTo>
                    <a:pt x="529903" y="511176"/>
                    <a:pt x="530319" y="513252"/>
                    <a:pt x="530319" y="471845"/>
                  </a:cubicBezTo>
                  <a:cubicBezTo>
                    <a:pt x="530140" y="468820"/>
                    <a:pt x="532281" y="466150"/>
                    <a:pt x="535315" y="465616"/>
                  </a:cubicBezTo>
                  <a:lnTo>
                    <a:pt x="571712" y="458320"/>
                  </a:lnTo>
                  <a:cubicBezTo>
                    <a:pt x="575399" y="457608"/>
                    <a:pt x="578908" y="456125"/>
                    <a:pt x="581941" y="453930"/>
                  </a:cubicBezTo>
                  <a:cubicBezTo>
                    <a:pt x="593836" y="445388"/>
                    <a:pt x="596631" y="428956"/>
                    <a:pt x="588305" y="416973"/>
                  </a:cubicBezTo>
                  <a:close/>
                </a:path>
              </a:pathLst>
            </a:custGeom>
            <a:solidFill>
              <a:srgbClr val="000000">
                <a:alpha val="40000"/>
              </a:srgbClr>
            </a:solidFill>
            <a:ln w="5906" cap="flat">
              <a:noFill/>
              <a:prstDash val="solid"/>
              <a:miter/>
            </a:ln>
          </p:spPr>
          <p:txBody>
            <a:bodyPr rtlCol="0" anchor="ctr"/>
            <a:lstStyle/>
            <a:p>
              <a:endParaRPr lang="en-US">
                <a:solidFill>
                  <a:sysClr val="windowText" lastClr="000000"/>
                </a:solidFill>
              </a:endParaRPr>
            </a:p>
          </p:txBody>
        </p:sp>
        <p:sp>
          <p:nvSpPr>
            <p:cNvPr id="70" name="Freeform: Shape 69">
              <a:extLst>
                <a:ext uri="{FF2B5EF4-FFF2-40B4-BE49-F238E27FC236}">
                  <a16:creationId xmlns:a16="http://schemas.microsoft.com/office/drawing/2014/main" id="{88794DE9-888D-0707-7D2C-B6230A8850C8}"/>
                </a:ext>
              </a:extLst>
            </p:cNvPr>
            <p:cNvSpPr/>
            <p:nvPr/>
          </p:nvSpPr>
          <p:spPr>
            <a:xfrm>
              <a:off x="4427767" y="2195635"/>
              <a:ext cx="294467" cy="749371"/>
            </a:xfrm>
            <a:custGeom>
              <a:avLst/>
              <a:gdLst>
                <a:gd name="connsiteX0" fmla="*/ 0 w 22005"/>
                <a:gd name="connsiteY0" fmla="*/ 11627 h 55999"/>
                <a:gd name="connsiteX1" fmla="*/ 8980 w 22005"/>
                <a:gd name="connsiteY1" fmla="*/ 7059 h 55999"/>
                <a:gd name="connsiteX2" fmla="*/ 17009 w 22005"/>
                <a:gd name="connsiteY2" fmla="*/ 0 h 55999"/>
                <a:gd name="connsiteX3" fmla="*/ 22005 w 22005"/>
                <a:gd name="connsiteY3" fmla="*/ 0 h 55999"/>
                <a:gd name="connsiteX4" fmla="*/ 22005 w 22005"/>
                <a:gd name="connsiteY4" fmla="*/ 56000 h 55999"/>
                <a:gd name="connsiteX5" fmla="*/ 14809 w 22005"/>
                <a:gd name="connsiteY5" fmla="*/ 56000 h 55999"/>
                <a:gd name="connsiteX6" fmla="*/ 14809 w 22005"/>
                <a:gd name="connsiteY6" fmla="*/ 10500 h 55999"/>
                <a:gd name="connsiteX7" fmla="*/ 12430 w 22005"/>
                <a:gd name="connsiteY7" fmla="*/ 12280 h 55999"/>
                <a:gd name="connsiteX8" fmla="*/ 9397 w 22005"/>
                <a:gd name="connsiteY8" fmla="*/ 14237 h 55999"/>
                <a:gd name="connsiteX9" fmla="*/ 5828 w 22005"/>
                <a:gd name="connsiteY9" fmla="*/ 15898 h 55999"/>
                <a:gd name="connsiteX10" fmla="*/ 2379 w 22005"/>
                <a:gd name="connsiteY10" fmla="*/ 17263 h 55999"/>
                <a:gd name="connsiteX11" fmla="*/ 0 w 22005"/>
                <a:gd name="connsiteY11" fmla="*/ 11627 h 5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5" h="55999">
                  <a:moveTo>
                    <a:pt x="0" y="11627"/>
                  </a:moveTo>
                  <a:cubicBezTo>
                    <a:pt x="3152" y="10500"/>
                    <a:pt x="6185" y="8958"/>
                    <a:pt x="8980" y="7059"/>
                  </a:cubicBezTo>
                  <a:cubicBezTo>
                    <a:pt x="12014" y="5161"/>
                    <a:pt x="14690" y="2788"/>
                    <a:pt x="17009" y="0"/>
                  </a:cubicBezTo>
                  <a:lnTo>
                    <a:pt x="22005" y="0"/>
                  </a:lnTo>
                  <a:lnTo>
                    <a:pt x="22005" y="56000"/>
                  </a:lnTo>
                  <a:lnTo>
                    <a:pt x="14809" y="56000"/>
                  </a:lnTo>
                  <a:lnTo>
                    <a:pt x="14809" y="10500"/>
                  </a:lnTo>
                  <a:cubicBezTo>
                    <a:pt x="14095" y="11152"/>
                    <a:pt x="13262" y="11746"/>
                    <a:pt x="12430" y="12280"/>
                  </a:cubicBezTo>
                  <a:cubicBezTo>
                    <a:pt x="11478" y="12991"/>
                    <a:pt x="10467" y="13644"/>
                    <a:pt x="9397" y="14237"/>
                  </a:cubicBezTo>
                  <a:lnTo>
                    <a:pt x="5828" y="15898"/>
                  </a:lnTo>
                  <a:lnTo>
                    <a:pt x="2379" y="17263"/>
                  </a:lnTo>
                  <a:lnTo>
                    <a:pt x="0" y="11627"/>
                  </a:ln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71" name="Freeform: Shape 70">
              <a:extLst>
                <a:ext uri="{FF2B5EF4-FFF2-40B4-BE49-F238E27FC236}">
                  <a16:creationId xmlns:a16="http://schemas.microsoft.com/office/drawing/2014/main" id="{680D02ED-0455-BD54-EBC8-65F261DB9975}"/>
                </a:ext>
              </a:extLst>
            </p:cNvPr>
            <p:cNvSpPr/>
            <p:nvPr/>
          </p:nvSpPr>
          <p:spPr>
            <a:xfrm>
              <a:off x="5136966" y="2195635"/>
              <a:ext cx="298443" cy="749372"/>
            </a:xfrm>
            <a:custGeom>
              <a:avLst/>
              <a:gdLst>
                <a:gd name="connsiteX0" fmla="*/ 59 w 22302"/>
                <a:gd name="connsiteY0" fmla="*/ 11627 h 55999"/>
                <a:gd name="connsiteX1" fmla="*/ 9040 w 22302"/>
                <a:gd name="connsiteY1" fmla="*/ 7059 h 55999"/>
                <a:gd name="connsiteX2" fmla="*/ 17069 w 22302"/>
                <a:gd name="connsiteY2" fmla="*/ 0 h 55999"/>
                <a:gd name="connsiteX3" fmla="*/ 22302 w 22302"/>
                <a:gd name="connsiteY3" fmla="*/ 0 h 55999"/>
                <a:gd name="connsiteX4" fmla="*/ 22302 w 22302"/>
                <a:gd name="connsiteY4" fmla="*/ 56000 h 55999"/>
                <a:gd name="connsiteX5" fmla="*/ 15225 w 22302"/>
                <a:gd name="connsiteY5" fmla="*/ 56000 h 55999"/>
                <a:gd name="connsiteX6" fmla="*/ 15225 w 22302"/>
                <a:gd name="connsiteY6" fmla="*/ 10500 h 55999"/>
                <a:gd name="connsiteX7" fmla="*/ 12846 w 22302"/>
                <a:gd name="connsiteY7" fmla="*/ 12280 h 55999"/>
                <a:gd name="connsiteX8" fmla="*/ 9694 w 22302"/>
                <a:gd name="connsiteY8" fmla="*/ 13822 h 55999"/>
                <a:gd name="connsiteX9" fmla="*/ 6245 w 22302"/>
                <a:gd name="connsiteY9" fmla="*/ 15483 h 55999"/>
                <a:gd name="connsiteX10" fmla="*/ 2795 w 22302"/>
                <a:gd name="connsiteY10" fmla="*/ 16847 h 55999"/>
                <a:gd name="connsiteX11" fmla="*/ 0 w 22302"/>
                <a:gd name="connsiteY11" fmla="*/ 11627 h 5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02" h="55999">
                  <a:moveTo>
                    <a:pt x="59" y="11627"/>
                  </a:moveTo>
                  <a:cubicBezTo>
                    <a:pt x="3212" y="10500"/>
                    <a:pt x="6245" y="8958"/>
                    <a:pt x="9040" y="7059"/>
                  </a:cubicBezTo>
                  <a:cubicBezTo>
                    <a:pt x="12073" y="5161"/>
                    <a:pt x="14749" y="2788"/>
                    <a:pt x="17069" y="0"/>
                  </a:cubicBezTo>
                  <a:lnTo>
                    <a:pt x="22302" y="0"/>
                  </a:lnTo>
                  <a:lnTo>
                    <a:pt x="22302" y="56000"/>
                  </a:lnTo>
                  <a:lnTo>
                    <a:pt x="15225" y="56000"/>
                  </a:lnTo>
                  <a:lnTo>
                    <a:pt x="15225" y="10500"/>
                  </a:lnTo>
                  <a:lnTo>
                    <a:pt x="12846" y="12280"/>
                  </a:lnTo>
                  <a:lnTo>
                    <a:pt x="9694" y="13822"/>
                  </a:lnTo>
                  <a:lnTo>
                    <a:pt x="6245" y="15483"/>
                  </a:lnTo>
                  <a:lnTo>
                    <a:pt x="2795" y="16847"/>
                  </a:lnTo>
                  <a:lnTo>
                    <a:pt x="0" y="11627"/>
                  </a:ln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72" name="Freeform: Shape 71">
              <a:extLst>
                <a:ext uri="{FF2B5EF4-FFF2-40B4-BE49-F238E27FC236}">
                  <a16:creationId xmlns:a16="http://schemas.microsoft.com/office/drawing/2014/main" id="{4E6C86E4-D168-912B-0351-16515DF9CA67}"/>
                </a:ext>
              </a:extLst>
            </p:cNvPr>
            <p:cNvSpPr/>
            <p:nvPr/>
          </p:nvSpPr>
          <p:spPr>
            <a:xfrm>
              <a:off x="5734676" y="2180609"/>
              <a:ext cx="503948" cy="783603"/>
            </a:xfrm>
            <a:custGeom>
              <a:avLst/>
              <a:gdLst>
                <a:gd name="connsiteX0" fmla="*/ 96 w 37659"/>
                <a:gd name="connsiteY0" fmla="*/ 29279 h 58557"/>
                <a:gd name="connsiteX1" fmla="*/ 5091 w 37659"/>
                <a:gd name="connsiteY1" fmla="*/ 7626 h 58557"/>
                <a:gd name="connsiteX2" fmla="*/ 27572 w 37659"/>
                <a:gd name="connsiteY2" fmla="*/ 2465 h 58557"/>
                <a:gd name="connsiteX3" fmla="*/ 32746 w 37659"/>
                <a:gd name="connsiteY3" fmla="*/ 7626 h 58557"/>
                <a:gd name="connsiteX4" fmla="*/ 37564 w 37659"/>
                <a:gd name="connsiteY4" fmla="*/ 29279 h 58557"/>
                <a:gd name="connsiteX5" fmla="*/ 32568 w 37659"/>
                <a:gd name="connsiteY5" fmla="*/ 50931 h 58557"/>
                <a:gd name="connsiteX6" fmla="*/ 10087 w 37659"/>
                <a:gd name="connsiteY6" fmla="*/ 56092 h 58557"/>
                <a:gd name="connsiteX7" fmla="*/ 4913 w 37659"/>
                <a:gd name="connsiteY7" fmla="*/ 50931 h 58557"/>
                <a:gd name="connsiteX8" fmla="*/ 96 w 37659"/>
                <a:gd name="connsiteY8" fmla="*/ 29279 h 58557"/>
                <a:gd name="connsiteX9" fmla="*/ 29713 w 37659"/>
                <a:gd name="connsiteY9" fmla="*/ 29279 h 58557"/>
                <a:gd name="connsiteX10" fmla="*/ 29713 w 37659"/>
                <a:gd name="connsiteY10" fmla="*/ 20618 h 58557"/>
                <a:gd name="connsiteX11" fmla="*/ 27929 w 37659"/>
                <a:gd name="connsiteY11" fmla="*/ 13440 h 58557"/>
                <a:gd name="connsiteX12" fmla="*/ 24599 w 37659"/>
                <a:gd name="connsiteY12" fmla="*/ 8457 h 58557"/>
                <a:gd name="connsiteX13" fmla="*/ 19365 w 37659"/>
                <a:gd name="connsiteY13" fmla="*/ 6677 h 58557"/>
                <a:gd name="connsiteX14" fmla="*/ 14250 w 37659"/>
                <a:gd name="connsiteY14" fmla="*/ 8457 h 58557"/>
                <a:gd name="connsiteX15" fmla="*/ 10920 w 37659"/>
                <a:gd name="connsiteY15" fmla="*/ 13440 h 58557"/>
                <a:gd name="connsiteX16" fmla="*/ 9136 w 37659"/>
                <a:gd name="connsiteY16" fmla="*/ 20618 h 58557"/>
                <a:gd name="connsiteX17" fmla="*/ 9136 w 37659"/>
                <a:gd name="connsiteY17" fmla="*/ 37999 h 58557"/>
                <a:gd name="connsiteX18" fmla="*/ 10920 w 37659"/>
                <a:gd name="connsiteY18" fmla="*/ 45177 h 58557"/>
                <a:gd name="connsiteX19" fmla="*/ 14250 w 37659"/>
                <a:gd name="connsiteY19" fmla="*/ 50160 h 58557"/>
                <a:gd name="connsiteX20" fmla="*/ 19365 w 37659"/>
                <a:gd name="connsiteY20" fmla="*/ 51939 h 58557"/>
                <a:gd name="connsiteX21" fmla="*/ 24599 w 37659"/>
                <a:gd name="connsiteY21" fmla="*/ 50160 h 58557"/>
                <a:gd name="connsiteX22" fmla="*/ 27929 w 37659"/>
                <a:gd name="connsiteY22" fmla="*/ 45177 h 58557"/>
                <a:gd name="connsiteX23" fmla="*/ 29713 w 37659"/>
                <a:gd name="connsiteY23" fmla="*/ 37999 h 58557"/>
                <a:gd name="connsiteX24" fmla="*/ 29713 w 37659"/>
                <a:gd name="connsiteY24" fmla="*/ 29338 h 5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659" h="58557">
                  <a:moveTo>
                    <a:pt x="96" y="29279"/>
                  </a:moveTo>
                  <a:cubicBezTo>
                    <a:pt x="-380" y="21745"/>
                    <a:pt x="1404" y="14211"/>
                    <a:pt x="5091" y="7626"/>
                  </a:cubicBezTo>
                  <a:cubicBezTo>
                    <a:pt x="9849" y="33"/>
                    <a:pt x="19960" y="-2281"/>
                    <a:pt x="27572" y="2465"/>
                  </a:cubicBezTo>
                  <a:cubicBezTo>
                    <a:pt x="29654" y="3770"/>
                    <a:pt x="31438" y="5550"/>
                    <a:pt x="32746" y="7626"/>
                  </a:cubicBezTo>
                  <a:cubicBezTo>
                    <a:pt x="36374" y="14211"/>
                    <a:pt x="38099" y="21745"/>
                    <a:pt x="37564" y="29279"/>
                  </a:cubicBezTo>
                  <a:cubicBezTo>
                    <a:pt x="38040" y="36812"/>
                    <a:pt x="36255" y="44346"/>
                    <a:pt x="32568" y="50931"/>
                  </a:cubicBezTo>
                  <a:cubicBezTo>
                    <a:pt x="27810" y="58524"/>
                    <a:pt x="17700" y="60838"/>
                    <a:pt x="10087" y="56092"/>
                  </a:cubicBezTo>
                  <a:cubicBezTo>
                    <a:pt x="8006" y="54787"/>
                    <a:pt x="6221" y="53007"/>
                    <a:pt x="4913" y="50931"/>
                  </a:cubicBezTo>
                  <a:cubicBezTo>
                    <a:pt x="1285" y="44346"/>
                    <a:pt x="-440" y="36812"/>
                    <a:pt x="96" y="29279"/>
                  </a:cubicBezTo>
                  <a:close/>
                  <a:moveTo>
                    <a:pt x="29713" y="29279"/>
                  </a:moveTo>
                  <a:cubicBezTo>
                    <a:pt x="29951" y="26372"/>
                    <a:pt x="29951" y="23465"/>
                    <a:pt x="29713" y="20618"/>
                  </a:cubicBezTo>
                  <a:cubicBezTo>
                    <a:pt x="29416" y="18185"/>
                    <a:pt x="28762" y="15753"/>
                    <a:pt x="27929" y="13440"/>
                  </a:cubicBezTo>
                  <a:cubicBezTo>
                    <a:pt x="27215" y="11541"/>
                    <a:pt x="26085" y="9880"/>
                    <a:pt x="24599" y="8457"/>
                  </a:cubicBezTo>
                  <a:cubicBezTo>
                    <a:pt x="23112" y="7270"/>
                    <a:pt x="21268" y="6618"/>
                    <a:pt x="19365" y="6677"/>
                  </a:cubicBezTo>
                  <a:cubicBezTo>
                    <a:pt x="17521" y="6677"/>
                    <a:pt x="15678" y="7329"/>
                    <a:pt x="14250" y="8457"/>
                  </a:cubicBezTo>
                  <a:cubicBezTo>
                    <a:pt x="12823" y="9821"/>
                    <a:pt x="11633" y="11541"/>
                    <a:pt x="10920" y="13440"/>
                  </a:cubicBezTo>
                  <a:cubicBezTo>
                    <a:pt x="9968" y="15753"/>
                    <a:pt x="9373" y="18126"/>
                    <a:pt x="9136" y="20618"/>
                  </a:cubicBezTo>
                  <a:cubicBezTo>
                    <a:pt x="8422" y="26372"/>
                    <a:pt x="8422" y="32245"/>
                    <a:pt x="9136" y="37999"/>
                  </a:cubicBezTo>
                  <a:cubicBezTo>
                    <a:pt x="9373" y="40490"/>
                    <a:pt x="9968" y="42863"/>
                    <a:pt x="10920" y="45177"/>
                  </a:cubicBezTo>
                  <a:cubicBezTo>
                    <a:pt x="11633" y="47075"/>
                    <a:pt x="12763" y="48736"/>
                    <a:pt x="14250" y="50160"/>
                  </a:cubicBezTo>
                  <a:cubicBezTo>
                    <a:pt x="15678" y="51346"/>
                    <a:pt x="17521" y="51939"/>
                    <a:pt x="19365" y="51939"/>
                  </a:cubicBezTo>
                  <a:cubicBezTo>
                    <a:pt x="21268" y="51939"/>
                    <a:pt x="23112" y="51346"/>
                    <a:pt x="24599" y="50160"/>
                  </a:cubicBezTo>
                  <a:cubicBezTo>
                    <a:pt x="26026" y="48795"/>
                    <a:pt x="27215" y="47075"/>
                    <a:pt x="27929" y="45177"/>
                  </a:cubicBezTo>
                  <a:cubicBezTo>
                    <a:pt x="28821" y="42863"/>
                    <a:pt x="29416" y="40431"/>
                    <a:pt x="29713" y="37999"/>
                  </a:cubicBezTo>
                  <a:cubicBezTo>
                    <a:pt x="29951" y="35092"/>
                    <a:pt x="29951" y="32185"/>
                    <a:pt x="29713" y="29338"/>
                  </a:cubicBez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73" name="Freeform: Shape 72">
              <a:extLst>
                <a:ext uri="{FF2B5EF4-FFF2-40B4-BE49-F238E27FC236}">
                  <a16:creationId xmlns:a16="http://schemas.microsoft.com/office/drawing/2014/main" id="{27922C84-17C2-13FE-2B57-668E18FB8A73}"/>
                </a:ext>
              </a:extLst>
            </p:cNvPr>
            <p:cNvSpPr/>
            <p:nvPr/>
          </p:nvSpPr>
          <p:spPr>
            <a:xfrm>
              <a:off x="6412307" y="2180609"/>
              <a:ext cx="503948" cy="783603"/>
            </a:xfrm>
            <a:custGeom>
              <a:avLst/>
              <a:gdLst>
                <a:gd name="connsiteX0" fmla="*/ 96 w 37659"/>
                <a:gd name="connsiteY0" fmla="*/ 29279 h 58557"/>
                <a:gd name="connsiteX1" fmla="*/ 5091 w 37659"/>
                <a:gd name="connsiteY1" fmla="*/ 7626 h 58557"/>
                <a:gd name="connsiteX2" fmla="*/ 27572 w 37659"/>
                <a:gd name="connsiteY2" fmla="*/ 2465 h 58557"/>
                <a:gd name="connsiteX3" fmla="*/ 32746 w 37659"/>
                <a:gd name="connsiteY3" fmla="*/ 7626 h 58557"/>
                <a:gd name="connsiteX4" fmla="*/ 37564 w 37659"/>
                <a:gd name="connsiteY4" fmla="*/ 29279 h 58557"/>
                <a:gd name="connsiteX5" fmla="*/ 32568 w 37659"/>
                <a:gd name="connsiteY5" fmla="*/ 50931 h 58557"/>
                <a:gd name="connsiteX6" fmla="*/ 10087 w 37659"/>
                <a:gd name="connsiteY6" fmla="*/ 56092 h 58557"/>
                <a:gd name="connsiteX7" fmla="*/ 4913 w 37659"/>
                <a:gd name="connsiteY7" fmla="*/ 50931 h 58557"/>
                <a:gd name="connsiteX8" fmla="*/ 96 w 37659"/>
                <a:gd name="connsiteY8" fmla="*/ 29279 h 58557"/>
                <a:gd name="connsiteX9" fmla="*/ 29713 w 37659"/>
                <a:gd name="connsiteY9" fmla="*/ 29279 h 58557"/>
                <a:gd name="connsiteX10" fmla="*/ 29713 w 37659"/>
                <a:gd name="connsiteY10" fmla="*/ 20618 h 58557"/>
                <a:gd name="connsiteX11" fmla="*/ 27929 w 37659"/>
                <a:gd name="connsiteY11" fmla="*/ 13440 h 58557"/>
                <a:gd name="connsiteX12" fmla="*/ 24599 w 37659"/>
                <a:gd name="connsiteY12" fmla="*/ 8457 h 58557"/>
                <a:gd name="connsiteX13" fmla="*/ 19484 w 37659"/>
                <a:gd name="connsiteY13" fmla="*/ 6677 h 58557"/>
                <a:gd name="connsiteX14" fmla="*/ 14250 w 37659"/>
                <a:gd name="connsiteY14" fmla="*/ 8457 h 58557"/>
                <a:gd name="connsiteX15" fmla="*/ 10920 w 37659"/>
                <a:gd name="connsiteY15" fmla="*/ 13440 h 58557"/>
                <a:gd name="connsiteX16" fmla="*/ 9136 w 37659"/>
                <a:gd name="connsiteY16" fmla="*/ 20618 h 58557"/>
                <a:gd name="connsiteX17" fmla="*/ 9136 w 37659"/>
                <a:gd name="connsiteY17" fmla="*/ 29279 h 58557"/>
                <a:gd name="connsiteX18" fmla="*/ 9136 w 37659"/>
                <a:gd name="connsiteY18" fmla="*/ 37940 h 58557"/>
                <a:gd name="connsiteX19" fmla="*/ 10920 w 37659"/>
                <a:gd name="connsiteY19" fmla="*/ 45117 h 58557"/>
                <a:gd name="connsiteX20" fmla="*/ 14250 w 37659"/>
                <a:gd name="connsiteY20" fmla="*/ 50100 h 58557"/>
                <a:gd name="connsiteX21" fmla="*/ 19484 w 37659"/>
                <a:gd name="connsiteY21" fmla="*/ 51880 h 58557"/>
                <a:gd name="connsiteX22" fmla="*/ 24599 w 37659"/>
                <a:gd name="connsiteY22" fmla="*/ 50100 h 58557"/>
                <a:gd name="connsiteX23" fmla="*/ 27929 w 37659"/>
                <a:gd name="connsiteY23" fmla="*/ 45117 h 58557"/>
                <a:gd name="connsiteX24" fmla="*/ 29713 w 37659"/>
                <a:gd name="connsiteY24" fmla="*/ 37940 h 58557"/>
                <a:gd name="connsiteX25" fmla="*/ 29713 w 37659"/>
                <a:gd name="connsiteY25" fmla="*/ 29279 h 5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659" h="58557">
                  <a:moveTo>
                    <a:pt x="96" y="29279"/>
                  </a:moveTo>
                  <a:cubicBezTo>
                    <a:pt x="-380" y="21745"/>
                    <a:pt x="1404" y="14211"/>
                    <a:pt x="5091" y="7626"/>
                  </a:cubicBezTo>
                  <a:cubicBezTo>
                    <a:pt x="9849" y="33"/>
                    <a:pt x="19960" y="-2281"/>
                    <a:pt x="27572" y="2465"/>
                  </a:cubicBezTo>
                  <a:cubicBezTo>
                    <a:pt x="29654" y="3770"/>
                    <a:pt x="31438" y="5550"/>
                    <a:pt x="32746" y="7626"/>
                  </a:cubicBezTo>
                  <a:cubicBezTo>
                    <a:pt x="36374" y="14211"/>
                    <a:pt x="38099" y="21745"/>
                    <a:pt x="37564" y="29279"/>
                  </a:cubicBezTo>
                  <a:cubicBezTo>
                    <a:pt x="38040" y="36812"/>
                    <a:pt x="36255" y="44346"/>
                    <a:pt x="32568" y="50931"/>
                  </a:cubicBezTo>
                  <a:cubicBezTo>
                    <a:pt x="27810" y="58524"/>
                    <a:pt x="17700" y="60838"/>
                    <a:pt x="10087" y="56092"/>
                  </a:cubicBezTo>
                  <a:cubicBezTo>
                    <a:pt x="8006" y="54787"/>
                    <a:pt x="6221" y="53007"/>
                    <a:pt x="4913" y="50931"/>
                  </a:cubicBezTo>
                  <a:cubicBezTo>
                    <a:pt x="1285" y="44346"/>
                    <a:pt x="-440" y="36812"/>
                    <a:pt x="96" y="29279"/>
                  </a:cubicBezTo>
                  <a:close/>
                  <a:moveTo>
                    <a:pt x="29713" y="29279"/>
                  </a:moveTo>
                  <a:cubicBezTo>
                    <a:pt x="29951" y="26372"/>
                    <a:pt x="29951" y="23465"/>
                    <a:pt x="29713" y="20618"/>
                  </a:cubicBezTo>
                  <a:cubicBezTo>
                    <a:pt x="29475" y="18126"/>
                    <a:pt x="28881" y="15753"/>
                    <a:pt x="27929" y="13440"/>
                  </a:cubicBezTo>
                  <a:cubicBezTo>
                    <a:pt x="27215" y="11541"/>
                    <a:pt x="26085" y="9880"/>
                    <a:pt x="24599" y="8457"/>
                  </a:cubicBezTo>
                  <a:cubicBezTo>
                    <a:pt x="23171" y="7270"/>
                    <a:pt x="21328" y="6618"/>
                    <a:pt x="19484" y="6677"/>
                  </a:cubicBezTo>
                  <a:cubicBezTo>
                    <a:pt x="17581" y="6677"/>
                    <a:pt x="15737" y="7270"/>
                    <a:pt x="14250" y="8457"/>
                  </a:cubicBezTo>
                  <a:cubicBezTo>
                    <a:pt x="12823" y="9821"/>
                    <a:pt x="11633" y="11541"/>
                    <a:pt x="10920" y="13440"/>
                  </a:cubicBezTo>
                  <a:cubicBezTo>
                    <a:pt x="10028" y="15753"/>
                    <a:pt x="9433" y="18185"/>
                    <a:pt x="9136" y="20618"/>
                  </a:cubicBezTo>
                  <a:cubicBezTo>
                    <a:pt x="9017" y="23524"/>
                    <a:pt x="9017" y="26431"/>
                    <a:pt x="9136" y="29279"/>
                  </a:cubicBezTo>
                  <a:cubicBezTo>
                    <a:pt x="9017" y="32185"/>
                    <a:pt x="9017" y="35092"/>
                    <a:pt x="9136" y="37940"/>
                  </a:cubicBezTo>
                  <a:cubicBezTo>
                    <a:pt x="9433" y="40372"/>
                    <a:pt x="10087" y="42804"/>
                    <a:pt x="10920" y="45117"/>
                  </a:cubicBezTo>
                  <a:cubicBezTo>
                    <a:pt x="11633" y="47016"/>
                    <a:pt x="12763" y="48677"/>
                    <a:pt x="14250" y="50100"/>
                  </a:cubicBezTo>
                  <a:cubicBezTo>
                    <a:pt x="15737" y="51287"/>
                    <a:pt x="17581" y="51939"/>
                    <a:pt x="19484" y="51880"/>
                  </a:cubicBezTo>
                  <a:cubicBezTo>
                    <a:pt x="21328" y="51880"/>
                    <a:pt x="23171" y="51287"/>
                    <a:pt x="24599" y="50100"/>
                  </a:cubicBezTo>
                  <a:cubicBezTo>
                    <a:pt x="26026" y="48736"/>
                    <a:pt x="27215" y="47016"/>
                    <a:pt x="27929" y="45117"/>
                  </a:cubicBezTo>
                  <a:cubicBezTo>
                    <a:pt x="28881" y="42804"/>
                    <a:pt x="29475" y="40431"/>
                    <a:pt x="29713" y="37940"/>
                  </a:cubicBezTo>
                  <a:cubicBezTo>
                    <a:pt x="29951" y="35033"/>
                    <a:pt x="29951" y="32126"/>
                    <a:pt x="29713" y="29279"/>
                  </a:cubicBez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74" name="Freeform: Shape 73">
              <a:extLst>
                <a:ext uri="{FF2B5EF4-FFF2-40B4-BE49-F238E27FC236}">
                  <a16:creationId xmlns:a16="http://schemas.microsoft.com/office/drawing/2014/main" id="{16B606CF-F8C3-0D0D-958A-02811E900A42}"/>
                </a:ext>
              </a:extLst>
            </p:cNvPr>
            <p:cNvSpPr/>
            <p:nvPr/>
          </p:nvSpPr>
          <p:spPr>
            <a:xfrm>
              <a:off x="7212526" y="2195635"/>
              <a:ext cx="307195" cy="749370"/>
            </a:xfrm>
            <a:custGeom>
              <a:avLst/>
              <a:gdLst>
                <a:gd name="connsiteX0" fmla="*/ 0 w 22956"/>
                <a:gd name="connsiteY0" fmla="*/ 11627 h 55999"/>
                <a:gd name="connsiteX1" fmla="*/ 8980 w 22956"/>
                <a:gd name="connsiteY1" fmla="*/ 7059 h 55999"/>
                <a:gd name="connsiteX2" fmla="*/ 16890 w 22956"/>
                <a:gd name="connsiteY2" fmla="*/ 0 h 55999"/>
                <a:gd name="connsiteX3" fmla="*/ 22957 w 22956"/>
                <a:gd name="connsiteY3" fmla="*/ 0 h 55999"/>
                <a:gd name="connsiteX4" fmla="*/ 22957 w 22956"/>
                <a:gd name="connsiteY4" fmla="*/ 56000 h 55999"/>
                <a:gd name="connsiteX5" fmla="*/ 15463 w 22956"/>
                <a:gd name="connsiteY5" fmla="*/ 56000 h 55999"/>
                <a:gd name="connsiteX6" fmla="*/ 15463 w 22956"/>
                <a:gd name="connsiteY6" fmla="*/ 10500 h 55999"/>
                <a:gd name="connsiteX7" fmla="*/ 12965 w 22956"/>
                <a:gd name="connsiteY7" fmla="*/ 12280 h 55999"/>
                <a:gd name="connsiteX8" fmla="*/ 9099 w 22956"/>
                <a:gd name="connsiteY8" fmla="*/ 13822 h 55999"/>
                <a:gd name="connsiteX9" fmla="*/ 5650 w 22956"/>
                <a:gd name="connsiteY9" fmla="*/ 15483 h 55999"/>
                <a:gd name="connsiteX10" fmla="*/ 2082 w 22956"/>
                <a:gd name="connsiteY10" fmla="*/ 16847 h 55999"/>
                <a:gd name="connsiteX11" fmla="*/ 0 w 22956"/>
                <a:gd name="connsiteY11" fmla="*/ 11627 h 5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56" h="55999">
                  <a:moveTo>
                    <a:pt x="0" y="11627"/>
                  </a:moveTo>
                  <a:cubicBezTo>
                    <a:pt x="3152" y="10441"/>
                    <a:pt x="6185" y="8898"/>
                    <a:pt x="8980" y="7059"/>
                  </a:cubicBezTo>
                  <a:cubicBezTo>
                    <a:pt x="12014" y="5161"/>
                    <a:pt x="14630" y="2788"/>
                    <a:pt x="16890" y="0"/>
                  </a:cubicBezTo>
                  <a:lnTo>
                    <a:pt x="22957" y="0"/>
                  </a:lnTo>
                  <a:lnTo>
                    <a:pt x="22957" y="56000"/>
                  </a:lnTo>
                  <a:lnTo>
                    <a:pt x="15463" y="56000"/>
                  </a:lnTo>
                  <a:lnTo>
                    <a:pt x="15463" y="10500"/>
                  </a:lnTo>
                  <a:cubicBezTo>
                    <a:pt x="14690" y="11152"/>
                    <a:pt x="13857" y="11746"/>
                    <a:pt x="12965" y="12280"/>
                  </a:cubicBezTo>
                  <a:cubicBezTo>
                    <a:pt x="11716" y="12932"/>
                    <a:pt x="10467" y="13466"/>
                    <a:pt x="9099" y="13822"/>
                  </a:cubicBezTo>
                  <a:lnTo>
                    <a:pt x="5650" y="15483"/>
                  </a:lnTo>
                  <a:lnTo>
                    <a:pt x="2082" y="16847"/>
                  </a:lnTo>
                  <a:lnTo>
                    <a:pt x="0" y="11627"/>
                  </a:ln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75" name="Freeform: Shape 74">
              <a:extLst>
                <a:ext uri="{FF2B5EF4-FFF2-40B4-BE49-F238E27FC236}">
                  <a16:creationId xmlns:a16="http://schemas.microsoft.com/office/drawing/2014/main" id="{C6213431-DA5D-9AFB-6E22-E9180DA1868D}"/>
                </a:ext>
              </a:extLst>
            </p:cNvPr>
            <p:cNvSpPr/>
            <p:nvPr/>
          </p:nvSpPr>
          <p:spPr>
            <a:xfrm>
              <a:off x="5136966" y="1274330"/>
              <a:ext cx="298443" cy="749372"/>
            </a:xfrm>
            <a:custGeom>
              <a:avLst/>
              <a:gdLst>
                <a:gd name="connsiteX0" fmla="*/ 59 w 22302"/>
                <a:gd name="connsiteY0" fmla="*/ 11627 h 55999"/>
                <a:gd name="connsiteX1" fmla="*/ 9040 w 22302"/>
                <a:gd name="connsiteY1" fmla="*/ 7059 h 55999"/>
                <a:gd name="connsiteX2" fmla="*/ 17069 w 22302"/>
                <a:gd name="connsiteY2" fmla="*/ 0 h 55999"/>
                <a:gd name="connsiteX3" fmla="*/ 22302 w 22302"/>
                <a:gd name="connsiteY3" fmla="*/ 0 h 55999"/>
                <a:gd name="connsiteX4" fmla="*/ 22302 w 22302"/>
                <a:gd name="connsiteY4" fmla="*/ 56000 h 55999"/>
                <a:gd name="connsiteX5" fmla="*/ 15225 w 22302"/>
                <a:gd name="connsiteY5" fmla="*/ 56000 h 55999"/>
                <a:gd name="connsiteX6" fmla="*/ 15225 w 22302"/>
                <a:gd name="connsiteY6" fmla="*/ 10500 h 55999"/>
                <a:gd name="connsiteX7" fmla="*/ 12846 w 22302"/>
                <a:gd name="connsiteY7" fmla="*/ 12280 h 55999"/>
                <a:gd name="connsiteX8" fmla="*/ 9694 w 22302"/>
                <a:gd name="connsiteY8" fmla="*/ 14237 h 55999"/>
                <a:gd name="connsiteX9" fmla="*/ 6245 w 22302"/>
                <a:gd name="connsiteY9" fmla="*/ 15898 h 55999"/>
                <a:gd name="connsiteX10" fmla="*/ 2795 w 22302"/>
                <a:gd name="connsiteY10" fmla="*/ 17263 h 55999"/>
                <a:gd name="connsiteX11" fmla="*/ 0 w 22302"/>
                <a:gd name="connsiteY11" fmla="*/ 11627 h 5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02" h="55999">
                  <a:moveTo>
                    <a:pt x="59" y="11627"/>
                  </a:moveTo>
                  <a:cubicBezTo>
                    <a:pt x="3152" y="10381"/>
                    <a:pt x="6185" y="8839"/>
                    <a:pt x="9040" y="7059"/>
                  </a:cubicBezTo>
                  <a:cubicBezTo>
                    <a:pt x="12014" y="5042"/>
                    <a:pt x="14690" y="2669"/>
                    <a:pt x="17069" y="0"/>
                  </a:cubicBezTo>
                  <a:lnTo>
                    <a:pt x="22302" y="0"/>
                  </a:lnTo>
                  <a:lnTo>
                    <a:pt x="22302" y="56000"/>
                  </a:lnTo>
                  <a:lnTo>
                    <a:pt x="15225" y="56000"/>
                  </a:lnTo>
                  <a:lnTo>
                    <a:pt x="15225" y="10500"/>
                  </a:lnTo>
                  <a:lnTo>
                    <a:pt x="12846" y="12280"/>
                  </a:lnTo>
                  <a:lnTo>
                    <a:pt x="9694" y="14237"/>
                  </a:lnTo>
                  <a:lnTo>
                    <a:pt x="6245" y="15898"/>
                  </a:lnTo>
                  <a:lnTo>
                    <a:pt x="2795" y="17263"/>
                  </a:lnTo>
                  <a:lnTo>
                    <a:pt x="0" y="11627"/>
                  </a:ln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77" name="Freeform: Shape 76">
              <a:extLst>
                <a:ext uri="{FF2B5EF4-FFF2-40B4-BE49-F238E27FC236}">
                  <a16:creationId xmlns:a16="http://schemas.microsoft.com/office/drawing/2014/main" id="{A1E99188-1348-7507-F59D-2311FF3691B8}"/>
                </a:ext>
              </a:extLst>
            </p:cNvPr>
            <p:cNvSpPr/>
            <p:nvPr/>
          </p:nvSpPr>
          <p:spPr>
            <a:xfrm>
              <a:off x="5734255" y="1263121"/>
              <a:ext cx="505822" cy="783603"/>
            </a:xfrm>
            <a:custGeom>
              <a:avLst/>
              <a:gdLst>
                <a:gd name="connsiteX0" fmla="*/ 77 w 37799"/>
                <a:gd name="connsiteY0" fmla="*/ 29279 h 58557"/>
                <a:gd name="connsiteX1" fmla="*/ 5073 w 37799"/>
                <a:gd name="connsiteY1" fmla="*/ 7626 h 58557"/>
                <a:gd name="connsiteX2" fmla="*/ 27554 w 37799"/>
                <a:gd name="connsiteY2" fmla="*/ 2465 h 58557"/>
                <a:gd name="connsiteX3" fmla="*/ 32728 w 37799"/>
                <a:gd name="connsiteY3" fmla="*/ 7626 h 58557"/>
                <a:gd name="connsiteX4" fmla="*/ 37724 w 37799"/>
                <a:gd name="connsiteY4" fmla="*/ 29279 h 58557"/>
                <a:gd name="connsiteX5" fmla="*/ 32728 w 37799"/>
                <a:gd name="connsiteY5" fmla="*/ 50931 h 58557"/>
                <a:gd name="connsiteX6" fmla="*/ 10247 w 37799"/>
                <a:gd name="connsiteY6" fmla="*/ 56092 h 58557"/>
                <a:gd name="connsiteX7" fmla="*/ 5073 w 37799"/>
                <a:gd name="connsiteY7" fmla="*/ 50931 h 58557"/>
                <a:gd name="connsiteX8" fmla="*/ 77 w 37799"/>
                <a:gd name="connsiteY8" fmla="*/ 29279 h 58557"/>
                <a:gd name="connsiteX9" fmla="*/ 29695 w 37799"/>
                <a:gd name="connsiteY9" fmla="*/ 29279 h 58557"/>
                <a:gd name="connsiteX10" fmla="*/ 29695 w 37799"/>
                <a:gd name="connsiteY10" fmla="*/ 20618 h 58557"/>
                <a:gd name="connsiteX11" fmla="*/ 27911 w 37799"/>
                <a:gd name="connsiteY11" fmla="*/ 13321 h 58557"/>
                <a:gd name="connsiteX12" fmla="*/ 24580 w 37799"/>
                <a:gd name="connsiteY12" fmla="*/ 8516 h 58557"/>
                <a:gd name="connsiteX13" fmla="*/ 19347 w 37799"/>
                <a:gd name="connsiteY13" fmla="*/ 6736 h 58557"/>
                <a:gd name="connsiteX14" fmla="*/ 14232 w 37799"/>
                <a:gd name="connsiteY14" fmla="*/ 8516 h 58557"/>
                <a:gd name="connsiteX15" fmla="*/ 11080 w 37799"/>
                <a:gd name="connsiteY15" fmla="*/ 13321 h 58557"/>
                <a:gd name="connsiteX16" fmla="*/ 9296 w 37799"/>
                <a:gd name="connsiteY16" fmla="*/ 20618 h 58557"/>
                <a:gd name="connsiteX17" fmla="*/ 9296 w 37799"/>
                <a:gd name="connsiteY17" fmla="*/ 29279 h 58557"/>
                <a:gd name="connsiteX18" fmla="*/ 9296 w 37799"/>
                <a:gd name="connsiteY18" fmla="*/ 37940 h 58557"/>
                <a:gd name="connsiteX19" fmla="*/ 11080 w 37799"/>
                <a:gd name="connsiteY19" fmla="*/ 45117 h 58557"/>
                <a:gd name="connsiteX20" fmla="*/ 14410 w 37799"/>
                <a:gd name="connsiteY20" fmla="*/ 49923 h 58557"/>
                <a:gd name="connsiteX21" fmla="*/ 19525 w 37799"/>
                <a:gd name="connsiteY21" fmla="*/ 51880 h 58557"/>
                <a:gd name="connsiteX22" fmla="*/ 24759 w 37799"/>
                <a:gd name="connsiteY22" fmla="*/ 49923 h 58557"/>
                <a:gd name="connsiteX23" fmla="*/ 28089 w 37799"/>
                <a:gd name="connsiteY23" fmla="*/ 45117 h 58557"/>
                <a:gd name="connsiteX24" fmla="*/ 29219 w 37799"/>
                <a:gd name="connsiteY24" fmla="*/ 38058 h 58557"/>
                <a:gd name="connsiteX25" fmla="*/ 29754 w 37799"/>
                <a:gd name="connsiteY25" fmla="*/ 29219 h 5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799" h="58557">
                  <a:moveTo>
                    <a:pt x="77" y="29279"/>
                  </a:moveTo>
                  <a:cubicBezTo>
                    <a:pt x="-398" y="21745"/>
                    <a:pt x="1326" y="14211"/>
                    <a:pt x="5073" y="7626"/>
                  </a:cubicBezTo>
                  <a:cubicBezTo>
                    <a:pt x="9831" y="33"/>
                    <a:pt x="19941" y="-2281"/>
                    <a:pt x="27554" y="2465"/>
                  </a:cubicBezTo>
                  <a:cubicBezTo>
                    <a:pt x="29636" y="3770"/>
                    <a:pt x="31420" y="5550"/>
                    <a:pt x="32728" y="7626"/>
                  </a:cubicBezTo>
                  <a:cubicBezTo>
                    <a:pt x="36415" y="14211"/>
                    <a:pt x="38140" y="21745"/>
                    <a:pt x="37724" y="29279"/>
                  </a:cubicBezTo>
                  <a:cubicBezTo>
                    <a:pt x="38200" y="36812"/>
                    <a:pt x="36415" y="44346"/>
                    <a:pt x="32728" y="50931"/>
                  </a:cubicBezTo>
                  <a:cubicBezTo>
                    <a:pt x="27970" y="58524"/>
                    <a:pt x="17860" y="60838"/>
                    <a:pt x="10247" y="56092"/>
                  </a:cubicBezTo>
                  <a:cubicBezTo>
                    <a:pt x="8166" y="54787"/>
                    <a:pt x="6382" y="53007"/>
                    <a:pt x="5073" y="50931"/>
                  </a:cubicBezTo>
                  <a:cubicBezTo>
                    <a:pt x="1386" y="44346"/>
                    <a:pt x="-339" y="36812"/>
                    <a:pt x="77" y="29279"/>
                  </a:cubicBezTo>
                  <a:close/>
                  <a:moveTo>
                    <a:pt x="29695" y="29279"/>
                  </a:moveTo>
                  <a:cubicBezTo>
                    <a:pt x="29933" y="26372"/>
                    <a:pt x="29933" y="23465"/>
                    <a:pt x="29695" y="20618"/>
                  </a:cubicBezTo>
                  <a:cubicBezTo>
                    <a:pt x="29398" y="18126"/>
                    <a:pt x="28743" y="15694"/>
                    <a:pt x="27911" y="13321"/>
                  </a:cubicBezTo>
                  <a:cubicBezTo>
                    <a:pt x="27138" y="11482"/>
                    <a:pt x="26008" y="9821"/>
                    <a:pt x="24580" y="8516"/>
                  </a:cubicBezTo>
                  <a:cubicBezTo>
                    <a:pt x="23093" y="7270"/>
                    <a:pt x="21250" y="6618"/>
                    <a:pt x="19347" y="6736"/>
                  </a:cubicBezTo>
                  <a:cubicBezTo>
                    <a:pt x="17503" y="6677"/>
                    <a:pt x="15659" y="7329"/>
                    <a:pt x="14232" y="8516"/>
                  </a:cubicBezTo>
                  <a:cubicBezTo>
                    <a:pt x="12864" y="9880"/>
                    <a:pt x="11734" y="11541"/>
                    <a:pt x="11080" y="13321"/>
                  </a:cubicBezTo>
                  <a:cubicBezTo>
                    <a:pt x="10128" y="15694"/>
                    <a:pt x="9534" y="18126"/>
                    <a:pt x="9296" y="20618"/>
                  </a:cubicBezTo>
                  <a:cubicBezTo>
                    <a:pt x="9058" y="23524"/>
                    <a:pt x="9058" y="26431"/>
                    <a:pt x="9296" y="29279"/>
                  </a:cubicBezTo>
                  <a:cubicBezTo>
                    <a:pt x="9058" y="32185"/>
                    <a:pt x="9058" y="35092"/>
                    <a:pt x="9296" y="37940"/>
                  </a:cubicBezTo>
                  <a:cubicBezTo>
                    <a:pt x="9534" y="40431"/>
                    <a:pt x="10128" y="42804"/>
                    <a:pt x="11080" y="45117"/>
                  </a:cubicBezTo>
                  <a:cubicBezTo>
                    <a:pt x="11734" y="46956"/>
                    <a:pt x="12924" y="48617"/>
                    <a:pt x="14410" y="49923"/>
                  </a:cubicBezTo>
                  <a:cubicBezTo>
                    <a:pt x="15838" y="51168"/>
                    <a:pt x="17622" y="51880"/>
                    <a:pt x="19525" y="51880"/>
                  </a:cubicBezTo>
                  <a:cubicBezTo>
                    <a:pt x="21428" y="51880"/>
                    <a:pt x="23331" y="51228"/>
                    <a:pt x="24759" y="49923"/>
                  </a:cubicBezTo>
                  <a:cubicBezTo>
                    <a:pt x="26246" y="48617"/>
                    <a:pt x="27376" y="46956"/>
                    <a:pt x="28089" y="45117"/>
                  </a:cubicBezTo>
                  <a:cubicBezTo>
                    <a:pt x="28743" y="42804"/>
                    <a:pt x="29100" y="40490"/>
                    <a:pt x="29219" y="38058"/>
                  </a:cubicBezTo>
                  <a:cubicBezTo>
                    <a:pt x="29636" y="35151"/>
                    <a:pt x="29814" y="32185"/>
                    <a:pt x="29754" y="29219"/>
                  </a:cubicBez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79" name="Freeform: Shape 78">
              <a:extLst>
                <a:ext uri="{FF2B5EF4-FFF2-40B4-BE49-F238E27FC236}">
                  <a16:creationId xmlns:a16="http://schemas.microsoft.com/office/drawing/2014/main" id="{73EFBE20-42D5-36AB-E607-81A77D6F0C6D}"/>
                </a:ext>
              </a:extLst>
            </p:cNvPr>
            <p:cNvSpPr/>
            <p:nvPr/>
          </p:nvSpPr>
          <p:spPr>
            <a:xfrm>
              <a:off x="6509934" y="1274330"/>
              <a:ext cx="296060" cy="749370"/>
            </a:xfrm>
            <a:custGeom>
              <a:avLst/>
              <a:gdLst>
                <a:gd name="connsiteX0" fmla="*/ 0 w 22124"/>
                <a:gd name="connsiteY0" fmla="*/ 11627 h 55999"/>
                <a:gd name="connsiteX1" fmla="*/ 8980 w 22124"/>
                <a:gd name="connsiteY1" fmla="*/ 7059 h 55999"/>
                <a:gd name="connsiteX2" fmla="*/ 16712 w 22124"/>
                <a:gd name="connsiteY2" fmla="*/ 0 h 55999"/>
                <a:gd name="connsiteX3" fmla="*/ 22124 w 22124"/>
                <a:gd name="connsiteY3" fmla="*/ 0 h 55999"/>
                <a:gd name="connsiteX4" fmla="*/ 22124 w 22124"/>
                <a:gd name="connsiteY4" fmla="*/ 56000 h 55999"/>
                <a:gd name="connsiteX5" fmla="*/ 14511 w 22124"/>
                <a:gd name="connsiteY5" fmla="*/ 56000 h 55999"/>
                <a:gd name="connsiteX6" fmla="*/ 14511 w 22124"/>
                <a:gd name="connsiteY6" fmla="*/ 10500 h 55999"/>
                <a:gd name="connsiteX7" fmla="*/ 12133 w 22124"/>
                <a:gd name="connsiteY7" fmla="*/ 12280 h 55999"/>
                <a:gd name="connsiteX8" fmla="*/ 9099 w 22124"/>
                <a:gd name="connsiteY8" fmla="*/ 14237 h 55999"/>
                <a:gd name="connsiteX9" fmla="*/ 5531 w 22124"/>
                <a:gd name="connsiteY9" fmla="*/ 15898 h 55999"/>
                <a:gd name="connsiteX10" fmla="*/ 2082 w 22124"/>
                <a:gd name="connsiteY10" fmla="*/ 17263 h 55999"/>
                <a:gd name="connsiteX11" fmla="*/ 0 w 22124"/>
                <a:gd name="connsiteY11" fmla="*/ 11627 h 5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24" h="55999">
                  <a:moveTo>
                    <a:pt x="0" y="11627"/>
                  </a:moveTo>
                  <a:cubicBezTo>
                    <a:pt x="3093" y="10381"/>
                    <a:pt x="6126" y="8839"/>
                    <a:pt x="8980" y="7059"/>
                  </a:cubicBezTo>
                  <a:cubicBezTo>
                    <a:pt x="11835" y="5042"/>
                    <a:pt x="14452" y="2669"/>
                    <a:pt x="16712" y="0"/>
                  </a:cubicBezTo>
                  <a:lnTo>
                    <a:pt x="22124" y="0"/>
                  </a:lnTo>
                  <a:lnTo>
                    <a:pt x="22124" y="56000"/>
                  </a:lnTo>
                  <a:lnTo>
                    <a:pt x="14511" y="56000"/>
                  </a:lnTo>
                  <a:lnTo>
                    <a:pt x="14511" y="10500"/>
                  </a:lnTo>
                  <a:lnTo>
                    <a:pt x="12133" y="12280"/>
                  </a:lnTo>
                  <a:lnTo>
                    <a:pt x="9099" y="14237"/>
                  </a:lnTo>
                  <a:lnTo>
                    <a:pt x="5531" y="15898"/>
                  </a:lnTo>
                  <a:lnTo>
                    <a:pt x="2082" y="17263"/>
                  </a:lnTo>
                  <a:lnTo>
                    <a:pt x="0" y="11627"/>
                  </a:ln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80" name="Freeform: Shape 79">
              <a:extLst>
                <a:ext uri="{FF2B5EF4-FFF2-40B4-BE49-F238E27FC236}">
                  <a16:creationId xmlns:a16="http://schemas.microsoft.com/office/drawing/2014/main" id="{D1FC8252-C666-B34E-4A94-E42CCEB2F1A2}"/>
                </a:ext>
              </a:extLst>
            </p:cNvPr>
            <p:cNvSpPr/>
            <p:nvPr/>
          </p:nvSpPr>
          <p:spPr>
            <a:xfrm>
              <a:off x="4329241" y="3145914"/>
              <a:ext cx="505822" cy="783603"/>
            </a:xfrm>
            <a:custGeom>
              <a:avLst/>
              <a:gdLst>
                <a:gd name="connsiteX0" fmla="*/ 76 w 37799"/>
                <a:gd name="connsiteY0" fmla="*/ 29279 h 58557"/>
                <a:gd name="connsiteX1" fmla="*/ 5071 w 37799"/>
                <a:gd name="connsiteY1" fmla="*/ 7626 h 58557"/>
                <a:gd name="connsiteX2" fmla="*/ 27552 w 37799"/>
                <a:gd name="connsiteY2" fmla="*/ 2465 h 58557"/>
                <a:gd name="connsiteX3" fmla="*/ 32726 w 37799"/>
                <a:gd name="connsiteY3" fmla="*/ 7626 h 58557"/>
                <a:gd name="connsiteX4" fmla="*/ 37722 w 37799"/>
                <a:gd name="connsiteY4" fmla="*/ 29279 h 58557"/>
                <a:gd name="connsiteX5" fmla="*/ 32726 w 37799"/>
                <a:gd name="connsiteY5" fmla="*/ 50931 h 58557"/>
                <a:gd name="connsiteX6" fmla="*/ 10245 w 37799"/>
                <a:gd name="connsiteY6" fmla="*/ 56092 h 58557"/>
                <a:gd name="connsiteX7" fmla="*/ 5071 w 37799"/>
                <a:gd name="connsiteY7" fmla="*/ 50931 h 58557"/>
                <a:gd name="connsiteX8" fmla="*/ 76 w 37799"/>
                <a:gd name="connsiteY8" fmla="*/ 29279 h 58557"/>
                <a:gd name="connsiteX9" fmla="*/ 29693 w 37799"/>
                <a:gd name="connsiteY9" fmla="*/ 29279 h 58557"/>
                <a:gd name="connsiteX10" fmla="*/ 29693 w 37799"/>
                <a:gd name="connsiteY10" fmla="*/ 20618 h 58557"/>
                <a:gd name="connsiteX11" fmla="*/ 27909 w 37799"/>
                <a:gd name="connsiteY11" fmla="*/ 13440 h 58557"/>
                <a:gd name="connsiteX12" fmla="*/ 24578 w 37799"/>
                <a:gd name="connsiteY12" fmla="*/ 8635 h 58557"/>
                <a:gd name="connsiteX13" fmla="*/ 19345 w 37799"/>
                <a:gd name="connsiteY13" fmla="*/ 6677 h 58557"/>
                <a:gd name="connsiteX14" fmla="*/ 14230 w 37799"/>
                <a:gd name="connsiteY14" fmla="*/ 8635 h 58557"/>
                <a:gd name="connsiteX15" fmla="*/ 10900 w 37799"/>
                <a:gd name="connsiteY15" fmla="*/ 13440 h 58557"/>
                <a:gd name="connsiteX16" fmla="*/ 9115 w 37799"/>
                <a:gd name="connsiteY16" fmla="*/ 20618 h 58557"/>
                <a:gd name="connsiteX17" fmla="*/ 9115 w 37799"/>
                <a:gd name="connsiteY17" fmla="*/ 29279 h 58557"/>
                <a:gd name="connsiteX18" fmla="*/ 9115 w 37799"/>
                <a:gd name="connsiteY18" fmla="*/ 38117 h 58557"/>
                <a:gd name="connsiteX19" fmla="*/ 10900 w 37799"/>
                <a:gd name="connsiteY19" fmla="*/ 45295 h 58557"/>
                <a:gd name="connsiteX20" fmla="*/ 14230 w 37799"/>
                <a:gd name="connsiteY20" fmla="*/ 50100 h 58557"/>
                <a:gd name="connsiteX21" fmla="*/ 19345 w 37799"/>
                <a:gd name="connsiteY21" fmla="*/ 51880 h 58557"/>
                <a:gd name="connsiteX22" fmla="*/ 24578 w 37799"/>
                <a:gd name="connsiteY22" fmla="*/ 50100 h 58557"/>
                <a:gd name="connsiteX23" fmla="*/ 27909 w 37799"/>
                <a:gd name="connsiteY23" fmla="*/ 45295 h 58557"/>
                <a:gd name="connsiteX24" fmla="*/ 29693 w 37799"/>
                <a:gd name="connsiteY24" fmla="*/ 38117 h 58557"/>
                <a:gd name="connsiteX25" fmla="*/ 29693 w 37799"/>
                <a:gd name="connsiteY25" fmla="*/ 29279 h 5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799" h="58557">
                  <a:moveTo>
                    <a:pt x="76" y="29279"/>
                  </a:moveTo>
                  <a:cubicBezTo>
                    <a:pt x="-400" y="21745"/>
                    <a:pt x="1384" y="14211"/>
                    <a:pt x="5071" y="7626"/>
                  </a:cubicBezTo>
                  <a:cubicBezTo>
                    <a:pt x="9829" y="33"/>
                    <a:pt x="19940" y="-2281"/>
                    <a:pt x="27552" y="2465"/>
                  </a:cubicBezTo>
                  <a:cubicBezTo>
                    <a:pt x="29634" y="3770"/>
                    <a:pt x="31418" y="5550"/>
                    <a:pt x="32726" y="7626"/>
                  </a:cubicBezTo>
                  <a:cubicBezTo>
                    <a:pt x="36414" y="14211"/>
                    <a:pt x="38138" y="21745"/>
                    <a:pt x="37722" y="29279"/>
                  </a:cubicBezTo>
                  <a:cubicBezTo>
                    <a:pt x="38198" y="36812"/>
                    <a:pt x="36473" y="44346"/>
                    <a:pt x="32726" y="50931"/>
                  </a:cubicBezTo>
                  <a:cubicBezTo>
                    <a:pt x="27968" y="58524"/>
                    <a:pt x="17858" y="60838"/>
                    <a:pt x="10245" y="56092"/>
                  </a:cubicBezTo>
                  <a:cubicBezTo>
                    <a:pt x="8164" y="54787"/>
                    <a:pt x="6380" y="53007"/>
                    <a:pt x="5071" y="50931"/>
                  </a:cubicBezTo>
                  <a:cubicBezTo>
                    <a:pt x="1384" y="44346"/>
                    <a:pt x="-341" y="36812"/>
                    <a:pt x="76" y="29279"/>
                  </a:cubicBezTo>
                  <a:close/>
                  <a:moveTo>
                    <a:pt x="29693" y="29279"/>
                  </a:moveTo>
                  <a:cubicBezTo>
                    <a:pt x="29931" y="26372"/>
                    <a:pt x="29931" y="23465"/>
                    <a:pt x="29693" y="20618"/>
                  </a:cubicBezTo>
                  <a:cubicBezTo>
                    <a:pt x="29455" y="18126"/>
                    <a:pt x="28861" y="15753"/>
                    <a:pt x="27909" y="13440"/>
                  </a:cubicBezTo>
                  <a:cubicBezTo>
                    <a:pt x="27255" y="11601"/>
                    <a:pt x="26065" y="9940"/>
                    <a:pt x="24578" y="8635"/>
                  </a:cubicBezTo>
                  <a:cubicBezTo>
                    <a:pt x="23151" y="7389"/>
                    <a:pt x="21248" y="6677"/>
                    <a:pt x="19345" y="6677"/>
                  </a:cubicBezTo>
                  <a:cubicBezTo>
                    <a:pt x="17442" y="6677"/>
                    <a:pt x="15657" y="7329"/>
                    <a:pt x="14230" y="8635"/>
                  </a:cubicBezTo>
                  <a:cubicBezTo>
                    <a:pt x="12743" y="9940"/>
                    <a:pt x="11613" y="11601"/>
                    <a:pt x="10900" y="13440"/>
                  </a:cubicBezTo>
                  <a:cubicBezTo>
                    <a:pt x="9948" y="15753"/>
                    <a:pt x="9353" y="18126"/>
                    <a:pt x="9115" y="20618"/>
                  </a:cubicBezTo>
                  <a:cubicBezTo>
                    <a:pt x="8878" y="23524"/>
                    <a:pt x="8878" y="26431"/>
                    <a:pt x="9115" y="29279"/>
                  </a:cubicBezTo>
                  <a:cubicBezTo>
                    <a:pt x="8878" y="32245"/>
                    <a:pt x="8878" y="35151"/>
                    <a:pt x="9115" y="38117"/>
                  </a:cubicBezTo>
                  <a:cubicBezTo>
                    <a:pt x="9413" y="40550"/>
                    <a:pt x="10008" y="42982"/>
                    <a:pt x="10900" y="45295"/>
                  </a:cubicBezTo>
                  <a:cubicBezTo>
                    <a:pt x="11613" y="47134"/>
                    <a:pt x="12743" y="48795"/>
                    <a:pt x="14230" y="50100"/>
                  </a:cubicBezTo>
                  <a:cubicBezTo>
                    <a:pt x="15657" y="51346"/>
                    <a:pt x="17501" y="51939"/>
                    <a:pt x="19345" y="51880"/>
                  </a:cubicBezTo>
                  <a:cubicBezTo>
                    <a:pt x="21248" y="51939"/>
                    <a:pt x="23151" y="51346"/>
                    <a:pt x="24578" y="50100"/>
                  </a:cubicBezTo>
                  <a:cubicBezTo>
                    <a:pt x="26065" y="48795"/>
                    <a:pt x="27195" y="47134"/>
                    <a:pt x="27909" y="45295"/>
                  </a:cubicBezTo>
                  <a:cubicBezTo>
                    <a:pt x="28801" y="42982"/>
                    <a:pt x="29455" y="40609"/>
                    <a:pt x="29693" y="38117"/>
                  </a:cubicBezTo>
                  <a:cubicBezTo>
                    <a:pt x="29931" y="35151"/>
                    <a:pt x="29931" y="32245"/>
                    <a:pt x="29693" y="29279"/>
                  </a:cubicBezTo>
                  <a:close/>
                </a:path>
              </a:pathLst>
            </a:custGeom>
            <a:solidFill>
              <a:schemeClr val="bg1">
                <a:lumMod val="85000"/>
              </a:schemeClr>
            </a:solidFill>
            <a:ln w="590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ysClr val="windowText" lastClr="000000"/>
                </a:solidFill>
              </a:endParaRPr>
            </a:p>
          </p:txBody>
        </p:sp>
        <p:sp>
          <p:nvSpPr>
            <p:cNvPr id="81" name="Freeform: Shape 80">
              <a:extLst>
                <a:ext uri="{FF2B5EF4-FFF2-40B4-BE49-F238E27FC236}">
                  <a16:creationId xmlns:a16="http://schemas.microsoft.com/office/drawing/2014/main" id="{7E1D074C-D99A-410C-00D5-6176764E6866}"/>
                </a:ext>
              </a:extLst>
            </p:cNvPr>
            <p:cNvSpPr/>
            <p:nvPr/>
          </p:nvSpPr>
          <p:spPr>
            <a:xfrm>
              <a:off x="5136966" y="3159312"/>
              <a:ext cx="298443" cy="747792"/>
            </a:xfrm>
            <a:custGeom>
              <a:avLst/>
              <a:gdLst>
                <a:gd name="connsiteX0" fmla="*/ 59 w 22302"/>
                <a:gd name="connsiteY0" fmla="*/ 11449 h 55881"/>
                <a:gd name="connsiteX1" fmla="*/ 9040 w 22302"/>
                <a:gd name="connsiteY1" fmla="*/ 6881 h 55881"/>
                <a:gd name="connsiteX2" fmla="*/ 17069 w 22302"/>
                <a:gd name="connsiteY2" fmla="*/ 0 h 55881"/>
                <a:gd name="connsiteX3" fmla="*/ 22302 w 22302"/>
                <a:gd name="connsiteY3" fmla="*/ 0 h 55881"/>
                <a:gd name="connsiteX4" fmla="*/ 22302 w 22302"/>
                <a:gd name="connsiteY4" fmla="*/ 55881 h 55881"/>
                <a:gd name="connsiteX5" fmla="*/ 15225 w 22302"/>
                <a:gd name="connsiteY5" fmla="*/ 55881 h 55881"/>
                <a:gd name="connsiteX6" fmla="*/ 15225 w 22302"/>
                <a:gd name="connsiteY6" fmla="*/ 10381 h 55881"/>
                <a:gd name="connsiteX7" fmla="*/ 12846 w 22302"/>
                <a:gd name="connsiteY7" fmla="*/ 12339 h 55881"/>
                <a:gd name="connsiteX8" fmla="*/ 9694 w 22302"/>
                <a:gd name="connsiteY8" fmla="*/ 14119 h 55881"/>
                <a:gd name="connsiteX9" fmla="*/ 6245 w 22302"/>
                <a:gd name="connsiteY9" fmla="*/ 15898 h 55881"/>
                <a:gd name="connsiteX10" fmla="*/ 2795 w 22302"/>
                <a:gd name="connsiteY10" fmla="*/ 17144 h 55881"/>
                <a:gd name="connsiteX11" fmla="*/ 0 w 22302"/>
                <a:gd name="connsiteY11" fmla="*/ 11508 h 55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02" h="55881">
                  <a:moveTo>
                    <a:pt x="59" y="11449"/>
                  </a:moveTo>
                  <a:cubicBezTo>
                    <a:pt x="3212" y="10322"/>
                    <a:pt x="6245" y="8780"/>
                    <a:pt x="9040" y="6881"/>
                  </a:cubicBezTo>
                  <a:cubicBezTo>
                    <a:pt x="12014" y="4983"/>
                    <a:pt x="14749" y="2669"/>
                    <a:pt x="17069" y="0"/>
                  </a:cubicBezTo>
                  <a:lnTo>
                    <a:pt x="22302" y="0"/>
                  </a:lnTo>
                  <a:lnTo>
                    <a:pt x="22302" y="55881"/>
                  </a:lnTo>
                  <a:lnTo>
                    <a:pt x="15225" y="55881"/>
                  </a:lnTo>
                  <a:lnTo>
                    <a:pt x="15225" y="10381"/>
                  </a:lnTo>
                  <a:lnTo>
                    <a:pt x="12846" y="12339"/>
                  </a:lnTo>
                  <a:lnTo>
                    <a:pt x="9694" y="14119"/>
                  </a:lnTo>
                  <a:lnTo>
                    <a:pt x="6245" y="15898"/>
                  </a:lnTo>
                  <a:lnTo>
                    <a:pt x="2795" y="17144"/>
                  </a:lnTo>
                  <a:lnTo>
                    <a:pt x="0" y="11508"/>
                  </a:ln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102" name="Freeform: Shape 101">
              <a:extLst>
                <a:ext uri="{FF2B5EF4-FFF2-40B4-BE49-F238E27FC236}">
                  <a16:creationId xmlns:a16="http://schemas.microsoft.com/office/drawing/2014/main" id="{96903731-4008-90B8-53E4-23F13CEA9D2F}"/>
                </a:ext>
              </a:extLst>
            </p:cNvPr>
            <p:cNvSpPr/>
            <p:nvPr/>
          </p:nvSpPr>
          <p:spPr>
            <a:xfrm>
              <a:off x="5831004" y="3159312"/>
              <a:ext cx="298443" cy="747792"/>
            </a:xfrm>
            <a:custGeom>
              <a:avLst/>
              <a:gdLst>
                <a:gd name="connsiteX0" fmla="*/ 59 w 22302"/>
                <a:gd name="connsiteY0" fmla="*/ 11449 h 55881"/>
                <a:gd name="connsiteX1" fmla="*/ 9040 w 22302"/>
                <a:gd name="connsiteY1" fmla="*/ 6881 h 55881"/>
                <a:gd name="connsiteX2" fmla="*/ 17069 w 22302"/>
                <a:gd name="connsiteY2" fmla="*/ 0 h 55881"/>
                <a:gd name="connsiteX3" fmla="*/ 22302 w 22302"/>
                <a:gd name="connsiteY3" fmla="*/ 0 h 55881"/>
                <a:gd name="connsiteX4" fmla="*/ 22302 w 22302"/>
                <a:gd name="connsiteY4" fmla="*/ 55881 h 55881"/>
                <a:gd name="connsiteX5" fmla="*/ 14809 w 22302"/>
                <a:gd name="connsiteY5" fmla="*/ 55881 h 55881"/>
                <a:gd name="connsiteX6" fmla="*/ 14809 w 22302"/>
                <a:gd name="connsiteY6" fmla="*/ 10381 h 55881"/>
                <a:gd name="connsiteX7" fmla="*/ 12430 w 22302"/>
                <a:gd name="connsiteY7" fmla="*/ 12339 h 55881"/>
                <a:gd name="connsiteX8" fmla="*/ 9278 w 22302"/>
                <a:gd name="connsiteY8" fmla="*/ 14119 h 55881"/>
                <a:gd name="connsiteX9" fmla="*/ 5828 w 22302"/>
                <a:gd name="connsiteY9" fmla="*/ 15898 h 55881"/>
                <a:gd name="connsiteX10" fmla="*/ 2379 w 22302"/>
                <a:gd name="connsiteY10" fmla="*/ 17144 h 55881"/>
                <a:gd name="connsiteX11" fmla="*/ 0 w 22302"/>
                <a:gd name="connsiteY11" fmla="*/ 11508 h 55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02" h="55881">
                  <a:moveTo>
                    <a:pt x="59" y="11449"/>
                  </a:moveTo>
                  <a:cubicBezTo>
                    <a:pt x="3212" y="10322"/>
                    <a:pt x="6245" y="8780"/>
                    <a:pt x="9040" y="6881"/>
                  </a:cubicBezTo>
                  <a:cubicBezTo>
                    <a:pt x="12014" y="4983"/>
                    <a:pt x="14749" y="2669"/>
                    <a:pt x="17069" y="0"/>
                  </a:cubicBezTo>
                  <a:lnTo>
                    <a:pt x="22302" y="0"/>
                  </a:lnTo>
                  <a:lnTo>
                    <a:pt x="22302" y="55881"/>
                  </a:lnTo>
                  <a:lnTo>
                    <a:pt x="14809" y="55881"/>
                  </a:lnTo>
                  <a:lnTo>
                    <a:pt x="14809" y="10381"/>
                  </a:lnTo>
                  <a:lnTo>
                    <a:pt x="12430" y="12339"/>
                  </a:lnTo>
                  <a:lnTo>
                    <a:pt x="9278" y="14119"/>
                  </a:lnTo>
                  <a:lnTo>
                    <a:pt x="5828" y="15898"/>
                  </a:lnTo>
                  <a:lnTo>
                    <a:pt x="2379" y="17144"/>
                  </a:lnTo>
                  <a:lnTo>
                    <a:pt x="0" y="11508"/>
                  </a:ln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103" name="Freeform: Shape 102">
              <a:extLst>
                <a:ext uri="{FF2B5EF4-FFF2-40B4-BE49-F238E27FC236}">
                  <a16:creationId xmlns:a16="http://schemas.microsoft.com/office/drawing/2014/main" id="{87EED090-5D92-7D5F-E5D8-B6E3B0A17DC4}"/>
                </a:ext>
              </a:extLst>
            </p:cNvPr>
            <p:cNvSpPr/>
            <p:nvPr/>
          </p:nvSpPr>
          <p:spPr>
            <a:xfrm>
              <a:off x="6508690" y="3159312"/>
              <a:ext cx="300035" cy="747792"/>
            </a:xfrm>
            <a:custGeom>
              <a:avLst/>
              <a:gdLst>
                <a:gd name="connsiteX0" fmla="*/ 0 w 22421"/>
                <a:gd name="connsiteY0" fmla="*/ 11449 h 55881"/>
                <a:gd name="connsiteX1" fmla="*/ 8980 w 22421"/>
                <a:gd name="connsiteY1" fmla="*/ 6881 h 55881"/>
                <a:gd name="connsiteX2" fmla="*/ 17009 w 22421"/>
                <a:gd name="connsiteY2" fmla="*/ 0 h 55881"/>
                <a:gd name="connsiteX3" fmla="*/ 22421 w 22421"/>
                <a:gd name="connsiteY3" fmla="*/ 0 h 55881"/>
                <a:gd name="connsiteX4" fmla="*/ 22421 w 22421"/>
                <a:gd name="connsiteY4" fmla="*/ 55881 h 55881"/>
                <a:gd name="connsiteX5" fmla="*/ 14809 w 22421"/>
                <a:gd name="connsiteY5" fmla="*/ 55881 h 55881"/>
                <a:gd name="connsiteX6" fmla="*/ 14809 w 22421"/>
                <a:gd name="connsiteY6" fmla="*/ 10381 h 55881"/>
                <a:gd name="connsiteX7" fmla="*/ 12430 w 22421"/>
                <a:gd name="connsiteY7" fmla="*/ 12339 h 55881"/>
                <a:gd name="connsiteX8" fmla="*/ 9397 w 22421"/>
                <a:gd name="connsiteY8" fmla="*/ 14119 h 55881"/>
                <a:gd name="connsiteX9" fmla="*/ 5828 w 22421"/>
                <a:gd name="connsiteY9" fmla="*/ 15898 h 55881"/>
                <a:gd name="connsiteX10" fmla="*/ 2379 w 22421"/>
                <a:gd name="connsiteY10" fmla="*/ 17144 h 55881"/>
                <a:gd name="connsiteX11" fmla="*/ 0 w 22421"/>
                <a:gd name="connsiteY11" fmla="*/ 11508 h 55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421" h="55881">
                  <a:moveTo>
                    <a:pt x="0" y="11449"/>
                  </a:moveTo>
                  <a:cubicBezTo>
                    <a:pt x="3152" y="10322"/>
                    <a:pt x="6185" y="8780"/>
                    <a:pt x="8980" y="6881"/>
                  </a:cubicBezTo>
                  <a:cubicBezTo>
                    <a:pt x="11954" y="4983"/>
                    <a:pt x="14690" y="2669"/>
                    <a:pt x="17009" y="0"/>
                  </a:cubicBezTo>
                  <a:lnTo>
                    <a:pt x="22421" y="0"/>
                  </a:lnTo>
                  <a:lnTo>
                    <a:pt x="22421" y="55881"/>
                  </a:lnTo>
                  <a:lnTo>
                    <a:pt x="14809" y="55881"/>
                  </a:lnTo>
                  <a:lnTo>
                    <a:pt x="14809" y="10381"/>
                  </a:lnTo>
                  <a:lnTo>
                    <a:pt x="12430" y="12339"/>
                  </a:lnTo>
                  <a:lnTo>
                    <a:pt x="9397" y="14119"/>
                  </a:lnTo>
                  <a:cubicBezTo>
                    <a:pt x="8267" y="14771"/>
                    <a:pt x="7018" y="15424"/>
                    <a:pt x="5828" y="15898"/>
                  </a:cubicBezTo>
                  <a:lnTo>
                    <a:pt x="2379" y="17144"/>
                  </a:lnTo>
                  <a:lnTo>
                    <a:pt x="0" y="11508"/>
                  </a:ln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104" name="Freeform: Shape 103">
              <a:extLst>
                <a:ext uri="{FF2B5EF4-FFF2-40B4-BE49-F238E27FC236}">
                  <a16:creationId xmlns:a16="http://schemas.microsoft.com/office/drawing/2014/main" id="{A0B92C21-3BD8-1FD9-4B7F-EA83B3D3B8B1}"/>
                </a:ext>
              </a:extLst>
            </p:cNvPr>
            <p:cNvSpPr/>
            <p:nvPr/>
          </p:nvSpPr>
          <p:spPr>
            <a:xfrm>
              <a:off x="7116086" y="3146179"/>
              <a:ext cx="506612" cy="783199"/>
            </a:xfrm>
            <a:custGeom>
              <a:avLst/>
              <a:gdLst>
                <a:gd name="connsiteX0" fmla="*/ 76 w 37858"/>
                <a:gd name="connsiteY0" fmla="*/ 29249 h 58527"/>
                <a:gd name="connsiteX1" fmla="*/ 5071 w 37858"/>
                <a:gd name="connsiteY1" fmla="*/ 7597 h 58527"/>
                <a:gd name="connsiteX2" fmla="*/ 18929 w 37858"/>
                <a:gd name="connsiteY2" fmla="*/ 3 h 58527"/>
                <a:gd name="connsiteX3" fmla="*/ 32786 w 37858"/>
                <a:gd name="connsiteY3" fmla="*/ 7597 h 58527"/>
                <a:gd name="connsiteX4" fmla="*/ 37781 w 37858"/>
                <a:gd name="connsiteY4" fmla="*/ 29249 h 58527"/>
                <a:gd name="connsiteX5" fmla="*/ 32786 w 37858"/>
                <a:gd name="connsiteY5" fmla="*/ 50902 h 58527"/>
                <a:gd name="connsiteX6" fmla="*/ 10305 w 37858"/>
                <a:gd name="connsiteY6" fmla="*/ 56063 h 58527"/>
                <a:gd name="connsiteX7" fmla="*/ 5131 w 37858"/>
                <a:gd name="connsiteY7" fmla="*/ 50902 h 58527"/>
                <a:gd name="connsiteX8" fmla="*/ 135 w 37858"/>
                <a:gd name="connsiteY8" fmla="*/ 29249 h 58527"/>
                <a:gd name="connsiteX9" fmla="*/ 29812 w 37858"/>
                <a:gd name="connsiteY9" fmla="*/ 29249 h 58527"/>
                <a:gd name="connsiteX10" fmla="*/ 29812 w 37858"/>
                <a:gd name="connsiteY10" fmla="*/ 20588 h 58527"/>
                <a:gd name="connsiteX11" fmla="*/ 28028 w 37858"/>
                <a:gd name="connsiteY11" fmla="*/ 13410 h 58527"/>
                <a:gd name="connsiteX12" fmla="*/ 24697 w 37858"/>
                <a:gd name="connsiteY12" fmla="*/ 8605 h 58527"/>
                <a:gd name="connsiteX13" fmla="*/ 19464 w 37858"/>
                <a:gd name="connsiteY13" fmla="*/ 6648 h 58527"/>
                <a:gd name="connsiteX14" fmla="*/ 14349 w 37858"/>
                <a:gd name="connsiteY14" fmla="*/ 8605 h 58527"/>
                <a:gd name="connsiteX15" fmla="*/ 10900 w 37858"/>
                <a:gd name="connsiteY15" fmla="*/ 13410 h 58527"/>
                <a:gd name="connsiteX16" fmla="*/ 9234 w 37858"/>
                <a:gd name="connsiteY16" fmla="*/ 20588 h 58527"/>
                <a:gd name="connsiteX17" fmla="*/ 9234 w 37858"/>
                <a:gd name="connsiteY17" fmla="*/ 29249 h 58527"/>
                <a:gd name="connsiteX18" fmla="*/ 9234 w 37858"/>
                <a:gd name="connsiteY18" fmla="*/ 38088 h 58527"/>
                <a:gd name="connsiteX19" fmla="*/ 10900 w 37858"/>
                <a:gd name="connsiteY19" fmla="*/ 45266 h 58527"/>
                <a:gd name="connsiteX20" fmla="*/ 14349 w 37858"/>
                <a:gd name="connsiteY20" fmla="*/ 50071 h 58527"/>
                <a:gd name="connsiteX21" fmla="*/ 19464 w 37858"/>
                <a:gd name="connsiteY21" fmla="*/ 51851 h 58527"/>
                <a:gd name="connsiteX22" fmla="*/ 24697 w 37858"/>
                <a:gd name="connsiteY22" fmla="*/ 50071 h 58527"/>
                <a:gd name="connsiteX23" fmla="*/ 28028 w 37858"/>
                <a:gd name="connsiteY23" fmla="*/ 45266 h 58527"/>
                <a:gd name="connsiteX24" fmla="*/ 29812 w 37858"/>
                <a:gd name="connsiteY24" fmla="*/ 38088 h 58527"/>
                <a:gd name="connsiteX25" fmla="*/ 29812 w 37858"/>
                <a:gd name="connsiteY25" fmla="*/ 29249 h 58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858" h="58527">
                  <a:moveTo>
                    <a:pt x="76" y="29249"/>
                  </a:moveTo>
                  <a:cubicBezTo>
                    <a:pt x="-400" y="21715"/>
                    <a:pt x="1384" y="14181"/>
                    <a:pt x="5071" y="7597"/>
                  </a:cubicBezTo>
                  <a:cubicBezTo>
                    <a:pt x="7985" y="2792"/>
                    <a:pt x="13279" y="-56"/>
                    <a:pt x="18929" y="3"/>
                  </a:cubicBezTo>
                  <a:cubicBezTo>
                    <a:pt x="24578" y="-115"/>
                    <a:pt x="29812" y="2792"/>
                    <a:pt x="32786" y="7597"/>
                  </a:cubicBezTo>
                  <a:cubicBezTo>
                    <a:pt x="36473" y="14181"/>
                    <a:pt x="38198" y="21715"/>
                    <a:pt x="37781" y="29249"/>
                  </a:cubicBezTo>
                  <a:cubicBezTo>
                    <a:pt x="38257" y="36783"/>
                    <a:pt x="36533" y="44317"/>
                    <a:pt x="32786" y="50902"/>
                  </a:cubicBezTo>
                  <a:cubicBezTo>
                    <a:pt x="28028" y="58495"/>
                    <a:pt x="17917" y="60808"/>
                    <a:pt x="10305" y="56063"/>
                  </a:cubicBezTo>
                  <a:cubicBezTo>
                    <a:pt x="8223" y="54757"/>
                    <a:pt x="6439" y="52978"/>
                    <a:pt x="5131" y="50902"/>
                  </a:cubicBezTo>
                  <a:cubicBezTo>
                    <a:pt x="1443" y="44317"/>
                    <a:pt x="-281" y="36783"/>
                    <a:pt x="135" y="29249"/>
                  </a:cubicBezTo>
                  <a:close/>
                  <a:moveTo>
                    <a:pt x="29812" y="29249"/>
                  </a:moveTo>
                  <a:cubicBezTo>
                    <a:pt x="29931" y="26342"/>
                    <a:pt x="29931" y="23436"/>
                    <a:pt x="29812" y="20588"/>
                  </a:cubicBezTo>
                  <a:cubicBezTo>
                    <a:pt x="29515" y="18156"/>
                    <a:pt x="28861" y="15724"/>
                    <a:pt x="28028" y="13410"/>
                  </a:cubicBezTo>
                  <a:cubicBezTo>
                    <a:pt x="27374" y="11571"/>
                    <a:pt x="26184" y="9910"/>
                    <a:pt x="24697" y="8605"/>
                  </a:cubicBezTo>
                  <a:cubicBezTo>
                    <a:pt x="23270" y="7359"/>
                    <a:pt x="21367" y="6648"/>
                    <a:pt x="19464" y="6648"/>
                  </a:cubicBezTo>
                  <a:cubicBezTo>
                    <a:pt x="17561" y="6648"/>
                    <a:pt x="15717" y="7300"/>
                    <a:pt x="14349" y="8605"/>
                  </a:cubicBezTo>
                  <a:cubicBezTo>
                    <a:pt x="12803" y="9910"/>
                    <a:pt x="11613" y="11571"/>
                    <a:pt x="10900" y="13410"/>
                  </a:cubicBezTo>
                  <a:cubicBezTo>
                    <a:pt x="10008" y="15724"/>
                    <a:pt x="9472" y="18097"/>
                    <a:pt x="9234" y="20588"/>
                  </a:cubicBezTo>
                  <a:cubicBezTo>
                    <a:pt x="8997" y="23495"/>
                    <a:pt x="8997" y="26402"/>
                    <a:pt x="9234" y="29249"/>
                  </a:cubicBezTo>
                  <a:cubicBezTo>
                    <a:pt x="8997" y="32215"/>
                    <a:pt x="8997" y="35122"/>
                    <a:pt x="9234" y="38088"/>
                  </a:cubicBezTo>
                  <a:cubicBezTo>
                    <a:pt x="9472" y="40520"/>
                    <a:pt x="10008" y="42952"/>
                    <a:pt x="10900" y="45266"/>
                  </a:cubicBezTo>
                  <a:cubicBezTo>
                    <a:pt x="11673" y="47105"/>
                    <a:pt x="12862" y="48766"/>
                    <a:pt x="14349" y="50071"/>
                  </a:cubicBezTo>
                  <a:cubicBezTo>
                    <a:pt x="15776" y="51317"/>
                    <a:pt x="17620" y="51969"/>
                    <a:pt x="19464" y="51851"/>
                  </a:cubicBezTo>
                  <a:cubicBezTo>
                    <a:pt x="21367" y="51851"/>
                    <a:pt x="23270" y="51257"/>
                    <a:pt x="24697" y="50071"/>
                  </a:cubicBezTo>
                  <a:cubicBezTo>
                    <a:pt x="26184" y="48766"/>
                    <a:pt x="27314" y="47105"/>
                    <a:pt x="28028" y="45266"/>
                  </a:cubicBezTo>
                  <a:cubicBezTo>
                    <a:pt x="28861" y="42952"/>
                    <a:pt x="29515" y="40520"/>
                    <a:pt x="29812" y="38088"/>
                  </a:cubicBezTo>
                  <a:cubicBezTo>
                    <a:pt x="29991" y="35122"/>
                    <a:pt x="29991" y="32215"/>
                    <a:pt x="29812" y="29249"/>
                  </a:cubicBez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sp>
          <p:nvSpPr>
            <p:cNvPr id="105" name="Freeform: Shape 104">
              <a:extLst>
                <a:ext uri="{FF2B5EF4-FFF2-40B4-BE49-F238E27FC236}">
                  <a16:creationId xmlns:a16="http://schemas.microsoft.com/office/drawing/2014/main" id="{F1E878F6-BE70-FD4C-5749-F2921AD5B34C}"/>
                </a:ext>
              </a:extLst>
            </p:cNvPr>
            <p:cNvSpPr/>
            <p:nvPr/>
          </p:nvSpPr>
          <p:spPr>
            <a:xfrm>
              <a:off x="5043563" y="4100948"/>
              <a:ext cx="505621" cy="782009"/>
            </a:xfrm>
            <a:custGeom>
              <a:avLst/>
              <a:gdLst>
                <a:gd name="connsiteX0" fmla="*/ 77 w 37784"/>
                <a:gd name="connsiteY0" fmla="*/ 29279 h 58438"/>
                <a:gd name="connsiteX1" fmla="*/ 5073 w 37784"/>
                <a:gd name="connsiteY1" fmla="*/ 7626 h 58438"/>
                <a:gd name="connsiteX2" fmla="*/ 27554 w 37784"/>
                <a:gd name="connsiteY2" fmla="*/ 2465 h 58438"/>
                <a:gd name="connsiteX3" fmla="*/ 32728 w 37784"/>
                <a:gd name="connsiteY3" fmla="*/ 7626 h 58438"/>
                <a:gd name="connsiteX4" fmla="*/ 37724 w 37784"/>
                <a:gd name="connsiteY4" fmla="*/ 29279 h 58438"/>
                <a:gd name="connsiteX5" fmla="*/ 32728 w 37784"/>
                <a:gd name="connsiteY5" fmla="*/ 50812 h 58438"/>
                <a:gd name="connsiteX6" fmla="*/ 10247 w 37784"/>
                <a:gd name="connsiteY6" fmla="*/ 55973 h 58438"/>
                <a:gd name="connsiteX7" fmla="*/ 5073 w 37784"/>
                <a:gd name="connsiteY7" fmla="*/ 50812 h 58438"/>
                <a:gd name="connsiteX8" fmla="*/ 77 w 37784"/>
                <a:gd name="connsiteY8" fmla="*/ 29279 h 58438"/>
                <a:gd name="connsiteX9" fmla="*/ 29695 w 37784"/>
                <a:gd name="connsiteY9" fmla="*/ 29279 h 58438"/>
                <a:gd name="connsiteX10" fmla="*/ 29695 w 37784"/>
                <a:gd name="connsiteY10" fmla="*/ 20440 h 58438"/>
                <a:gd name="connsiteX11" fmla="*/ 27911 w 37784"/>
                <a:gd name="connsiteY11" fmla="*/ 13262 h 58438"/>
                <a:gd name="connsiteX12" fmla="*/ 24580 w 37784"/>
                <a:gd name="connsiteY12" fmla="*/ 8457 h 58438"/>
                <a:gd name="connsiteX13" fmla="*/ 19347 w 37784"/>
                <a:gd name="connsiteY13" fmla="*/ 6677 h 58438"/>
                <a:gd name="connsiteX14" fmla="*/ 14232 w 37784"/>
                <a:gd name="connsiteY14" fmla="*/ 8457 h 58438"/>
                <a:gd name="connsiteX15" fmla="*/ 10901 w 37784"/>
                <a:gd name="connsiteY15" fmla="*/ 13262 h 58438"/>
                <a:gd name="connsiteX16" fmla="*/ 9117 w 37784"/>
                <a:gd name="connsiteY16" fmla="*/ 20440 h 58438"/>
                <a:gd name="connsiteX17" fmla="*/ 9117 w 37784"/>
                <a:gd name="connsiteY17" fmla="*/ 29279 h 58438"/>
                <a:gd name="connsiteX18" fmla="*/ 9117 w 37784"/>
                <a:gd name="connsiteY18" fmla="*/ 37940 h 58438"/>
                <a:gd name="connsiteX19" fmla="*/ 10901 w 37784"/>
                <a:gd name="connsiteY19" fmla="*/ 45117 h 58438"/>
                <a:gd name="connsiteX20" fmla="*/ 14232 w 37784"/>
                <a:gd name="connsiteY20" fmla="*/ 49923 h 58438"/>
                <a:gd name="connsiteX21" fmla="*/ 19347 w 37784"/>
                <a:gd name="connsiteY21" fmla="*/ 51702 h 58438"/>
                <a:gd name="connsiteX22" fmla="*/ 24580 w 37784"/>
                <a:gd name="connsiteY22" fmla="*/ 49923 h 58438"/>
                <a:gd name="connsiteX23" fmla="*/ 27911 w 37784"/>
                <a:gd name="connsiteY23" fmla="*/ 45117 h 58438"/>
                <a:gd name="connsiteX24" fmla="*/ 29695 w 37784"/>
                <a:gd name="connsiteY24" fmla="*/ 37940 h 58438"/>
                <a:gd name="connsiteX25" fmla="*/ 29695 w 37784"/>
                <a:gd name="connsiteY25" fmla="*/ 29279 h 5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784" h="58438">
                  <a:moveTo>
                    <a:pt x="77" y="29279"/>
                  </a:moveTo>
                  <a:cubicBezTo>
                    <a:pt x="-398" y="21745"/>
                    <a:pt x="1326" y="14211"/>
                    <a:pt x="5073" y="7626"/>
                  </a:cubicBezTo>
                  <a:cubicBezTo>
                    <a:pt x="9831" y="33"/>
                    <a:pt x="19941" y="-2281"/>
                    <a:pt x="27554" y="2465"/>
                  </a:cubicBezTo>
                  <a:cubicBezTo>
                    <a:pt x="29636" y="3770"/>
                    <a:pt x="31420" y="5550"/>
                    <a:pt x="32728" y="7626"/>
                  </a:cubicBezTo>
                  <a:cubicBezTo>
                    <a:pt x="36415" y="14211"/>
                    <a:pt x="38140" y="21745"/>
                    <a:pt x="37724" y="29279"/>
                  </a:cubicBezTo>
                  <a:cubicBezTo>
                    <a:pt x="38140" y="36753"/>
                    <a:pt x="36415" y="44228"/>
                    <a:pt x="32728" y="50812"/>
                  </a:cubicBezTo>
                  <a:cubicBezTo>
                    <a:pt x="27970" y="58406"/>
                    <a:pt x="17860" y="60719"/>
                    <a:pt x="10247" y="55973"/>
                  </a:cubicBezTo>
                  <a:cubicBezTo>
                    <a:pt x="8166" y="54668"/>
                    <a:pt x="6382" y="52889"/>
                    <a:pt x="5073" y="50812"/>
                  </a:cubicBezTo>
                  <a:cubicBezTo>
                    <a:pt x="1386" y="44287"/>
                    <a:pt x="-339" y="36812"/>
                    <a:pt x="77" y="29279"/>
                  </a:cubicBezTo>
                  <a:close/>
                  <a:moveTo>
                    <a:pt x="29695" y="29279"/>
                  </a:moveTo>
                  <a:cubicBezTo>
                    <a:pt x="29933" y="26312"/>
                    <a:pt x="29933" y="23406"/>
                    <a:pt x="29695" y="20440"/>
                  </a:cubicBezTo>
                  <a:cubicBezTo>
                    <a:pt x="29398" y="18007"/>
                    <a:pt x="28743" y="15575"/>
                    <a:pt x="27911" y="13262"/>
                  </a:cubicBezTo>
                  <a:cubicBezTo>
                    <a:pt x="27197" y="11423"/>
                    <a:pt x="26067" y="9762"/>
                    <a:pt x="24580" y="8457"/>
                  </a:cubicBezTo>
                  <a:cubicBezTo>
                    <a:pt x="23093" y="7211"/>
                    <a:pt x="21250" y="6558"/>
                    <a:pt x="19347" y="6677"/>
                  </a:cubicBezTo>
                  <a:cubicBezTo>
                    <a:pt x="17503" y="6618"/>
                    <a:pt x="15659" y="7270"/>
                    <a:pt x="14232" y="8457"/>
                  </a:cubicBezTo>
                  <a:cubicBezTo>
                    <a:pt x="12745" y="9762"/>
                    <a:pt x="11615" y="11423"/>
                    <a:pt x="10901" y="13262"/>
                  </a:cubicBezTo>
                  <a:cubicBezTo>
                    <a:pt x="9950" y="15575"/>
                    <a:pt x="9355" y="17948"/>
                    <a:pt x="9117" y="20440"/>
                  </a:cubicBezTo>
                  <a:cubicBezTo>
                    <a:pt x="8879" y="23406"/>
                    <a:pt x="8879" y="26312"/>
                    <a:pt x="9117" y="29279"/>
                  </a:cubicBezTo>
                  <a:cubicBezTo>
                    <a:pt x="8879" y="32185"/>
                    <a:pt x="8879" y="35092"/>
                    <a:pt x="9117" y="37940"/>
                  </a:cubicBezTo>
                  <a:cubicBezTo>
                    <a:pt x="9355" y="40431"/>
                    <a:pt x="9950" y="42804"/>
                    <a:pt x="10901" y="45117"/>
                  </a:cubicBezTo>
                  <a:cubicBezTo>
                    <a:pt x="11556" y="46956"/>
                    <a:pt x="12745" y="48617"/>
                    <a:pt x="14232" y="49923"/>
                  </a:cubicBezTo>
                  <a:cubicBezTo>
                    <a:pt x="15659" y="51168"/>
                    <a:pt x="17503" y="51761"/>
                    <a:pt x="19347" y="51702"/>
                  </a:cubicBezTo>
                  <a:cubicBezTo>
                    <a:pt x="21250" y="51761"/>
                    <a:pt x="23153" y="51168"/>
                    <a:pt x="24580" y="49923"/>
                  </a:cubicBezTo>
                  <a:cubicBezTo>
                    <a:pt x="26067" y="48617"/>
                    <a:pt x="27197" y="46956"/>
                    <a:pt x="27911" y="45117"/>
                  </a:cubicBezTo>
                  <a:cubicBezTo>
                    <a:pt x="28803" y="42804"/>
                    <a:pt x="29398" y="40372"/>
                    <a:pt x="29695" y="37940"/>
                  </a:cubicBezTo>
                  <a:cubicBezTo>
                    <a:pt x="29933" y="35033"/>
                    <a:pt x="29933" y="32126"/>
                    <a:pt x="29695" y="29279"/>
                  </a:cubicBezTo>
                  <a:close/>
                </a:path>
              </a:pathLst>
            </a:custGeom>
            <a:solidFill>
              <a:schemeClr val="bg1">
                <a:lumMod val="85000"/>
              </a:schemeClr>
            </a:solidFill>
            <a:ln w="590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ysClr val="windowText" lastClr="000000"/>
                </a:solidFill>
              </a:endParaRPr>
            </a:p>
          </p:txBody>
        </p:sp>
        <p:sp>
          <p:nvSpPr>
            <p:cNvPr id="106" name="Freeform: Shape 105">
              <a:extLst>
                <a:ext uri="{FF2B5EF4-FFF2-40B4-BE49-F238E27FC236}">
                  <a16:creationId xmlns:a16="http://schemas.microsoft.com/office/drawing/2014/main" id="{C293C532-73FB-52BF-A8C1-81FB019C0D54}"/>
                </a:ext>
              </a:extLst>
            </p:cNvPr>
            <p:cNvSpPr/>
            <p:nvPr/>
          </p:nvSpPr>
          <p:spPr>
            <a:xfrm>
              <a:off x="5831004" y="4112711"/>
              <a:ext cx="298443" cy="749372"/>
            </a:xfrm>
            <a:custGeom>
              <a:avLst/>
              <a:gdLst>
                <a:gd name="connsiteX0" fmla="*/ 59 w 22302"/>
                <a:gd name="connsiteY0" fmla="*/ 11627 h 55999"/>
                <a:gd name="connsiteX1" fmla="*/ 9040 w 22302"/>
                <a:gd name="connsiteY1" fmla="*/ 7059 h 55999"/>
                <a:gd name="connsiteX2" fmla="*/ 17069 w 22302"/>
                <a:gd name="connsiteY2" fmla="*/ 0 h 55999"/>
                <a:gd name="connsiteX3" fmla="*/ 22302 w 22302"/>
                <a:gd name="connsiteY3" fmla="*/ 0 h 55999"/>
                <a:gd name="connsiteX4" fmla="*/ 22302 w 22302"/>
                <a:gd name="connsiteY4" fmla="*/ 56000 h 55999"/>
                <a:gd name="connsiteX5" fmla="*/ 14809 w 22302"/>
                <a:gd name="connsiteY5" fmla="*/ 56000 h 55999"/>
                <a:gd name="connsiteX6" fmla="*/ 14809 w 22302"/>
                <a:gd name="connsiteY6" fmla="*/ 10500 h 55999"/>
                <a:gd name="connsiteX7" fmla="*/ 12430 w 22302"/>
                <a:gd name="connsiteY7" fmla="*/ 12280 h 55999"/>
                <a:gd name="connsiteX8" fmla="*/ 9278 w 22302"/>
                <a:gd name="connsiteY8" fmla="*/ 14059 h 55999"/>
                <a:gd name="connsiteX9" fmla="*/ 5828 w 22302"/>
                <a:gd name="connsiteY9" fmla="*/ 15839 h 55999"/>
                <a:gd name="connsiteX10" fmla="*/ 2379 w 22302"/>
                <a:gd name="connsiteY10" fmla="*/ 17203 h 55999"/>
                <a:gd name="connsiteX11" fmla="*/ 0 w 22302"/>
                <a:gd name="connsiteY11" fmla="*/ 11568 h 5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02" h="55999">
                  <a:moveTo>
                    <a:pt x="59" y="11627"/>
                  </a:moveTo>
                  <a:cubicBezTo>
                    <a:pt x="3152" y="10381"/>
                    <a:pt x="6185" y="8839"/>
                    <a:pt x="9040" y="7059"/>
                  </a:cubicBezTo>
                  <a:cubicBezTo>
                    <a:pt x="12014" y="5042"/>
                    <a:pt x="14690" y="2669"/>
                    <a:pt x="17069" y="0"/>
                  </a:cubicBezTo>
                  <a:lnTo>
                    <a:pt x="22302" y="0"/>
                  </a:lnTo>
                  <a:lnTo>
                    <a:pt x="22302" y="56000"/>
                  </a:lnTo>
                  <a:lnTo>
                    <a:pt x="14809" y="56000"/>
                  </a:lnTo>
                  <a:lnTo>
                    <a:pt x="14809" y="10500"/>
                  </a:lnTo>
                  <a:lnTo>
                    <a:pt x="12430" y="12280"/>
                  </a:lnTo>
                  <a:cubicBezTo>
                    <a:pt x="11419" y="12932"/>
                    <a:pt x="10348" y="13585"/>
                    <a:pt x="9278" y="14059"/>
                  </a:cubicBezTo>
                  <a:lnTo>
                    <a:pt x="5828" y="15839"/>
                  </a:lnTo>
                  <a:lnTo>
                    <a:pt x="2379" y="17203"/>
                  </a:lnTo>
                  <a:lnTo>
                    <a:pt x="0" y="11568"/>
                  </a:lnTo>
                  <a:close/>
                </a:path>
              </a:pathLst>
            </a:custGeom>
            <a:solidFill>
              <a:schemeClr val="bg1">
                <a:lumMod val="85000"/>
              </a:schemeClr>
            </a:solidFill>
            <a:ln w="5906" cap="flat">
              <a:noFill/>
              <a:prstDash val="solid"/>
              <a:miter/>
            </a:ln>
          </p:spPr>
          <p:txBody>
            <a:bodyPr rtlCol="0" anchor="ctr"/>
            <a:lstStyle/>
            <a:p>
              <a:endParaRPr lang="en-US">
                <a:solidFill>
                  <a:sysClr val="windowText" lastClr="000000"/>
                </a:solidFill>
              </a:endParaRPr>
            </a:p>
          </p:txBody>
        </p:sp>
      </p:grpSp>
      <p:graphicFrame>
        <p:nvGraphicFramePr>
          <p:cNvPr id="107" name="Table 106">
            <a:extLst>
              <a:ext uri="{FF2B5EF4-FFF2-40B4-BE49-F238E27FC236}">
                <a16:creationId xmlns:a16="http://schemas.microsoft.com/office/drawing/2014/main" id="{AAACF457-56D1-61B8-C14C-7CF45A64E0BB}"/>
              </a:ext>
            </a:extLst>
          </p:cNvPr>
          <p:cNvGraphicFramePr>
            <a:graphicFrameLocks noGrp="1"/>
          </p:cNvGraphicFramePr>
          <p:nvPr>
            <p:extLst>
              <p:ext uri="{D42A27DB-BD31-4B8C-83A1-F6EECF244321}">
                <p14:modId xmlns:p14="http://schemas.microsoft.com/office/powerpoint/2010/main" val="2411081727"/>
              </p:ext>
            </p:extLst>
          </p:nvPr>
        </p:nvGraphicFramePr>
        <p:xfrm>
          <a:off x="8387732" y="6248407"/>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r>
                        <a:rPr lang="en-US" sz="700" cap="all" baseline="0">
                          <a:solidFill>
                            <a:schemeClr val="tx1"/>
                          </a:solidFill>
                        </a:rPr>
                        <a:t>X</a:t>
                      </a: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sp>
        <p:nvSpPr>
          <p:cNvPr id="108" name="Graphic 76">
            <a:extLst>
              <a:ext uri="{FF2B5EF4-FFF2-40B4-BE49-F238E27FC236}">
                <a16:creationId xmlns:a16="http://schemas.microsoft.com/office/drawing/2014/main" id="{DFEC7B2E-ACCE-A41E-3559-D00AB43021D6}"/>
              </a:ext>
            </a:extLst>
          </p:cNvPr>
          <p:cNvSpPr/>
          <p:nvPr/>
        </p:nvSpPr>
        <p:spPr>
          <a:xfrm>
            <a:off x="10481877" y="6022080"/>
            <a:ext cx="98608" cy="136282"/>
          </a:xfrm>
          <a:custGeom>
            <a:avLst/>
            <a:gdLst>
              <a:gd name="connsiteX0" fmla="*/ 0 w 126387"/>
              <a:gd name="connsiteY0" fmla="*/ 197984 h 197984"/>
              <a:gd name="connsiteX1" fmla="*/ 126387 w 126387"/>
              <a:gd name="connsiteY1" fmla="*/ 197984 h 197984"/>
              <a:gd name="connsiteX2" fmla="*/ 126387 w 126387"/>
              <a:gd name="connsiteY2" fmla="*/ 80996 h 197984"/>
              <a:gd name="connsiteX3" fmla="*/ 108321 w 126387"/>
              <a:gd name="connsiteY3" fmla="*/ 80996 h 197984"/>
              <a:gd name="connsiteX4" fmla="*/ 108321 w 126387"/>
              <a:gd name="connsiteY4" fmla="*/ 46514 h 197984"/>
              <a:gd name="connsiteX5" fmla="*/ 64086 w 126387"/>
              <a:gd name="connsiteY5" fmla="*/ 8 h 197984"/>
              <a:gd name="connsiteX6" fmla="*/ 18066 w 126387"/>
              <a:gd name="connsiteY6" fmla="*/ 44161 h 197984"/>
              <a:gd name="connsiteX7" fmla="*/ 18066 w 126387"/>
              <a:gd name="connsiteY7" fmla="*/ 45032 h 197984"/>
              <a:gd name="connsiteX8" fmla="*/ 18066 w 126387"/>
              <a:gd name="connsiteY8" fmla="*/ 80996 h 197984"/>
              <a:gd name="connsiteX9" fmla="*/ 0 w 126387"/>
              <a:gd name="connsiteY9" fmla="*/ 80996 h 197984"/>
              <a:gd name="connsiteX10" fmla="*/ 0 w 126387"/>
              <a:gd name="connsiteY10" fmla="*/ 197984 h 197984"/>
              <a:gd name="connsiteX11" fmla="*/ 72208 w 126387"/>
              <a:gd name="connsiteY11" fmla="*/ 171025 h 197984"/>
              <a:gd name="connsiteX12" fmla="*/ 54179 w 126387"/>
              <a:gd name="connsiteY12" fmla="*/ 171025 h 197984"/>
              <a:gd name="connsiteX13" fmla="*/ 54179 w 126387"/>
              <a:gd name="connsiteY13" fmla="*/ 135025 h 197984"/>
              <a:gd name="connsiteX14" fmla="*/ 72208 w 126387"/>
              <a:gd name="connsiteY14" fmla="*/ 135025 h 197984"/>
              <a:gd name="connsiteX15" fmla="*/ 72208 w 126387"/>
              <a:gd name="connsiteY15" fmla="*/ 171025 h 197984"/>
              <a:gd name="connsiteX16" fmla="*/ 36113 w 126387"/>
              <a:gd name="connsiteY16" fmla="*/ 45217 h 197984"/>
              <a:gd name="connsiteX17" fmla="*/ 62153 w 126387"/>
              <a:gd name="connsiteY17" fmla="*/ 17202 h 197984"/>
              <a:gd name="connsiteX18" fmla="*/ 90255 w 126387"/>
              <a:gd name="connsiteY18" fmla="*/ 43161 h 197984"/>
              <a:gd name="connsiteX19" fmla="*/ 90255 w 126387"/>
              <a:gd name="connsiteY19" fmla="*/ 45217 h 197984"/>
              <a:gd name="connsiteX20" fmla="*/ 90255 w 126387"/>
              <a:gd name="connsiteY20" fmla="*/ 80996 h 197984"/>
              <a:gd name="connsiteX21" fmla="*/ 36113 w 126387"/>
              <a:gd name="connsiteY21" fmla="*/ 80996 h 197984"/>
              <a:gd name="connsiteX22" fmla="*/ 36113 w 126387"/>
              <a:gd name="connsiteY22" fmla="*/ 45217 h 197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387" h="197984">
                <a:moveTo>
                  <a:pt x="0" y="197984"/>
                </a:moveTo>
                <a:lnTo>
                  <a:pt x="126387" y="197984"/>
                </a:lnTo>
                <a:lnTo>
                  <a:pt x="126387" y="80996"/>
                </a:lnTo>
                <a:lnTo>
                  <a:pt x="108321" y="80996"/>
                </a:lnTo>
                <a:lnTo>
                  <a:pt x="108321" y="46514"/>
                </a:lnTo>
                <a:cubicBezTo>
                  <a:pt x="108618" y="21649"/>
                  <a:pt x="89028" y="1027"/>
                  <a:pt x="64086" y="8"/>
                </a:cubicBezTo>
                <a:cubicBezTo>
                  <a:pt x="39143" y="-455"/>
                  <a:pt x="18549" y="19296"/>
                  <a:pt x="18066" y="44161"/>
                </a:cubicBezTo>
                <a:cubicBezTo>
                  <a:pt x="18066" y="44458"/>
                  <a:pt x="18066" y="44736"/>
                  <a:pt x="18066" y="45032"/>
                </a:cubicBezTo>
                <a:lnTo>
                  <a:pt x="18066" y="80996"/>
                </a:lnTo>
                <a:lnTo>
                  <a:pt x="0" y="80996"/>
                </a:lnTo>
                <a:lnTo>
                  <a:pt x="0" y="197984"/>
                </a:lnTo>
                <a:close/>
                <a:moveTo>
                  <a:pt x="72208" y="171025"/>
                </a:moveTo>
                <a:lnTo>
                  <a:pt x="54179" y="171025"/>
                </a:lnTo>
                <a:lnTo>
                  <a:pt x="54179" y="135025"/>
                </a:lnTo>
                <a:lnTo>
                  <a:pt x="72208" y="135025"/>
                </a:lnTo>
                <a:lnTo>
                  <a:pt x="72208" y="171025"/>
                </a:lnTo>
                <a:close/>
                <a:moveTo>
                  <a:pt x="36113" y="45217"/>
                </a:moveTo>
                <a:cubicBezTo>
                  <a:pt x="35537" y="30320"/>
                  <a:pt x="47209" y="17777"/>
                  <a:pt x="62153" y="17202"/>
                </a:cubicBezTo>
                <a:cubicBezTo>
                  <a:pt x="77096" y="16628"/>
                  <a:pt x="89679" y="28264"/>
                  <a:pt x="90255" y="43161"/>
                </a:cubicBezTo>
                <a:cubicBezTo>
                  <a:pt x="90274" y="43846"/>
                  <a:pt x="90274" y="44532"/>
                  <a:pt x="90255" y="45217"/>
                </a:cubicBezTo>
                <a:lnTo>
                  <a:pt x="90255" y="80996"/>
                </a:lnTo>
                <a:lnTo>
                  <a:pt x="36113" y="80996"/>
                </a:lnTo>
                <a:lnTo>
                  <a:pt x="36113" y="45217"/>
                </a:lnTo>
                <a:close/>
              </a:path>
            </a:pathLst>
          </a:custGeom>
          <a:solidFill>
            <a:srgbClr val="000000">
              <a:alpha val="60000"/>
            </a:srgbClr>
          </a:solidFill>
          <a:ln w="1821" cap="flat">
            <a:noFill/>
            <a:prstDash val="solid"/>
            <a:miter/>
          </a:ln>
        </p:spPr>
        <p:txBody>
          <a:bodyPr rtlCol="0" anchor="ctr"/>
          <a:lstStyle/>
          <a:p>
            <a:endParaRPr lang="en-US"/>
          </a:p>
        </p:txBody>
      </p:sp>
      <p:grpSp>
        <p:nvGrpSpPr>
          <p:cNvPr id="109" name="Graphic 80">
            <a:extLst>
              <a:ext uri="{FF2B5EF4-FFF2-40B4-BE49-F238E27FC236}">
                <a16:creationId xmlns:a16="http://schemas.microsoft.com/office/drawing/2014/main" id="{03532F8A-C510-2D43-2A7A-0F4CB3162F3F}"/>
              </a:ext>
            </a:extLst>
          </p:cNvPr>
          <p:cNvGrpSpPr/>
          <p:nvPr/>
        </p:nvGrpSpPr>
        <p:grpSpPr>
          <a:xfrm>
            <a:off x="10455886" y="6293388"/>
            <a:ext cx="158936" cy="136283"/>
            <a:chOff x="10203004" y="3522286"/>
            <a:chExt cx="326238" cy="279740"/>
          </a:xfrm>
          <a:solidFill>
            <a:srgbClr val="000000">
              <a:alpha val="9000"/>
            </a:srgbClr>
          </a:solidFill>
        </p:grpSpPr>
        <p:sp>
          <p:nvSpPr>
            <p:cNvPr id="110" name="Freeform: Shape 109">
              <a:extLst>
                <a:ext uri="{FF2B5EF4-FFF2-40B4-BE49-F238E27FC236}">
                  <a16:creationId xmlns:a16="http://schemas.microsoft.com/office/drawing/2014/main" id="{34E81FA6-6A64-AC4A-F9F5-57FCA728661C}"/>
                </a:ext>
              </a:extLst>
            </p:cNvPr>
            <p:cNvSpPr/>
            <p:nvPr/>
          </p:nvSpPr>
          <p:spPr>
            <a:xfrm>
              <a:off x="10203004" y="3599791"/>
              <a:ext cx="279223" cy="202235"/>
            </a:xfrm>
            <a:custGeom>
              <a:avLst/>
              <a:gdLst>
                <a:gd name="connsiteX0" fmla="*/ 266925 w 279223"/>
                <a:gd name="connsiteY0" fmla="*/ 183895 h 202235"/>
                <a:gd name="connsiteX1" fmla="*/ 0 w 279223"/>
                <a:gd name="connsiteY1" fmla="*/ 1014 h 202235"/>
                <a:gd name="connsiteX2" fmla="*/ 266925 w 279223"/>
                <a:gd name="connsiteY2" fmla="*/ 183895 h 202235"/>
              </a:gdLst>
              <a:ahLst/>
              <a:cxnLst>
                <a:cxn ang="0">
                  <a:pos x="connsiteX0" y="connsiteY0"/>
                </a:cxn>
                <a:cxn ang="0">
                  <a:pos x="connsiteX1" y="connsiteY1"/>
                </a:cxn>
                <a:cxn ang="0">
                  <a:pos x="connsiteX2" y="connsiteY2"/>
                </a:cxn>
              </a:cxnLst>
              <a:rect l="l" t="t" r="r" b="b"/>
              <a:pathLst>
                <a:path w="279223" h="202235">
                  <a:moveTo>
                    <a:pt x="266925" y="183895"/>
                  </a:moveTo>
                  <a:cubicBezTo>
                    <a:pt x="300806" y="167028"/>
                    <a:pt x="280489" y="-15152"/>
                    <a:pt x="0" y="1014"/>
                  </a:cubicBezTo>
                  <a:cubicBezTo>
                    <a:pt x="0" y="1014"/>
                    <a:pt x="84921" y="274313"/>
                    <a:pt x="266925" y="183895"/>
                  </a:cubicBezTo>
                  <a:close/>
                </a:path>
              </a:pathLst>
            </a:custGeom>
            <a:solidFill>
              <a:srgbClr val="000000">
                <a:alpha val="38824"/>
              </a:srgbClr>
            </a:solidFill>
            <a:ln w="2892"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B1624EFC-1685-C97E-F2FD-C2CB47A023E3}"/>
                </a:ext>
              </a:extLst>
            </p:cNvPr>
            <p:cNvSpPr/>
            <p:nvPr/>
          </p:nvSpPr>
          <p:spPr>
            <a:xfrm>
              <a:off x="10286756" y="3522286"/>
              <a:ext cx="242486" cy="241960"/>
            </a:xfrm>
            <a:custGeom>
              <a:avLst/>
              <a:gdLst>
                <a:gd name="connsiteX0" fmla="*/ 237283 w 242486"/>
                <a:gd name="connsiteY0" fmla="*/ 97579 h 241960"/>
                <a:gd name="connsiteX1" fmla="*/ 210243 w 242486"/>
                <a:gd name="connsiteY1" fmla="*/ 96936 h 241960"/>
                <a:gd name="connsiteX2" fmla="*/ 202730 w 242486"/>
                <a:gd name="connsiteY2" fmla="*/ 77321 h 241960"/>
                <a:gd name="connsiteX3" fmla="*/ 221702 w 242486"/>
                <a:gd name="connsiteY3" fmla="*/ 58349 h 241960"/>
                <a:gd name="connsiteX4" fmla="*/ 225473 w 242486"/>
                <a:gd name="connsiteY4" fmla="*/ 54519 h 241960"/>
                <a:gd name="connsiteX5" fmla="*/ 221702 w 242486"/>
                <a:gd name="connsiteY5" fmla="*/ 50748 h 241960"/>
                <a:gd name="connsiteX6" fmla="*/ 191388 w 242486"/>
                <a:gd name="connsiteY6" fmla="*/ 20580 h 241960"/>
                <a:gd name="connsiteX7" fmla="*/ 187616 w 242486"/>
                <a:gd name="connsiteY7" fmla="*/ 16809 h 241960"/>
                <a:gd name="connsiteX8" fmla="*/ 183845 w 242486"/>
                <a:gd name="connsiteY8" fmla="*/ 20580 h 241960"/>
                <a:gd name="connsiteX9" fmla="*/ 164932 w 242486"/>
                <a:gd name="connsiteY9" fmla="*/ 39669 h 241960"/>
                <a:gd name="connsiteX10" fmla="*/ 156600 w 242486"/>
                <a:gd name="connsiteY10" fmla="*/ 35664 h 241960"/>
                <a:gd name="connsiteX11" fmla="*/ 147626 w 242486"/>
                <a:gd name="connsiteY11" fmla="*/ 32478 h 241960"/>
                <a:gd name="connsiteX12" fmla="*/ 147626 w 242486"/>
                <a:gd name="connsiteY12" fmla="*/ 0 h 241960"/>
                <a:gd name="connsiteX13" fmla="*/ 94656 w 242486"/>
                <a:gd name="connsiteY13" fmla="*/ 0 h 241960"/>
                <a:gd name="connsiteX14" fmla="*/ 94656 w 242486"/>
                <a:gd name="connsiteY14" fmla="*/ 32419 h 241960"/>
                <a:gd name="connsiteX15" fmla="*/ 77467 w 242486"/>
                <a:gd name="connsiteY15" fmla="*/ 39406 h 241960"/>
                <a:gd name="connsiteX16" fmla="*/ 58553 w 242486"/>
                <a:gd name="connsiteY16" fmla="*/ 20229 h 241960"/>
                <a:gd name="connsiteX17" fmla="*/ 54432 w 242486"/>
                <a:gd name="connsiteY17" fmla="*/ 16224 h 241960"/>
                <a:gd name="connsiteX18" fmla="*/ 50602 w 242486"/>
                <a:gd name="connsiteY18" fmla="*/ 19995 h 241960"/>
                <a:gd name="connsiteX19" fmla="*/ 35196 w 242486"/>
                <a:gd name="connsiteY19" fmla="*/ 35080 h 241960"/>
                <a:gd name="connsiteX20" fmla="*/ 22451 w 242486"/>
                <a:gd name="connsiteY20" fmla="*/ 47562 h 241960"/>
                <a:gd name="connsiteX21" fmla="*/ 18563 w 242486"/>
                <a:gd name="connsiteY21" fmla="*/ 51245 h 241960"/>
                <a:gd name="connsiteX22" fmla="*/ 22305 w 242486"/>
                <a:gd name="connsiteY22" fmla="*/ 55133 h 241960"/>
                <a:gd name="connsiteX23" fmla="*/ 40634 w 242486"/>
                <a:gd name="connsiteY23" fmla="*/ 74310 h 241960"/>
                <a:gd name="connsiteX24" fmla="*/ 36424 w 242486"/>
                <a:gd name="connsiteY24" fmla="*/ 82729 h 241960"/>
                <a:gd name="connsiteX25" fmla="*/ 33121 w 242486"/>
                <a:gd name="connsiteY25" fmla="*/ 91528 h 241960"/>
                <a:gd name="connsiteX26" fmla="*/ 6431 w 242486"/>
                <a:gd name="connsiteY26" fmla="*/ 90885 h 241960"/>
                <a:gd name="connsiteX27" fmla="*/ 1023 w 242486"/>
                <a:gd name="connsiteY27" fmla="*/ 90885 h 241960"/>
                <a:gd name="connsiteX28" fmla="*/ 1023 w 242486"/>
                <a:gd name="connsiteY28" fmla="*/ 96293 h 241960"/>
                <a:gd name="connsiteX29" fmla="*/ 0 w 242486"/>
                <a:gd name="connsiteY29" fmla="*/ 138944 h 241960"/>
                <a:gd name="connsiteX30" fmla="*/ 0 w 242486"/>
                <a:gd name="connsiteY30" fmla="*/ 144352 h 241960"/>
                <a:gd name="connsiteX31" fmla="*/ 5408 w 242486"/>
                <a:gd name="connsiteY31" fmla="*/ 144352 h 241960"/>
                <a:gd name="connsiteX32" fmla="*/ 32448 w 242486"/>
                <a:gd name="connsiteY32" fmla="*/ 144995 h 241960"/>
                <a:gd name="connsiteX33" fmla="*/ 35255 w 242486"/>
                <a:gd name="connsiteY33" fmla="*/ 154876 h 241960"/>
                <a:gd name="connsiteX34" fmla="*/ 39727 w 242486"/>
                <a:gd name="connsiteY34" fmla="*/ 164494 h 241960"/>
                <a:gd name="connsiteX35" fmla="*/ 20960 w 242486"/>
                <a:gd name="connsiteY35" fmla="*/ 183729 h 241960"/>
                <a:gd name="connsiteX36" fmla="*/ 17189 w 242486"/>
                <a:gd name="connsiteY36" fmla="*/ 187500 h 241960"/>
                <a:gd name="connsiteX37" fmla="*/ 20960 w 242486"/>
                <a:gd name="connsiteY37" fmla="*/ 191271 h 241960"/>
                <a:gd name="connsiteX38" fmla="*/ 51128 w 242486"/>
                <a:gd name="connsiteY38" fmla="*/ 221439 h 241960"/>
                <a:gd name="connsiteX39" fmla="*/ 54899 w 242486"/>
                <a:gd name="connsiteY39" fmla="*/ 225269 h 241960"/>
                <a:gd name="connsiteX40" fmla="*/ 58670 w 242486"/>
                <a:gd name="connsiteY40" fmla="*/ 221439 h 241960"/>
                <a:gd name="connsiteX41" fmla="*/ 77759 w 242486"/>
                <a:gd name="connsiteY41" fmla="*/ 202409 h 241960"/>
                <a:gd name="connsiteX42" fmla="*/ 86091 w 242486"/>
                <a:gd name="connsiteY42" fmla="*/ 206355 h 241960"/>
                <a:gd name="connsiteX43" fmla="*/ 94890 w 242486"/>
                <a:gd name="connsiteY43" fmla="*/ 209542 h 241960"/>
                <a:gd name="connsiteX44" fmla="*/ 94890 w 242486"/>
                <a:gd name="connsiteY44" fmla="*/ 241961 h 241960"/>
                <a:gd name="connsiteX45" fmla="*/ 148357 w 242486"/>
                <a:gd name="connsiteY45" fmla="*/ 241961 h 241960"/>
                <a:gd name="connsiteX46" fmla="*/ 148357 w 242486"/>
                <a:gd name="connsiteY46" fmla="*/ 209542 h 241960"/>
                <a:gd name="connsiteX47" fmla="*/ 157127 w 242486"/>
                <a:gd name="connsiteY47" fmla="*/ 206472 h 241960"/>
                <a:gd name="connsiteX48" fmla="*/ 165546 w 242486"/>
                <a:gd name="connsiteY48" fmla="*/ 202526 h 241960"/>
                <a:gd name="connsiteX49" fmla="*/ 184372 w 242486"/>
                <a:gd name="connsiteY49" fmla="*/ 221556 h 241960"/>
                <a:gd name="connsiteX50" fmla="*/ 188113 w 242486"/>
                <a:gd name="connsiteY50" fmla="*/ 225327 h 241960"/>
                <a:gd name="connsiteX51" fmla="*/ 192001 w 242486"/>
                <a:gd name="connsiteY51" fmla="*/ 221556 h 241960"/>
                <a:gd name="connsiteX52" fmla="*/ 207202 w 242486"/>
                <a:gd name="connsiteY52" fmla="*/ 206589 h 241960"/>
                <a:gd name="connsiteX53" fmla="*/ 220182 w 242486"/>
                <a:gd name="connsiteY53" fmla="*/ 194107 h 241960"/>
                <a:gd name="connsiteX54" fmla="*/ 224070 w 242486"/>
                <a:gd name="connsiteY54" fmla="*/ 190365 h 241960"/>
                <a:gd name="connsiteX55" fmla="*/ 220328 w 242486"/>
                <a:gd name="connsiteY55" fmla="*/ 186535 h 241960"/>
                <a:gd name="connsiteX56" fmla="*/ 201853 w 242486"/>
                <a:gd name="connsiteY56" fmla="*/ 167505 h 241960"/>
                <a:gd name="connsiteX57" fmla="*/ 206062 w 242486"/>
                <a:gd name="connsiteY57" fmla="*/ 159115 h 241960"/>
                <a:gd name="connsiteX58" fmla="*/ 209366 w 242486"/>
                <a:gd name="connsiteY58" fmla="*/ 150316 h 241960"/>
                <a:gd name="connsiteX59" fmla="*/ 236055 w 242486"/>
                <a:gd name="connsiteY59" fmla="*/ 150959 h 241960"/>
                <a:gd name="connsiteX60" fmla="*/ 241463 w 242486"/>
                <a:gd name="connsiteY60" fmla="*/ 150959 h 241960"/>
                <a:gd name="connsiteX61" fmla="*/ 241463 w 242486"/>
                <a:gd name="connsiteY61" fmla="*/ 145551 h 241960"/>
                <a:gd name="connsiteX62" fmla="*/ 242487 w 242486"/>
                <a:gd name="connsiteY62" fmla="*/ 102958 h 241960"/>
                <a:gd name="connsiteX63" fmla="*/ 242487 w 242486"/>
                <a:gd name="connsiteY63" fmla="*/ 97550 h 241960"/>
                <a:gd name="connsiteX64" fmla="*/ 237342 w 242486"/>
                <a:gd name="connsiteY64" fmla="*/ 97492 h 2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42486" h="241960">
                  <a:moveTo>
                    <a:pt x="237283" y="97579"/>
                  </a:moveTo>
                  <a:lnTo>
                    <a:pt x="210243" y="96936"/>
                  </a:lnTo>
                  <a:cubicBezTo>
                    <a:pt x="208460" y="90125"/>
                    <a:pt x="205945" y="83548"/>
                    <a:pt x="202730" y="77321"/>
                  </a:cubicBezTo>
                  <a:lnTo>
                    <a:pt x="221702" y="58349"/>
                  </a:lnTo>
                  <a:lnTo>
                    <a:pt x="225473" y="54519"/>
                  </a:lnTo>
                  <a:lnTo>
                    <a:pt x="221702" y="50748"/>
                  </a:lnTo>
                  <a:lnTo>
                    <a:pt x="191388" y="20580"/>
                  </a:lnTo>
                  <a:lnTo>
                    <a:pt x="187616" y="16809"/>
                  </a:lnTo>
                  <a:lnTo>
                    <a:pt x="183845" y="20580"/>
                  </a:lnTo>
                  <a:lnTo>
                    <a:pt x="164932" y="39669"/>
                  </a:lnTo>
                  <a:cubicBezTo>
                    <a:pt x="162242" y="38207"/>
                    <a:pt x="159524" y="36863"/>
                    <a:pt x="156600" y="35664"/>
                  </a:cubicBezTo>
                  <a:cubicBezTo>
                    <a:pt x="153677" y="34466"/>
                    <a:pt x="150608" y="33442"/>
                    <a:pt x="147626" y="32478"/>
                  </a:cubicBezTo>
                  <a:lnTo>
                    <a:pt x="147626" y="0"/>
                  </a:lnTo>
                  <a:lnTo>
                    <a:pt x="94656" y="0"/>
                  </a:lnTo>
                  <a:lnTo>
                    <a:pt x="94656" y="32419"/>
                  </a:lnTo>
                  <a:cubicBezTo>
                    <a:pt x="88722" y="34203"/>
                    <a:pt x="82963" y="36541"/>
                    <a:pt x="77467" y="39406"/>
                  </a:cubicBezTo>
                  <a:lnTo>
                    <a:pt x="58553" y="20229"/>
                  </a:lnTo>
                  <a:lnTo>
                    <a:pt x="54432" y="16224"/>
                  </a:lnTo>
                  <a:lnTo>
                    <a:pt x="50602" y="19995"/>
                  </a:lnTo>
                  <a:lnTo>
                    <a:pt x="35196" y="35080"/>
                  </a:lnTo>
                  <a:lnTo>
                    <a:pt x="22451" y="47562"/>
                  </a:lnTo>
                  <a:lnTo>
                    <a:pt x="18563" y="51245"/>
                  </a:lnTo>
                  <a:lnTo>
                    <a:pt x="22305" y="55133"/>
                  </a:lnTo>
                  <a:lnTo>
                    <a:pt x="40634" y="74310"/>
                  </a:lnTo>
                  <a:cubicBezTo>
                    <a:pt x="39084" y="77029"/>
                    <a:pt x="37681" y="79864"/>
                    <a:pt x="36424" y="82729"/>
                  </a:cubicBezTo>
                  <a:cubicBezTo>
                    <a:pt x="35167" y="85594"/>
                    <a:pt x="34056" y="88547"/>
                    <a:pt x="33121" y="91528"/>
                  </a:cubicBezTo>
                  <a:lnTo>
                    <a:pt x="6431" y="90885"/>
                  </a:lnTo>
                  <a:lnTo>
                    <a:pt x="1023" y="90885"/>
                  </a:lnTo>
                  <a:lnTo>
                    <a:pt x="1023" y="96293"/>
                  </a:lnTo>
                  <a:lnTo>
                    <a:pt x="0" y="138944"/>
                  </a:lnTo>
                  <a:lnTo>
                    <a:pt x="0" y="144352"/>
                  </a:lnTo>
                  <a:lnTo>
                    <a:pt x="5408" y="144352"/>
                  </a:lnTo>
                  <a:lnTo>
                    <a:pt x="32448" y="144995"/>
                  </a:lnTo>
                  <a:cubicBezTo>
                    <a:pt x="33209" y="148357"/>
                    <a:pt x="34144" y="151631"/>
                    <a:pt x="35255" y="154876"/>
                  </a:cubicBezTo>
                  <a:cubicBezTo>
                    <a:pt x="36570" y="158150"/>
                    <a:pt x="38061" y="161366"/>
                    <a:pt x="39727" y="164494"/>
                  </a:cubicBezTo>
                  <a:lnTo>
                    <a:pt x="20960" y="183729"/>
                  </a:lnTo>
                  <a:lnTo>
                    <a:pt x="17189" y="187500"/>
                  </a:lnTo>
                  <a:lnTo>
                    <a:pt x="20960" y="191271"/>
                  </a:lnTo>
                  <a:lnTo>
                    <a:pt x="51128" y="221439"/>
                  </a:lnTo>
                  <a:lnTo>
                    <a:pt x="54899" y="225269"/>
                  </a:lnTo>
                  <a:lnTo>
                    <a:pt x="58670" y="221439"/>
                  </a:lnTo>
                  <a:lnTo>
                    <a:pt x="77759" y="202409"/>
                  </a:lnTo>
                  <a:cubicBezTo>
                    <a:pt x="80449" y="203870"/>
                    <a:pt x="83226" y="205186"/>
                    <a:pt x="86091" y="206355"/>
                  </a:cubicBezTo>
                  <a:cubicBezTo>
                    <a:pt x="88985" y="207583"/>
                    <a:pt x="91908" y="208635"/>
                    <a:pt x="94890" y="209542"/>
                  </a:cubicBezTo>
                  <a:lnTo>
                    <a:pt x="94890" y="241961"/>
                  </a:lnTo>
                  <a:lnTo>
                    <a:pt x="148357" y="241961"/>
                  </a:lnTo>
                  <a:lnTo>
                    <a:pt x="148357" y="209542"/>
                  </a:lnTo>
                  <a:cubicBezTo>
                    <a:pt x="151339" y="208665"/>
                    <a:pt x="154262" y="207641"/>
                    <a:pt x="157127" y="206472"/>
                  </a:cubicBezTo>
                  <a:cubicBezTo>
                    <a:pt x="160021" y="205303"/>
                    <a:pt x="162827" y="203987"/>
                    <a:pt x="165546" y="202526"/>
                  </a:cubicBezTo>
                  <a:lnTo>
                    <a:pt x="184372" y="221556"/>
                  </a:lnTo>
                  <a:lnTo>
                    <a:pt x="188113" y="225327"/>
                  </a:lnTo>
                  <a:lnTo>
                    <a:pt x="192001" y="221556"/>
                  </a:lnTo>
                  <a:lnTo>
                    <a:pt x="207202" y="206589"/>
                  </a:lnTo>
                  <a:lnTo>
                    <a:pt x="220182" y="194107"/>
                  </a:lnTo>
                  <a:lnTo>
                    <a:pt x="224070" y="190365"/>
                  </a:lnTo>
                  <a:lnTo>
                    <a:pt x="220328" y="186535"/>
                  </a:lnTo>
                  <a:lnTo>
                    <a:pt x="201853" y="167505"/>
                  </a:lnTo>
                  <a:cubicBezTo>
                    <a:pt x="203402" y="164786"/>
                    <a:pt x="204805" y="161980"/>
                    <a:pt x="206062" y="159115"/>
                  </a:cubicBezTo>
                  <a:cubicBezTo>
                    <a:pt x="207319" y="156250"/>
                    <a:pt x="208401" y="153297"/>
                    <a:pt x="209366" y="150316"/>
                  </a:cubicBezTo>
                  <a:lnTo>
                    <a:pt x="236055" y="150959"/>
                  </a:lnTo>
                  <a:lnTo>
                    <a:pt x="241463" y="150959"/>
                  </a:lnTo>
                  <a:lnTo>
                    <a:pt x="241463" y="145551"/>
                  </a:lnTo>
                  <a:lnTo>
                    <a:pt x="242487" y="102958"/>
                  </a:lnTo>
                  <a:lnTo>
                    <a:pt x="242487" y="97550"/>
                  </a:lnTo>
                  <a:lnTo>
                    <a:pt x="237342" y="97492"/>
                  </a:lnTo>
                  <a:close/>
                </a:path>
              </a:pathLst>
            </a:custGeom>
            <a:solidFill>
              <a:srgbClr val="000000">
                <a:alpha val="38824"/>
              </a:srgbClr>
            </a:solidFill>
            <a:ln w="2892" cap="flat">
              <a:noFill/>
              <a:prstDash val="solid"/>
              <a:miter/>
            </a:ln>
          </p:spPr>
          <p:txBody>
            <a:bodyPr rtlCol="0" anchor="ctr"/>
            <a:lstStyle/>
            <a:p>
              <a:endParaRPr lang="en-US"/>
            </a:p>
          </p:txBody>
        </p:sp>
      </p:grpSp>
      <p:graphicFrame>
        <p:nvGraphicFramePr>
          <p:cNvPr id="112" name="Table 111">
            <a:extLst>
              <a:ext uri="{FF2B5EF4-FFF2-40B4-BE49-F238E27FC236}">
                <a16:creationId xmlns:a16="http://schemas.microsoft.com/office/drawing/2014/main" id="{77D9A535-E833-F4AC-FDDB-DAFA7D779C7C}"/>
              </a:ext>
            </a:extLst>
          </p:cNvPr>
          <p:cNvGraphicFramePr>
            <a:graphicFrameLocks noGrp="1"/>
          </p:cNvGraphicFramePr>
          <p:nvPr>
            <p:extLst>
              <p:ext uri="{D42A27DB-BD31-4B8C-83A1-F6EECF244321}">
                <p14:modId xmlns:p14="http://schemas.microsoft.com/office/powerpoint/2010/main" val="1522873920"/>
              </p:ext>
            </p:extLst>
          </p:nvPr>
        </p:nvGraphicFramePr>
        <p:xfrm>
          <a:off x="8387732" y="5995422"/>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endParaRPr lang="en-US" sz="700" cap="all" baseline="0">
                        <a:solidFill>
                          <a:schemeClr val="tx1"/>
                        </a:solidFill>
                      </a:endParaRP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graphicFrame>
        <p:nvGraphicFramePr>
          <p:cNvPr id="113" name="Table 112">
            <a:extLst>
              <a:ext uri="{FF2B5EF4-FFF2-40B4-BE49-F238E27FC236}">
                <a16:creationId xmlns:a16="http://schemas.microsoft.com/office/drawing/2014/main" id="{BEC92409-F1AB-2F65-DD07-4FC055658413}"/>
              </a:ext>
            </a:extLst>
          </p:cNvPr>
          <p:cNvGraphicFramePr>
            <a:graphicFrameLocks noGrp="1"/>
          </p:cNvGraphicFramePr>
          <p:nvPr>
            <p:extLst>
              <p:ext uri="{D42A27DB-BD31-4B8C-83A1-F6EECF244321}">
                <p14:modId xmlns:p14="http://schemas.microsoft.com/office/powerpoint/2010/main" val="170373051"/>
              </p:ext>
            </p:extLst>
          </p:nvPr>
        </p:nvGraphicFramePr>
        <p:xfrm>
          <a:off x="10215061" y="5989409"/>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r>
                        <a:rPr lang="en-US" sz="700" cap="all" baseline="0">
                          <a:solidFill>
                            <a:schemeClr val="tx1"/>
                          </a:solidFill>
                        </a:rPr>
                        <a:t>x</a:t>
                      </a: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graphicFrame>
        <p:nvGraphicFramePr>
          <p:cNvPr id="114" name="Table 113">
            <a:extLst>
              <a:ext uri="{FF2B5EF4-FFF2-40B4-BE49-F238E27FC236}">
                <a16:creationId xmlns:a16="http://schemas.microsoft.com/office/drawing/2014/main" id="{52DDD547-11E1-8B2C-3378-3BBBEB894E40}"/>
              </a:ext>
            </a:extLst>
          </p:cNvPr>
          <p:cNvGraphicFramePr>
            <a:graphicFrameLocks noGrp="1"/>
          </p:cNvGraphicFramePr>
          <p:nvPr>
            <p:extLst>
              <p:ext uri="{D42A27DB-BD31-4B8C-83A1-F6EECF244321}">
                <p14:modId xmlns:p14="http://schemas.microsoft.com/office/powerpoint/2010/main" val="740382612"/>
              </p:ext>
            </p:extLst>
          </p:nvPr>
        </p:nvGraphicFramePr>
        <p:xfrm>
          <a:off x="10209844" y="6248407"/>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r>
                        <a:rPr lang="en-US" sz="700" cap="all" baseline="0">
                          <a:solidFill>
                            <a:schemeClr val="tx1"/>
                          </a:solidFill>
                        </a:rPr>
                        <a:t>x</a:t>
                      </a: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graphicFrame>
        <p:nvGraphicFramePr>
          <p:cNvPr id="115" name="Table 114">
            <a:extLst>
              <a:ext uri="{FF2B5EF4-FFF2-40B4-BE49-F238E27FC236}">
                <a16:creationId xmlns:a16="http://schemas.microsoft.com/office/drawing/2014/main" id="{A590F380-0C58-AB70-DCF2-841120E31940}"/>
              </a:ext>
            </a:extLst>
          </p:cNvPr>
          <p:cNvGraphicFramePr>
            <a:graphicFrameLocks noGrp="1"/>
          </p:cNvGraphicFramePr>
          <p:nvPr>
            <p:extLst>
              <p:ext uri="{D42A27DB-BD31-4B8C-83A1-F6EECF244321}">
                <p14:modId xmlns:p14="http://schemas.microsoft.com/office/powerpoint/2010/main" val="2763978380"/>
              </p:ext>
            </p:extLst>
          </p:nvPr>
        </p:nvGraphicFramePr>
        <p:xfrm>
          <a:off x="8383250" y="5464790"/>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endParaRPr lang="en-US" sz="700" cap="all" baseline="0">
                        <a:solidFill>
                          <a:schemeClr val="tx1"/>
                        </a:solidFill>
                      </a:endParaRP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graphicFrame>
        <p:nvGraphicFramePr>
          <p:cNvPr id="116" name="Table 115">
            <a:extLst>
              <a:ext uri="{FF2B5EF4-FFF2-40B4-BE49-F238E27FC236}">
                <a16:creationId xmlns:a16="http://schemas.microsoft.com/office/drawing/2014/main" id="{DAC3A89A-0A8C-1FEB-FC06-7B09195EF871}"/>
              </a:ext>
            </a:extLst>
          </p:cNvPr>
          <p:cNvGraphicFramePr>
            <a:graphicFrameLocks noGrp="1"/>
          </p:cNvGraphicFramePr>
          <p:nvPr>
            <p:extLst>
              <p:ext uri="{D42A27DB-BD31-4B8C-83A1-F6EECF244321}">
                <p14:modId xmlns:p14="http://schemas.microsoft.com/office/powerpoint/2010/main" val="2014154120"/>
              </p:ext>
            </p:extLst>
          </p:nvPr>
        </p:nvGraphicFramePr>
        <p:xfrm>
          <a:off x="8383250" y="5211805"/>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r>
                        <a:rPr lang="en-US" sz="700" cap="all" baseline="0">
                          <a:solidFill>
                            <a:schemeClr val="tx1"/>
                          </a:solidFill>
                        </a:rPr>
                        <a:t>X</a:t>
                      </a: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graphicFrame>
        <p:nvGraphicFramePr>
          <p:cNvPr id="117" name="Table 116">
            <a:extLst>
              <a:ext uri="{FF2B5EF4-FFF2-40B4-BE49-F238E27FC236}">
                <a16:creationId xmlns:a16="http://schemas.microsoft.com/office/drawing/2014/main" id="{6491FB0A-EC49-2153-AD0C-30E7584E9CF5}"/>
              </a:ext>
            </a:extLst>
          </p:cNvPr>
          <p:cNvGraphicFramePr>
            <a:graphicFrameLocks noGrp="1"/>
          </p:cNvGraphicFramePr>
          <p:nvPr>
            <p:extLst>
              <p:ext uri="{D42A27DB-BD31-4B8C-83A1-F6EECF244321}">
                <p14:modId xmlns:p14="http://schemas.microsoft.com/office/powerpoint/2010/main" val="806333069"/>
              </p:ext>
            </p:extLst>
          </p:nvPr>
        </p:nvGraphicFramePr>
        <p:xfrm>
          <a:off x="10202296" y="5205792"/>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endParaRPr lang="en-US" sz="700" cap="all" baseline="0">
                        <a:solidFill>
                          <a:schemeClr val="tx1"/>
                        </a:solidFill>
                      </a:endParaRP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graphicFrame>
        <p:nvGraphicFramePr>
          <p:cNvPr id="118" name="Table 117">
            <a:extLst>
              <a:ext uri="{FF2B5EF4-FFF2-40B4-BE49-F238E27FC236}">
                <a16:creationId xmlns:a16="http://schemas.microsoft.com/office/drawing/2014/main" id="{CD857940-D07A-BD75-3CAC-EF25677F2E96}"/>
              </a:ext>
            </a:extLst>
          </p:cNvPr>
          <p:cNvGraphicFramePr>
            <a:graphicFrameLocks noGrp="1"/>
          </p:cNvGraphicFramePr>
          <p:nvPr>
            <p:extLst>
              <p:ext uri="{D42A27DB-BD31-4B8C-83A1-F6EECF244321}">
                <p14:modId xmlns:p14="http://schemas.microsoft.com/office/powerpoint/2010/main" val="961703939"/>
              </p:ext>
            </p:extLst>
          </p:nvPr>
        </p:nvGraphicFramePr>
        <p:xfrm>
          <a:off x="8381500" y="4232288"/>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r>
                        <a:rPr lang="en-US" sz="700" cap="all" baseline="0">
                          <a:solidFill>
                            <a:schemeClr val="tx1"/>
                          </a:solidFill>
                        </a:rPr>
                        <a:t>X</a:t>
                      </a: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graphicFrame>
        <p:nvGraphicFramePr>
          <p:cNvPr id="119" name="Table 118">
            <a:extLst>
              <a:ext uri="{FF2B5EF4-FFF2-40B4-BE49-F238E27FC236}">
                <a16:creationId xmlns:a16="http://schemas.microsoft.com/office/drawing/2014/main" id="{F303A289-BC20-57D3-0BF1-A24D2F38F1C2}"/>
              </a:ext>
            </a:extLst>
          </p:cNvPr>
          <p:cNvGraphicFramePr>
            <a:graphicFrameLocks noGrp="1"/>
          </p:cNvGraphicFramePr>
          <p:nvPr>
            <p:extLst>
              <p:ext uri="{D42A27DB-BD31-4B8C-83A1-F6EECF244321}">
                <p14:modId xmlns:p14="http://schemas.microsoft.com/office/powerpoint/2010/main" val="1359000369"/>
              </p:ext>
            </p:extLst>
          </p:nvPr>
        </p:nvGraphicFramePr>
        <p:xfrm>
          <a:off x="9447513" y="4232288"/>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r>
                        <a:rPr lang="en-US" sz="700" cap="all" baseline="0">
                          <a:solidFill>
                            <a:schemeClr val="tx1"/>
                          </a:solidFill>
                        </a:rPr>
                        <a:t>X</a:t>
                      </a: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graphicFrame>
        <p:nvGraphicFramePr>
          <p:cNvPr id="120" name="Table 119">
            <a:extLst>
              <a:ext uri="{FF2B5EF4-FFF2-40B4-BE49-F238E27FC236}">
                <a16:creationId xmlns:a16="http://schemas.microsoft.com/office/drawing/2014/main" id="{CE326DAE-CB88-5DE7-0DCB-1E77A5E2161A}"/>
              </a:ext>
            </a:extLst>
          </p:cNvPr>
          <p:cNvGraphicFramePr>
            <a:graphicFrameLocks noGrp="1"/>
          </p:cNvGraphicFramePr>
          <p:nvPr>
            <p:extLst>
              <p:ext uri="{D42A27DB-BD31-4B8C-83A1-F6EECF244321}">
                <p14:modId xmlns:p14="http://schemas.microsoft.com/office/powerpoint/2010/main" val="2081706785"/>
              </p:ext>
            </p:extLst>
          </p:nvPr>
        </p:nvGraphicFramePr>
        <p:xfrm>
          <a:off x="10202296" y="4232288"/>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r>
                        <a:rPr lang="en-US" sz="700" cap="all" baseline="0">
                          <a:solidFill>
                            <a:schemeClr val="tx1"/>
                          </a:solidFill>
                        </a:rPr>
                        <a:t>X</a:t>
                      </a: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graphicFrame>
        <p:nvGraphicFramePr>
          <p:cNvPr id="5" name="Table 4">
            <a:extLst>
              <a:ext uri="{FF2B5EF4-FFF2-40B4-BE49-F238E27FC236}">
                <a16:creationId xmlns:a16="http://schemas.microsoft.com/office/drawing/2014/main" id="{8B032150-4287-DF71-DDC9-30EF313A2C75}"/>
              </a:ext>
            </a:extLst>
          </p:cNvPr>
          <p:cNvGraphicFramePr>
            <a:graphicFrameLocks noGrp="1"/>
          </p:cNvGraphicFramePr>
          <p:nvPr>
            <p:extLst>
              <p:ext uri="{D42A27DB-BD31-4B8C-83A1-F6EECF244321}">
                <p14:modId xmlns:p14="http://schemas.microsoft.com/office/powerpoint/2010/main" val="4118878792"/>
              </p:ext>
            </p:extLst>
          </p:nvPr>
        </p:nvGraphicFramePr>
        <p:xfrm>
          <a:off x="10877510" y="4232288"/>
          <a:ext cx="201168" cy="201168"/>
        </p:xfrm>
        <a:graphic>
          <a:graphicData uri="http://schemas.openxmlformats.org/drawingml/2006/table">
            <a:tbl>
              <a:tblPr firstRow="1" bandRow="1">
                <a:tableStyleId>{5C22544A-7EE6-4342-B048-85BDC9FD1C3A}</a:tableStyleId>
              </a:tblPr>
              <a:tblGrid>
                <a:gridCol w="201168">
                  <a:extLst>
                    <a:ext uri="{9D8B030D-6E8A-4147-A177-3AD203B41FA5}">
                      <a16:colId xmlns:a16="http://schemas.microsoft.com/office/drawing/2014/main" val="1527199410"/>
                    </a:ext>
                  </a:extLst>
                </a:gridCol>
              </a:tblGrid>
              <a:tr h="201168">
                <a:tc>
                  <a:txBody>
                    <a:bodyPr/>
                    <a:lstStyle/>
                    <a:p>
                      <a:pPr algn="ctr">
                        <a:lnSpc>
                          <a:spcPct val="80000"/>
                        </a:lnSpc>
                      </a:pPr>
                      <a:r>
                        <a:rPr lang="en-US" sz="700" cap="all" baseline="0">
                          <a:solidFill>
                            <a:schemeClr val="tx1"/>
                          </a:solidFill>
                        </a:rPr>
                        <a:t>X</a:t>
                      </a:r>
                    </a:p>
                  </a:txBody>
                  <a:tcPr marL="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0706708"/>
                  </a:ext>
                </a:extLst>
              </a:tr>
            </a:tbl>
          </a:graphicData>
        </a:graphic>
      </p:graphicFrame>
    </p:spTree>
    <p:extLst>
      <p:ext uri="{BB962C8B-B14F-4D97-AF65-F5344CB8AC3E}">
        <p14:creationId xmlns:p14="http://schemas.microsoft.com/office/powerpoint/2010/main" val="2056379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49243-F9F8-E112-413D-C30E21CB02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9A066D-459C-7AFF-C91B-B2BF4B1B77C9}"/>
              </a:ext>
            </a:extLst>
          </p:cNvPr>
          <p:cNvSpPr>
            <a:spLocks noGrp="1"/>
          </p:cNvSpPr>
          <p:nvPr>
            <p:ph type="title"/>
          </p:nvPr>
        </p:nvSpPr>
        <p:spPr>
          <a:xfrm>
            <a:off x="304800" y="152401"/>
            <a:ext cx="11125236" cy="457200"/>
          </a:xfrm>
        </p:spPr>
        <p:txBody>
          <a:bodyPr/>
          <a:lstStyle/>
          <a:p>
            <a:r>
              <a:rPr lang="en-US"/>
              <a:t>SOLUTION INVESTMENT OPPORTUNITY ALIGNMENT</a:t>
            </a:r>
          </a:p>
        </p:txBody>
      </p:sp>
      <p:graphicFrame>
        <p:nvGraphicFramePr>
          <p:cNvPr id="2" name="Table 3">
            <a:extLst>
              <a:ext uri="{FF2B5EF4-FFF2-40B4-BE49-F238E27FC236}">
                <a16:creationId xmlns:a16="http://schemas.microsoft.com/office/drawing/2014/main" id="{836D1CF2-113D-D31F-3A90-88AEC6ACB00B}"/>
              </a:ext>
            </a:extLst>
          </p:cNvPr>
          <p:cNvGraphicFramePr>
            <a:graphicFrameLocks noGrp="1"/>
          </p:cNvGraphicFramePr>
          <p:nvPr>
            <p:extLst>
              <p:ext uri="{D42A27DB-BD31-4B8C-83A1-F6EECF244321}">
                <p14:modId xmlns:p14="http://schemas.microsoft.com/office/powerpoint/2010/main" val="3560052547"/>
              </p:ext>
            </p:extLst>
          </p:nvPr>
        </p:nvGraphicFramePr>
        <p:xfrm>
          <a:off x="304800" y="628868"/>
          <a:ext cx="11519052" cy="304800"/>
        </p:xfrm>
        <a:graphic>
          <a:graphicData uri="http://schemas.openxmlformats.org/drawingml/2006/table">
            <a:tbl>
              <a:tblPr bandRow="1">
                <a:tableStyleId>{5C22544A-7EE6-4342-B048-85BDC9FD1C3A}</a:tableStyleId>
              </a:tblPr>
              <a:tblGrid>
                <a:gridCol w="2394857">
                  <a:extLst>
                    <a:ext uri="{9D8B030D-6E8A-4147-A177-3AD203B41FA5}">
                      <a16:colId xmlns:a16="http://schemas.microsoft.com/office/drawing/2014/main" val="3588745383"/>
                    </a:ext>
                  </a:extLst>
                </a:gridCol>
                <a:gridCol w="9124195">
                  <a:extLst>
                    <a:ext uri="{9D8B030D-6E8A-4147-A177-3AD203B41FA5}">
                      <a16:colId xmlns:a16="http://schemas.microsoft.com/office/drawing/2014/main" val="829081756"/>
                    </a:ext>
                  </a:extLst>
                </a:gridCol>
              </a:tblGrid>
              <a:tr h="280882">
                <a:tc>
                  <a:txBody>
                    <a:bodyPr/>
                    <a:lstStyle/>
                    <a:p>
                      <a:r>
                        <a:rPr lang="en-US" sz="1400" b="1">
                          <a:solidFill>
                            <a:schemeClr val="bg1"/>
                          </a:solidFill>
                        </a:rPr>
                        <a:t>Solution Initiative Name</a:t>
                      </a:r>
                    </a:p>
                  </a:txBody>
                  <a:tcPr>
                    <a:solidFill>
                      <a:schemeClr val="accent1">
                        <a:lumMod val="75000"/>
                      </a:schemeClr>
                    </a:solidFill>
                  </a:tcPr>
                </a:tc>
                <a:tc>
                  <a:txBody>
                    <a:bodyPr/>
                    <a:lstStyle/>
                    <a:p>
                      <a:r>
                        <a:rPr lang="en-US" sz="1400" b="1"/>
                        <a:t>Title</a:t>
                      </a:r>
                    </a:p>
                  </a:txBody>
                  <a:tcPr>
                    <a:solidFill>
                      <a:schemeClr val="bg2">
                        <a:lumMod val="90000"/>
                      </a:schemeClr>
                    </a:solidFill>
                  </a:tcPr>
                </a:tc>
                <a:extLst>
                  <a:ext uri="{0D108BD9-81ED-4DB2-BD59-A6C34878D82A}">
                    <a16:rowId xmlns:a16="http://schemas.microsoft.com/office/drawing/2014/main" val="1510082024"/>
                  </a:ext>
                </a:extLst>
              </a:tr>
            </a:tbl>
          </a:graphicData>
        </a:graphic>
      </p:graphicFrame>
      <p:graphicFrame>
        <p:nvGraphicFramePr>
          <p:cNvPr id="5" name="Table 4">
            <a:extLst>
              <a:ext uri="{FF2B5EF4-FFF2-40B4-BE49-F238E27FC236}">
                <a16:creationId xmlns:a16="http://schemas.microsoft.com/office/drawing/2014/main" id="{A6DCF83C-3651-CA5D-8941-3412D3934B87}"/>
              </a:ext>
            </a:extLst>
          </p:cNvPr>
          <p:cNvGraphicFramePr>
            <a:graphicFrameLocks noGrp="1"/>
          </p:cNvGraphicFramePr>
          <p:nvPr>
            <p:extLst>
              <p:ext uri="{D42A27DB-BD31-4B8C-83A1-F6EECF244321}">
                <p14:modId xmlns:p14="http://schemas.microsoft.com/office/powerpoint/2010/main" val="2270984352"/>
              </p:ext>
            </p:extLst>
          </p:nvPr>
        </p:nvGraphicFramePr>
        <p:xfrm>
          <a:off x="304800" y="952935"/>
          <a:ext cx="11519054" cy="5543552"/>
        </p:xfrm>
        <a:graphic>
          <a:graphicData uri="http://schemas.openxmlformats.org/drawingml/2006/table">
            <a:tbl>
              <a:tblPr firstRow="1" bandRow="1">
                <a:tableStyleId>{073A0DAA-6AF3-43AB-8588-CEC1D06C72B9}</a:tableStyleId>
              </a:tblPr>
              <a:tblGrid>
                <a:gridCol w="1206500">
                  <a:extLst>
                    <a:ext uri="{9D8B030D-6E8A-4147-A177-3AD203B41FA5}">
                      <a16:colId xmlns:a16="http://schemas.microsoft.com/office/drawing/2014/main" val="3588745383"/>
                    </a:ext>
                  </a:extLst>
                </a:gridCol>
                <a:gridCol w="5562600">
                  <a:extLst>
                    <a:ext uri="{9D8B030D-6E8A-4147-A177-3AD203B41FA5}">
                      <a16:colId xmlns:a16="http://schemas.microsoft.com/office/drawing/2014/main" val="829081756"/>
                    </a:ext>
                  </a:extLst>
                </a:gridCol>
                <a:gridCol w="1689100">
                  <a:extLst>
                    <a:ext uri="{9D8B030D-6E8A-4147-A177-3AD203B41FA5}">
                      <a16:colId xmlns:a16="http://schemas.microsoft.com/office/drawing/2014/main" val="4096889196"/>
                    </a:ext>
                  </a:extLst>
                </a:gridCol>
                <a:gridCol w="863600">
                  <a:extLst>
                    <a:ext uri="{9D8B030D-6E8A-4147-A177-3AD203B41FA5}">
                      <a16:colId xmlns:a16="http://schemas.microsoft.com/office/drawing/2014/main" val="1339481930"/>
                    </a:ext>
                  </a:extLst>
                </a:gridCol>
                <a:gridCol w="1155700">
                  <a:extLst>
                    <a:ext uri="{9D8B030D-6E8A-4147-A177-3AD203B41FA5}">
                      <a16:colId xmlns:a16="http://schemas.microsoft.com/office/drawing/2014/main" val="3698628748"/>
                    </a:ext>
                  </a:extLst>
                </a:gridCol>
                <a:gridCol w="1041554">
                  <a:extLst>
                    <a:ext uri="{9D8B030D-6E8A-4147-A177-3AD203B41FA5}">
                      <a16:colId xmlns:a16="http://schemas.microsoft.com/office/drawing/2014/main" val="3361952120"/>
                    </a:ext>
                  </a:extLst>
                </a:gridCol>
              </a:tblGrid>
              <a:tr h="420196">
                <a:tc>
                  <a:txBody>
                    <a:bodyPr/>
                    <a:lstStyle/>
                    <a:p>
                      <a:r>
                        <a:rPr lang="en-US" sz="1100" b="1">
                          <a:solidFill>
                            <a:schemeClr val="bg1"/>
                          </a:solidFill>
                        </a:rPr>
                        <a:t>CRM ID</a:t>
                      </a:r>
                    </a:p>
                  </a:txBody>
                  <a:tcPr>
                    <a:solidFill>
                      <a:schemeClr val="accent1"/>
                    </a:solidFill>
                  </a:tcPr>
                </a:tc>
                <a:tc>
                  <a:txBody>
                    <a:bodyPr/>
                    <a:lstStyle/>
                    <a:p>
                      <a:r>
                        <a:rPr lang="en-US" sz="1100" b="1">
                          <a:solidFill>
                            <a:schemeClr val="bg1"/>
                          </a:solidFill>
                        </a:rPr>
                        <a:t>Name</a:t>
                      </a:r>
                    </a:p>
                  </a:txBody>
                  <a:tcPr>
                    <a:solidFill>
                      <a:schemeClr val="accent1"/>
                    </a:solidFill>
                  </a:tcPr>
                </a:tc>
                <a:tc>
                  <a:txBody>
                    <a:bodyPr/>
                    <a:lstStyle/>
                    <a:p>
                      <a:r>
                        <a:rPr lang="en-US" sz="1100" b="1">
                          <a:solidFill>
                            <a:schemeClr val="bg1"/>
                          </a:solidFill>
                        </a:rPr>
                        <a:t>Potential CGS Value</a:t>
                      </a:r>
                    </a:p>
                  </a:txBody>
                  <a:tcPr>
                    <a:solidFill>
                      <a:schemeClr val="accent1"/>
                    </a:solidFill>
                  </a:tcPr>
                </a:tc>
                <a:tc>
                  <a:txBody>
                    <a:bodyPr/>
                    <a:lstStyle/>
                    <a:p>
                      <a:r>
                        <a:rPr lang="en-US" sz="1100" b="1">
                          <a:solidFill>
                            <a:schemeClr val="bg1"/>
                          </a:solidFill>
                        </a:rPr>
                        <a:t>PWin</a:t>
                      </a:r>
                    </a:p>
                  </a:txBody>
                  <a:tcPr>
                    <a:solidFill>
                      <a:schemeClr val="accent1"/>
                    </a:solidFill>
                  </a:tcPr>
                </a:tc>
                <a:tc>
                  <a:txBody>
                    <a:bodyPr/>
                    <a:lstStyle/>
                    <a:p>
                      <a:r>
                        <a:rPr lang="en-US" sz="1100" b="1">
                          <a:solidFill>
                            <a:schemeClr val="bg1"/>
                          </a:solidFill>
                        </a:rPr>
                        <a:t>Est. RFP Date</a:t>
                      </a:r>
                    </a:p>
                  </a:txBody>
                  <a:tcPr>
                    <a:solidFill>
                      <a:schemeClr val="accent1"/>
                    </a:solidFill>
                  </a:tcPr>
                </a:tc>
                <a:tc>
                  <a:txBody>
                    <a:bodyPr/>
                    <a:lstStyle/>
                    <a:p>
                      <a:r>
                        <a:rPr lang="en-US" sz="1100" b="1">
                          <a:solidFill>
                            <a:schemeClr val="bg1"/>
                          </a:solidFill>
                        </a:rPr>
                        <a:t>Est. Close</a:t>
                      </a:r>
                    </a:p>
                  </a:txBody>
                  <a:tcPr>
                    <a:solidFill>
                      <a:schemeClr val="accent1"/>
                    </a:solidFill>
                  </a:tcPr>
                </a:tc>
                <a:extLst>
                  <a:ext uri="{0D108BD9-81ED-4DB2-BD59-A6C34878D82A}">
                    <a16:rowId xmlns:a16="http://schemas.microsoft.com/office/drawing/2014/main" val="353147149"/>
                  </a:ext>
                </a:extLst>
              </a:tr>
              <a:tr h="420196">
                <a:tc>
                  <a:txBody>
                    <a:bodyPr/>
                    <a:lstStyle/>
                    <a:p>
                      <a:r>
                        <a:rPr lang="en-US" sz="1100" b="0" dirty="0" err="1">
                          <a:solidFill>
                            <a:schemeClr val="tx1"/>
                          </a:solidFill>
                        </a:rPr>
                        <a:t>xxxx</a:t>
                      </a:r>
                      <a:endParaRPr lang="en-US" sz="1100" b="0" dirty="0">
                        <a:solidFill>
                          <a:schemeClr val="tx1"/>
                        </a:solidFill>
                      </a:endParaRPr>
                    </a:p>
                  </a:txBody>
                  <a:tcPr/>
                </a:tc>
                <a:tc>
                  <a:txBody>
                    <a:bodyPr/>
                    <a:lstStyle/>
                    <a:p>
                      <a:r>
                        <a:rPr lang="en-US" sz="1100" dirty="0"/>
                        <a:t>DoD Multi-Cloud Onboarding</a:t>
                      </a:r>
                      <a:endParaRPr lang="en-US" sz="1100" b="0" dirty="0">
                        <a:solidFill>
                          <a:schemeClr val="tx1"/>
                        </a:solidFill>
                      </a:endParaRPr>
                    </a:p>
                  </a:txBody>
                  <a:tcPr/>
                </a:tc>
                <a:tc>
                  <a:txBody>
                    <a:bodyPr/>
                    <a:lstStyle/>
                    <a:p>
                      <a:r>
                        <a:rPr lang="en-US" sz="1100" dirty="0"/>
                        <a:t>$2.2M</a:t>
                      </a:r>
                      <a:endParaRPr lang="en-US" sz="1100" b="0" dirty="0">
                        <a:solidFill>
                          <a:schemeClr val="tx1"/>
                        </a:solidFill>
                      </a:endParaRPr>
                    </a:p>
                  </a:txBody>
                  <a:tcPr/>
                </a:tc>
                <a:tc>
                  <a:txBody>
                    <a:bodyPr/>
                    <a:lstStyle/>
                    <a:p>
                      <a:r>
                        <a:rPr lang="en-US" sz="1100" dirty="0"/>
                        <a:t>40%</a:t>
                      </a:r>
                      <a:endParaRPr lang="en-US" sz="1100" b="0" dirty="0">
                        <a:solidFill>
                          <a:schemeClr val="tx1"/>
                        </a:solidFill>
                      </a:endParaRPr>
                    </a:p>
                  </a:txBody>
                  <a:tcPr/>
                </a:tc>
                <a:tc>
                  <a:txBody>
                    <a:bodyPr/>
                    <a:lstStyle/>
                    <a:p>
                      <a:r>
                        <a:rPr lang="en-US" sz="1100" dirty="0"/>
                        <a:t>Aug 2025</a:t>
                      </a:r>
                      <a:endParaRPr lang="en-US" sz="1100" b="0" dirty="0">
                        <a:solidFill>
                          <a:schemeClr val="tx1"/>
                        </a:solidFill>
                      </a:endParaRPr>
                    </a:p>
                  </a:txBody>
                  <a:tcPr/>
                </a:tc>
                <a:tc>
                  <a:txBody>
                    <a:bodyPr/>
                    <a:lstStyle/>
                    <a:p>
                      <a:r>
                        <a:rPr lang="en-US" sz="1100" dirty="0"/>
                        <a:t>Q4 2025</a:t>
                      </a:r>
                    </a:p>
                  </a:txBody>
                  <a:tcPr/>
                </a:tc>
                <a:extLst>
                  <a:ext uri="{0D108BD9-81ED-4DB2-BD59-A6C34878D82A}">
                    <a16:rowId xmlns:a16="http://schemas.microsoft.com/office/drawing/2014/main" val="360089517"/>
                  </a:ext>
                </a:extLst>
              </a:tr>
              <a:tr h="335940">
                <a:tc>
                  <a:txBody>
                    <a:bodyPr/>
                    <a:lstStyle/>
                    <a:p>
                      <a:r>
                        <a:rPr lang="en-US" sz="1100" b="0" dirty="0" err="1">
                          <a:solidFill>
                            <a:schemeClr val="tx1"/>
                          </a:solidFill>
                        </a:rPr>
                        <a:t>xxxx</a:t>
                      </a:r>
                      <a:endParaRPr lang="en-US" sz="1100" b="0" dirty="0">
                        <a:solidFill>
                          <a:schemeClr val="tx1"/>
                        </a:solidFill>
                      </a:endParaRPr>
                    </a:p>
                  </a:txBody>
                  <a:tcPr/>
                </a:tc>
                <a:tc>
                  <a:txBody>
                    <a:bodyPr/>
                    <a:lstStyle/>
                    <a:p>
                      <a:r>
                        <a:rPr lang="en-US" sz="1100" dirty="0"/>
                        <a:t>Zero Trust Landing Zone (ZTLZ)</a:t>
                      </a:r>
                      <a:endParaRPr lang="en-US" sz="1100" b="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$950K</a:t>
                      </a:r>
                      <a:endParaRPr lang="en-US" sz="1100" b="0" dirty="0">
                        <a:solidFill>
                          <a:schemeClr val="tx1"/>
                        </a:solidFill>
                      </a:endParaRPr>
                    </a:p>
                  </a:txBody>
                  <a:tcPr anchor="ctr"/>
                </a:tc>
                <a:tc>
                  <a:txBody>
                    <a:bodyPr/>
                    <a:lstStyle/>
                    <a:p>
                      <a:r>
                        <a:rPr lang="en-US" sz="1100" dirty="0"/>
                        <a:t>35%</a:t>
                      </a:r>
                      <a:endParaRPr lang="en-US" sz="1100" b="0" dirty="0">
                        <a:solidFill>
                          <a:schemeClr val="tx1"/>
                        </a:solidFill>
                      </a:endParaRPr>
                    </a:p>
                  </a:txBody>
                  <a:tcPr/>
                </a:tc>
                <a:tc>
                  <a:txBody>
                    <a:bodyPr/>
                    <a:lstStyle/>
                    <a:p>
                      <a:r>
                        <a:rPr lang="en-US" sz="1100" dirty="0"/>
                        <a:t>Jul 2025</a:t>
                      </a:r>
                      <a:endParaRPr lang="en-US" sz="1100" b="0" dirty="0">
                        <a:solidFill>
                          <a:schemeClr val="tx1"/>
                        </a:solidFill>
                      </a:endParaRPr>
                    </a:p>
                  </a:txBody>
                  <a:tcPr/>
                </a:tc>
                <a:tc>
                  <a:txBody>
                    <a:bodyPr/>
                    <a:lstStyle/>
                    <a:p>
                      <a:r>
                        <a:rPr lang="en-US" sz="1100" dirty="0"/>
                        <a:t>Oct 2025</a:t>
                      </a:r>
                    </a:p>
                  </a:txBody>
                  <a:tcPr/>
                </a:tc>
                <a:extLst>
                  <a:ext uri="{0D108BD9-81ED-4DB2-BD59-A6C34878D82A}">
                    <a16:rowId xmlns:a16="http://schemas.microsoft.com/office/drawing/2014/main" val="683278476"/>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1872499186"/>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2230987287"/>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1638271327"/>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1372705525"/>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3713958068"/>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1414038630"/>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3878396262"/>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206008715"/>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3343707305"/>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349800855"/>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296565305"/>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a:p>
                  </a:txBody>
                  <a:tcPr/>
                </a:tc>
                <a:extLst>
                  <a:ext uri="{0D108BD9-81ED-4DB2-BD59-A6C34878D82A}">
                    <a16:rowId xmlns:a16="http://schemas.microsoft.com/office/drawing/2014/main" val="1873519203"/>
                  </a:ext>
                </a:extLst>
              </a:tr>
              <a:tr h="335940">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b="0">
                        <a:solidFill>
                          <a:schemeClr val="tx1"/>
                        </a:solidFill>
                      </a:endParaRPr>
                    </a:p>
                  </a:txBody>
                  <a:tcPr/>
                </a:tc>
                <a:tc>
                  <a:txBody>
                    <a:bodyPr/>
                    <a:lstStyle/>
                    <a:p>
                      <a:endParaRPr lang="en-US" sz="1100" dirty="0"/>
                    </a:p>
                  </a:txBody>
                  <a:tcPr/>
                </a:tc>
                <a:extLst>
                  <a:ext uri="{0D108BD9-81ED-4DB2-BD59-A6C34878D82A}">
                    <a16:rowId xmlns:a16="http://schemas.microsoft.com/office/drawing/2014/main" val="2441870120"/>
                  </a:ext>
                </a:extLst>
              </a:tr>
            </a:tbl>
          </a:graphicData>
        </a:graphic>
      </p:graphicFrame>
    </p:spTree>
    <p:extLst>
      <p:ext uri="{BB962C8B-B14F-4D97-AF65-F5344CB8AC3E}">
        <p14:creationId xmlns:p14="http://schemas.microsoft.com/office/powerpoint/2010/main" val="3101539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33A6-6018-265E-6CB4-87574ACA1DF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896D343-50E7-5838-DDFE-A0736B6FBAE6}"/>
              </a:ext>
            </a:extLst>
          </p:cNvPr>
          <p:cNvSpPr>
            <a:spLocks noGrp="1"/>
          </p:cNvSpPr>
          <p:nvPr>
            <p:ph type="title"/>
          </p:nvPr>
        </p:nvSpPr>
        <p:spPr>
          <a:xfrm>
            <a:off x="304800" y="152401"/>
            <a:ext cx="11125236" cy="457200"/>
          </a:xfrm>
        </p:spPr>
        <p:txBody>
          <a:bodyPr/>
          <a:lstStyle/>
          <a:p>
            <a:r>
              <a:rPr lang="en-US"/>
              <a:t>SOLUTION INVESTMENT budget</a:t>
            </a:r>
          </a:p>
        </p:txBody>
      </p:sp>
      <p:graphicFrame>
        <p:nvGraphicFramePr>
          <p:cNvPr id="2" name="Table 3">
            <a:extLst>
              <a:ext uri="{FF2B5EF4-FFF2-40B4-BE49-F238E27FC236}">
                <a16:creationId xmlns:a16="http://schemas.microsoft.com/office/drawing/2014/main" id="{21F63AC8-006A-28B9-D04B-321F0BEBEB4F}"/>
              </a:ext>
            </a:extLst>
          </p:cNvPr>
          <p:cNvGraphicFramePr>
            <a:graphicFrameLocks noGrp="1"/>
          </p:cNvGraphicFramePr>
          <p:nvPr>
            <p:extLst>
              <p:ext uri="{D42A27DB-BD31-4B8C-83A1-F6EECF244321}">
                <p14:modId xmlns:p14="http://schemas.microsoft.com/office/powerpoint/2010/main" val="2517498028"/>
              </p:ext>
            </p:extLst>
          </p:nvPr>
        </p:nvGraphicFramePr>
        <p:xfrm>
          <a:off x="304800" y="628868"/>
          <a:ext cx="11519052" cy="304800"/>
        </p:xfrm>
        <a:graphic>
          <a:graphicData uri="http://schemas.openxmlformats.org/drawingml/2006/table">
            <a:tbl>
              <a:tblPr bandRow="1">
                <a:tableStyleId>{5C22544A-7EE6-4342-B048-85BDC9FD1C3A}</a:tableStyleId>
              </a:tblPr>
              <a:tblGrid>
                <a:gridCol w="2394857">
                  <a:extLst>
                    <a:ext uri="{9D8B030D-6E8A-4147-A177-3AD203B41FA5}">
                      <a16:colId xmlns:a16="http://schemas.microsoft.com/office/drawing/2014/main" val="3588745383"/>
                    </a:ext>
                  </a:extLst>
                </a:gridCol>
                <a:gridCol w="9124195">
                  <a:extLst>
                    <a:ext uri="{9D8B030D-6E8A-4147-A177-3AD203B41FA5}">
                      <a16:colId xmlns:a16="http://schemas.microsoft.com/office/drawing/2014/main" val="829081756"/>
                    </a:ext>
                  </a:extLst>
                </a:gridCol>
              </a:tblGrid>
              <a:tr h="280882">
                <a:tc>
                  <a:txBody>
                    <a:bodyPr/>
                    <a:lstStyle/>
                    <a:p>
                      <a:r>
                        <a:rPr lang="en-US" sz="1400" b="1">
                          <a:solidFill>
                            <a:schemeClr val="bg1"/>
                          </a:solidFill>
                        </a:rPr>
                        <a:t>Solution Initiative Name</a:t>
                      </a:r>
                    </a:p>
                  </a:txBody>
                  <a:tcPr>
                    <a:solidFill>
                      <a:schemeClr val="accent1">
                        <a:lumMod val="75000"/>
                      </a:schemeClr>
                    </a:solidFill>
                  </a:tcPr>
                </a:tc>
                <a:tc>
                  <a:txBody>
                    <a:bodyPr/>
                    <a:lstStyle/>
                    <a:p>
                      <a:r>
                        <a:rPr lang="en-US" sz="1400" b="1"/>
                        <a:t>Mimeo Maintenance</a:t>
                      </a:r>
                    </a:p>
                  </a:txBody>
                  <a:tcPr>
                    <a:solidFill>
                      <a:schemeClr val="bg2">
                        <a:lumMod val="90000"/>
                      </a:schemeClr>
                    </a:solidFill>
                  </a:tcPr>
                </a:tc>
                <a:extLst>
                  <a:ext uri="{0D108BD9-81ED-4DB2-BD59-A6C34878D82A}">
                    <a16:rowId xmlns:a16="http://schemas.microsoft.com/office/drawing/2014/main" val="1510082024"/>
                  </a:ext>
                </a:extLst>
              </a:tr>
            </a:tbl>
          </a:graphicData>
        </a:graphic>
      </p:graphicFrame>
      <p:graphicFrame>
        <p:nvGraphicFramePr>
          <p:cNvPr id="5" name="Table 4">
            <a:extLst>
              <a:ext uri="{FF2B5EF4-FFF2-40B4-BE49-F238E27FC236}">
                <a16:creationId xmlns:a16="http://schemas.microsoft.com/office/drawing/2014/main" id="{327F5185-BBED-CBDA-3590-1BBBB77D270D}"/>
              </a:ext>
            </a:extLst>
          </p:cNvPr>
          <p:cNvGraphicFramePr>
            <a:graphicFrameLocks noGrp="1"/>
          </p:cNvGraphicFramePr>
          <p:nvPr>
            <p:extLst>
              <p:ext uri="{D42A27DB-BD31-4B8C-83A1-F6EECF244321}">
                <p14:modId xmlns:p14="http://schemas.microsoft.com/office/powerpoint/2010/main" val="803391653"/>
              </p:ext>
            </p:extLst>
          </p:nvPr>
        </p:nvGraphicFramePr>
        <p:xfrm>
          <a:off x="308571" y="947471"/>
          <a:ext cx="11519049" cy="3930041"/>
        </p:xfrm>
        <a:graphic>
          <a:graphicData uri="http://schemas.openxmlformats.org/drawingml/2006/table">
            <a:tbl>
              <a:tblPr firstRow="1" bandRow="1">
                <a:tableStyleId>{073A0DAA-6AF3-43AB-8588-CEC1D06C72B9}</a:tableStyleId>
              </a:tblPr>
              <a:tblGrid>
                <a:gridCol w="2854959">
                  <a:extLst>
                    <a:ext uri="{9D8B030D-6E8A-4147-A177-3AD203B41FA5}">
                      <a16:colId xmlns:a16="http://schemas.microsoft.com/office/drawing/2014/main" val="3588745383"/>
                    </a:ext>
                  </a:extLst>
                </a:gridCol>
                <a:gridCol w="1910078">
                  <a:extLst>
                    <a:ext uri="{9D8B030D-6E8A-4147-A177-3AD203B41FA5}">
                      <a16:colId xmlns:a16="http://schemas.microsoft.com/office/drawing/2014/main" val="829081756"/>
                    </a:ext>
                  </a:extLst>
                </a:gridCol>
                <a:gridCol w="2255520">
                  <a:extLst>
                    <a:ext uri="{9D8B030D-6E8A-4147-A177-3AD203B41FA5}">
                      <a16:colId xmlns:a16="http://schemas.microsoft.com/office/drawing/2014/main" val="4096889196"/>
                    </a:ext>
                  </a:extLst>
                </a:gridCol>
                <a:gridCol w="1706880">
                  <a:extLst>
                    <a:ext uri="{9D8B030D-6E8A-4147-A177-3AD203B41FA5}">
                      <a16:colId xmlns:a16="http://schemas.microsoft.com/office/drawing/2014/main" val="3698628748"/>
                    </a:ext>
                  </a:extLst>
                </a:gridCol>
                <a:gridCol w="871770">
                  <a:extLst>
                    <a:ext uri="{9D8B030D-6E8A-4147-A177-3AD203B41FA5}">
                      <a16:colId xmlns:a16="http://schemas.microsoft.com/office/drawing/2014/main" val="3361952120"/>
                    </a:ext>
                  </a:extLst>
                </a:gridCol>
                <a:gridCol w="1919842">
                  <a:extLst>
                    <a:ext uri="{9D8B030D-6E8A-4147-A177-3AD203B41FA5}">
                      <a16:colId xmlns:a16="http://schemas.microsoft.com/office/drawing/2014/main" val="1137419098"/>
                    </a:ext>
                  </a:extLst>
                </a:gridCol>
              </a:tblGrid>
              <a:tr h="192215">
                <a:tc>
                  <a:txBody>
                    <a:bodyPr/>
                    <a:lstStyle/>
                    <a:p>
                      <a:r>
                        <a:rPr lang="en-US" sz="1100" b="1">
                          <a:solidFill>
                            <a:schemeClr val="bg1"/>
                          </a:solidFill>
                        </a:rPr>
                        <a:t>Role</a:t>
                      </a:r>
                    </a:p>
                  </a:txBody>
                  <a:tcPr>
                    <a:solidFill>
                      <a:schemeClr val="accent1"/>
                    </a:solidFill>
                  </a:tcPr>
                </a:tc>
                <a:tc>
                  <a:txBody>
                    <a:bodyPr/>
                    <a:lstStyle/>
                    <a:p>
                      <a:r>
                        <a:rPr lang="en-US" sz="1100" b="1">
                          <a:solidFill>
                            <a:schemeClr val="bg1"/>
                          </a:solidFill>
                        </a:rPr>
                        <a:t>Name</a:t>
                      </a:r>
                    </a:p>
                  </a:txBody>
                  <a:tcPr>
                    <a:solidFill>
                      <a:schemeClr val="accent1"/>
                    </a:solidFill>
                  </a:tcPr>
                </a:tc>
                <a:tc>
                  <a:txBody>
                    <a:bodyPr/>
                    <a:lstStyle/>
                    <a:p>
                      <a:r>
                        <a:rPr lang="en-US" sz="1100" b="1">
                          <a:solidFill>
                            <a:schemeClr val="bg1"/>
                          </a:solidFill>
                        </a:rPr>
                        <a:t>Labor Cost Code</a:t>
                      </a:r>
                    </a:p>
                  </a:txBody>
                  <a:tcPr>
                    <a:solidFill>
                      <a:schemeClr val="accent1"/>
                    </a:solidFill>
                  </a:tcPr>
                </a:tc>
                <a:tc>
                  <a:txBody>
                    <a:bodyPr/>
                    <a:lstStyle/>
                    <a:p>
                      <a:r>
                        <a:rPr lang="en-US" sz="1100" b="1">
                          <a:solidFill>
                            <a:schemeClr val="bg1"/>
                          </a:solidFill>
                        </a:rPr>
                        <a:t>Hourly Rate</a:t>
                      </a:r>
                    </a:p>
                  </a:txBody>
                  <a:tcPr>
                    <a:solidFill>
                      <a:schemeClr val="accent1"/>
                    </a:solidFill>
                  </a:tcPr>
                </a:tc>
                <a:tc>
                  <a:txBody>
                    <a:bodyPr/>
                    <a:lstStyle/>
                    <a:p>
                      <a:r>
                        <a:rPr lang="en-US" sz="1100" b="1">
                          <a:solidFill>
                            <a:schemeClr val="bg1"/>
                          </a:solidFill>
                        </a:rPr>
                        <a:t>Hours</a:t>
                      </a:r>
                    </a:p>
                  </a:txBody>
                  <a:tcPr>
                    <a:solidFill>
                      <a:schemeClr val="accent1"/>
                    </a:solidFill>
                  </a:tcPr>
                </a:tc>
                <a:tc>
                  <a:txBody>
                    <a:bodyPr/>
                    <a:lstStyle/>
                    <a:p>
                      <a:r>
                        <a:rPr lang="en-US" sz="1100" b="1">
                          <a:solidFill>
                            <a:schemeClr val="bg1"/>
                          </a:solidFill>
                        </a:rPr>
                        <a:t>Labor Cost*</a:t>
                      </a:r>
                    </a:p>
                  </a:txBody>
                  <a:tcPr>
                    <a:solidFill>
                      <a:schemeClr val="accent1"/>
                    </a:solidFill>
                  </a:tcPr>
                </a:tc>
                <a:extLst>
                  <a:ext uri="{0D108BD9-81ED-4DB2-BD59-A6C34878D82A}">
                    <a16:rowId xmlns:a16="http://schemas.microsoft.com/office/drawing/2014/main" val="353147149"/>
                  </a:ext>
                </a:extLst>
              </a:tr>
              <a:tr h="255914">
                <a:tc>
                  <a:txBody>
                    <a:bodyPr/>
                    <a:lstStyle/>
                    <a:p>
                      <a:pPr lvl="0" algn="l">
                        <a:buNone/>
                      </a:pPr>
                      <a:r>
                        <a:rPr lang="en-US" sz="1100" b="0" i="0" u="none" strike="noStrike">
                          <a:solidFill>
                            <a:srgbClr val="000000"/>
                          </a:solidFill>
                          <a:effectLst/>
                          <a:latin typeface="+mn-lt"/>
                        </a:rPr>
                        <a:t>AI / ML Developer</a:t>
                      </a:r>
                      <a:endParaRPr lang="en-US"/>
                    </a:p>
                  </a:txBody>
                  <a:tcPr marR="7620" marT="7620" marB="0" anchor="ctr"/>
                </a:tc>
                <a:tc>
                  <a:txBody>
                    <a:bodyPr/>
                    <a:lstStyle/>
                    <a:p>
                      <a:pPr lvl="0" algn="l">
                        <a:buNone/>
                      </a:pPr>
                      <a:r>
                        <a:rPr lang="en-US" sz="1100" b="0" i="0" u="none" strike="noStrike">
                          <a:solidFill>
                            <a:srgbClr val="000000"/>
                          </a:solidFill>
                          <a:effectLst/>
                          <a:latin typeface="+mn-lt"/>
                        </a:rPr>
                        <a:t>Marc Ellens</a:t>
                      </a:r>
                    </a:p>
                  </a:txBody>
                  <a:tcPr marR="7620" marT="7620" marB="0" anchor="ctr"/>
                </a:tc>
                <a:tc>
                  <a:txBody>
                    <a:bodyPr/>
                    <a:lstStyle/>
                    <a:p>
                      <a:pPr algn="l" fontAlgn="b"/>
                      <a:r>
                        <a:rPr lang="en-US" sz="1100" b="0" i="0" u="none" strike="noStrike">
                          <a:solidFill>
                            <a:srgbClr val="000000"/>
                          </a:solidFill>
                          <a:effectLst/>
                          <a:latin typeface="+mn-lt"/>
                        </a:rPr>
                        <a:t>Manager II</a:t>
                      </a:r>
                    </a:p>
                  </a:txBody>
                  <a:tcPr marR="7620" marT="7620" marB="0" anchor="ctr"/>
                </a:tc>
                <a:tc>
                  <a:txBody>
                    <a:bodyPr/>
                    <a:lstStyle/>
                    <a:p>
                      <a:pPr algn="ctr" rtl="0" fontAlgn="b"/>
                      <a:r>
                        <a:rPr lang="en-US" sz="1000" b="0" i="0" u="none" strike="noStrike">
                          <a:solidFill>
                            <a:srgbClr val="000000"/>
                          </a:solidFill>
                          <a:effectLst/>
                          <a:latin typeface="+mn-lt"/>
                        </a:rPr>
                        <a:t>$100.00</a:t>
                      </a:r>
                    </a:p>
                  </a:txBody>
                  <a:tcPr marT="7620" marB="0" anchor="ctr"/>
                </a:tc>
                <a:tc>
                  <a:txBody>
                    <a:bodyPr/>
                    <a:lstStyle/>
                    <a:p>
                      <a:pPr lvl="0" algn="ctr">
                        <a:buNone/>
                      </a:pPr>
                      <a:r>
                        <a:rPr lang="en-US" sz="1000" b="0" i="0" u="none" strike="noStrike">
                          <a:solidFill>
                            <a:srgbClr val="000000"/>
                          </a:solidFill>
                          <a:effectLst/>
                          <a:latin typeface="+mn-lt"/>
                        </a:rPr>
                        <a:t>135</a:t>
                      </a:r>
                      <a:endParaRPr lang="en-US"/>
                    </a:p>
                  </a:txBody>
                  <a:tcPr marT="7620" marB="0" anchor="ctr"/>
                </a:tc>
                <a:tc>
                  <a:txBody>
                    <a:bodyPr/>
                    <a:lstStyle/>
                    <a:p>
                      <a:pPr algn="r" rtl="0" fontAlgn="b"/>
                      <a:r>
                        <a:rPr lang="en-US" sz="1000" b="0" i="0" u="none" strike="noStrike">
                          <a:solidFill>
                            <a:srgbClr val="000000"/>
                          </a:solidFill>
                          <a:effectLst/>
                          <a:latin typeface="+mn-lt"/>
                        </a:rPr>
                        <a:t>$13,500.00</a:t>
                      </a:r>
                    </a:p>
                  </a:txBody>
                  <a:tcPr marL="7620" marT="7620" marB="0" anchor="ctr"/>
                </a:tc>
                <a:extLst>
                  <a:ext uri="{0D108BD9-81ED-4DB2-BD59-A6C34878D82A}">
                    <a16:rowId xmlns:a16="http://schemas.microsoft.com/office/drawing/2014/main" val="360089517"/>
                  </a:ext>
                </a:extLst>
              </a:tr>
              <a:tr h="255913">
                <a:tc>
                  <a:txBody>
                    <a:bodyPr/>
                    <a:lstStyle/>
                    <a:p>
                      <a:pPr lvl="0" algn="l">
                        <a:buNone/>
                      </a:pPr>
                      <a:r>
                        <a:rPr lang="en-US" sz="1100" b="0" i="0" u="none" strike="noStrike" noProof="0">
                          <a:solidFill>
                            <a:schemeClr val="tx1"/>
                          </a:solidFill>
                          <a:effectLst/>
                          <a:latin typeface="Ubuntu"/>
                        </a:rPr>
                        <a:t>AWS DevOps</a:t>
                      </a:r>
                      <a:endParaRPr lang="en-US"/>
                    </a:p>
                  </a:txBody>
                  <a:tcPr marR="7620" marT="7620" marB="0" anchor="ctr"/>
                </a:tc>
                <a:tc>
                  <a:txBody>
                    <a:bodyPr/>
                    <a:lstStyle/>
                    <a:p>
                      <a:pPr lvl="0" algn="l">
                        <a:buNone/>
                      </a:pPr>
                      <a:r>
                        <a:rPr lang="en-US" sz="1100" b="0" i="0" u="none" strike="noStrike">
                          <a:solidFill>
                            <a:schemeClr val="tx1"/>
                          </a:solidFill>
                          <a:effectLst/>
                          <a:latin typeface="+mn-lt"/>
                        </a:rPr>
                        <a:t>Collins </a:t>
                      </a:r>
                      <a:r>
                        <a:rPr lang="en-US" sz="1100" b="0" i="0" u="none" strike="noStrike" err="1">
                          <a:solidFill>
                            <a:schemeClr val="tx1"/>
                          </a:solidFill>
                          <a:effectLst/>
                          <a:latin typeface="+mn-lt"/>
                        </a:rPr>
                        <a:t>Afanwi</a:t>
                      </a:r>
                      <a:endParaRPr lang="en-US" sz="1100" b="0" i="0" u="none" strike="noStrike">
                        <a:solidFill>
                          <a:srgbClr val="000000"/>
                        </a:solidFill>
                        <a:effectLst/>
                        <a:latin typeface="+mn-lt"/>
                      </a:endParaRPr>
                    </a:p>
                  </a:txBody>
                  <a:tcPr marR="7620" marT="7620" marB="0" anchor="ctr"/>
                </a:tc>
                <a:tc>
                  <a:txBody>
                    <a:bodyPr/>
                    <a:lstStyle/>
                    <a:p>
                      <a:pPr algn="l" fontAlgn="b"/>
                      <a:r>
                        <a:rPr lang="en-US" sz="1100" b="0" i="0" u="none" strike="noStrike">
                          <a:solidFill>
                            <a:srgbClr val="000000"/>
                          </a:solidFill>
                          <a:effectLst/>
                          <a:latin typeface="+mn-lt"/>
                        </a:rPr>
                        <a:t>Manager II</a:t>
                      </a:r>
                    </a:p>
                  </a:txBody>
                  <a:tcPr marR="7620" marT="7620" marB="0" anchor="ctr"/>
                </a:tc>
                <a:tc>
                  <a:txBody>
                    <a:bodyPr/>
                    <a:lstStyle/>
                    <a:p>
                      <a:pPr algn="ctr" rtl="0" fontAlgn="b"/>
                      <a:r>
                        <a:rPr lang="en-US" sz="1000" b="0" i="0" u="none" strike="noStrike">
                          <a:solidFill>
                            <a:srgbClr val="000000"/>
                          </a:solidFill>
                          <a:effectLst/>
                          <a:latin typeface="+mn-lt"/>
                        </a:rPr>
                        <a:t>$100.00</a:t>
                      </a:r>
                    </a:p>
                  </a:txBody>
                  <a:tcPr marT="7620" marB="0" anchor="ctr"/>
                </a:tc>
                <a:tc>
                  <a:txBody>
                    <a:bodyPr/>
                    <a:lstStyle/>
                    <a:p>
                      <a:pPr lvl="0" algn="ctr">
                        <a:buNone/>
                      </a:pPr>
                      <a:r>
                        <a:rPr lang="en-US" sz="1000" b="0" i="0" u="none" strike="noStrike">
                          <a:solidFill>
                            <a:srgbClr val="000000"/>
                          </a:solidFill>
                          <a:effectLst/>
                          <a:latin typeface="+mn-lt"/>
                        </a:rPr>
                        <a:t>135</a:t>
                      </a:r>
                      <a:endParaRPr lang="en-US"/>
                    </a:p>
                  </a:txBody>
                  <a:tcPr marT="7620" marB="0" anchor="ctr"/>
                </a:tc>
                <a:tc>
                  <a:txBody>
                    <a:bodyPr/>
                    <a:lstStyle/>
                    <a:p>
                      <a:pPr lvl="0" algn="r">
                        <a:buNone/>
                      </a:pPr>
                      <a:r>
                        <a:rPr lang="en-US" sz="1000" b="0" i="0" u="none" strike="noStrike" noProof="0">
                          <a:solidFill>
                            <a:srgbClr val="000000"/>
                          </a:solidFill>
                          <a:effectLst/>
                          <a:latin typeface="Ubuntu"/>
                        </a:rPr>
                        <a:t>$13,500.00</a:t>
                      </a:r>
                      <a:endParaRPr lang="en-US"/>
                    </a:p>
                  </a:txBody>
                  <a:tcPr marL="7620" marT="7620" marB="0" anchor="ctr"/>
                </a:tc>
                <a:extLst>
                  <a:ext uri="{0D108BD9-81ED-4DB2-BD59-A6C34878D82A}">
                    <a16:rowId xmlns:a16="http://schemas.microsoft.com/office/drawing/2014/main" val="683278476"/>
                  </a:ext>
                </a:extLst>
              </a:tr>
              <a:tr h="255914">
                <a:tc>
                  <a:txBody>
                    <a:bodyPr/>
                    <a:lstStyle/>
                    <a:p>
                      <a:pPr lvl="0" algn="l">
                        <a:buNone/>
                      </a:pPr>
                      <a:endParaRPr lang="en-US" sz="1100" b="0" i="0" u="none" strike="noStrike" noProof="0">
                        <a:solidFill>
                          <a:schemeClr val="tx1"/>
                        </a:solidFill>
                        <a:latin typeface="Ubuntu"/>
                      </a:endParaRPr>
                    </a:p>
                  </a:txBody>
                  <a:tcPr marR="7620" marT="7620" marB="0" anchor="ctr"/>
                </a:tc>
                <a:tc>
                  <a:txBody>
                    <a:bodyPr/>
                    <a:lstStyle/>
                    <a:p>
                      <a:pPr algn="l" fontAlgn="b"/>
                      <a:endParaRPr lang="en-US" sz="1100" b="0" i="0" u="none" strike="noStrike" err="1">
                        <a:solidFill>
                          <a:schemeClr val="tx1"/>
                        </a:solidFill>
                        <a:effectLst/>
                        <a:latin typeface="+mn-lt"/>
                      </a:endParaRPr>
                    </a:p>
                  </a:txBody>
                  <a:tcPr marR="7620" marT="7620" marB="0" anchor="ctr"/>
                </a:tc>
                <a:tc>
                  <a:txBody>
                    <a:bodyPr/>
                    <a:lstStyle/>
                    <a:p>
                      <a:pPr algn="l" fontAlgn="b"/>
                      <a:endParaRPr lang="en-US" sz="1100" b="0" i="0" u="none" strike="noStrike">
                        <a:solidFill>
                          <a:srgbClr val="000000"/>
                        </a:solidFill>
                        <a:effectLst/>
                        <a:latin typeface="+mn-lt"/>
                      </a:endParaRPr>
                    </a:p>
                  </a:txBody>
                  <a:tcPr marR="7620" marT="7620" marB="0" anchor="ctr"/>
                </a:tc>
                <a:tc>
                  <a:txBody>
                    <a:bodyPr/>
                    <a:lstStyle/>
                    <a:p>
                      <a:pPr lvl="0" algn="ctr">
                        <a:buNone/>
                      </a:pPr>
                      <a:endParaRPr lang="en-US" sz="1000" b="0" i="0" u="none" strike="noStrike" noProof="0">
                        <a:solidFill>
                          <a:srgbClr val="000000"/>
                        </a:solidFill>
                        <a:effectLst/>
                        <a:latin typeface="Ubuntu"/>
                      </a:endParaRPr>
                    </a:p>
                  </a:txBody>
                  <a:tcPr marT="7620" marB="0" anchor="ctr"/>
                </a:tc>
                <a:tc>
                  <a:txBody>
                    <a:bodyPr/>
                    <a:lstStyle/>
                    <a:p>
                      <a:pPr lvl="0" algn="ctr">
                        <a:buNone/>
                      </a:pPr>
                      <a:endParaRPr lang="en-US" sz="1000" b="0" i="0" u="none" strike="noStrike" noProof="0">
                        <a:solidFill>
                          <a:srgbClr val="000000"/>
                        </a:solidFill>
                        <a:effectLst/>
                        <a:latin typeface="Ubuntu"/>
                      </a:endParaRPr>
                    </a:p>
                  </a:txBody>
                  <a:tcPr marT="7620" marB="0"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1872499186"/>
                  </a:ext>
                </a:extLst>
              </a:tr>
              <a:tr h="255914">
                <a:tc>
                  <a:txBody>
                    <a:bodyPr/>
                    <a:lstStyle/>
                    <a:p>
                      <a:pPr lvl="0">
                        <a:buNone/>
                      </a:pPr>
                      <a:endParaRPr lang="en-US" sz="1100" b="0">
                        <a:solidFill>
                          <a:schemeClr val="tx1"/>
                        </a:solidFill>
                      </a:endParaRPr>
                    </a:p>
                  </a:txBody>
                  <a:tcPr anchor="ctr"/>
                </a:tc>
                <a:tc>
                  <a:txBody>
                    <a:bodyPr/>
                    <a:lstStyle/>
                    <a:p>
                      <a:pPr lvl="0" algn="l">
                        <a:lnSpc>
                          <a:spcPct val="100000"/>
                        </a:lnSpc>
                        <a:spcBef>
                          <a:spcPts val="0"/>
                        </a:spcBef>
                        <a:spcAft>
                          <a:spcPts val="0"/>
                        </a:spcAft>
                        <a:buNone/>
                      </a:pPr>
                      <a:endParaRPr lang="en-US" sz="1100" b="0" i="0" u="none" strike="noStrike" noProof="0">
                        <a:solidFill>
                          <a:schemeClr val="tx1"/>
                        </a:solidFill>
                        <a:effectLst/>
                        <a:latin typeface="Ubuntu"/>
                      </a:endParaRPr>
                    </a:p>
                  </a:txBody>
                  <a:tcPr marR="7620" marT="7620" marB="0" anchor="ctr"/>
                </a:tc>
                <a:tc>
                  <a:txBody>
                    <a:bodyPr/>
                    <a:lstStyle/>
                    <a:p>
                      <a:pPr algn="l" fontAlgn="b"/>
                      <a:endParaRPr lang="en-US" sz="1100" b="0" i="0" u="none" strike="noStrike">
                        <a:solidFill>
                          <a:srgbClr val="000000"/>
                        </a:solidFill>
                        <a:effectLst/>
                        <a:latin typeface="+mn-lt"/>
                      </a:endParaRPr>
                    </a:p>
                  </a:txBody>
                  <a:tcPr marR="7620" marT="7620" marB="0" anchor="ctr"/>
                </a:tc>
                <a:tc>
                  <a:txBody>
                    <a:bodyPr/>
                    <a:lstStyle/>
                    <a:p>
                      <a:pPr lvl="0" algn="ctr">
                        <a:buNone/>
                      </a:pPr>
                      <a:endParaRPr lang="en-US" sz="1000" b="0" i="0" u="none" strike="noStrike" noProof="0">
                        <a:solidFill>
                          <a:srgbClr val="000000"/>
                        </a:solidFill>
                        <a:effectLst/>
                        <a:latin typeface="Ubuntu"/>
                      </a:endParaRPr>
                    </a:p>
                  </a:txBody>
                  <a:tcPr marT="7620" marB="0" anchor="ctr"/>
                </a:tc>
                <a:tc>
                  <a:txBody>
                    <a:bodyPr/>
                    <a:lstStyle/>
                    <a:p>
                      <a:pPr lvl="0" algn="ctr">
                        <a:buNone/>
                      </a:pPr>
                      <a:endParaRPr lang="en-US" sz="1000" b="0" i="0" u="none" strike="noStrike" noProof="0">
                        <a:solidFill>
                          <a:srgbClr val="000000"/>
                        </a:solidFill>
                        <a:latin typeface="Ubuntu"/>
                      </a:endParaRPr>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2230987287"/>
                  </a:ext>
                </a:extLst>
              </a:tr>
              <a:tr h="255914">
                <a:tc>
                  <a:txBody>
                    <a:bodyPr/>
                    <a:lstStyle/>
                    <a:p>
                      <a:pPr lvl="0">
                        <a:buNone/>
                      </a:pPr>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pPr lvl="0" algn="ctr">
                        <a:buNone/>
                      </a:pPr>
                      <a:endParaRPr lang="en-US" sz="1000" b="0" i="0" u="none" strike="noStrike" noProof="0">
                        <a:solidFill>
                          <a:srgbClr val="000000"/>
                        </a:solidFill>
                        <a:latin typeface="Ubuntu"/>
                      </a:endParaRPr>
                    </a:p>
                  </a:txBody>
                  <a:tcPr anchor="ctr"/>
                </a:tc>
                <a:tc>
                  <a:txBody>
                    <a:bodyPr/>
                    <a:lstStyle/>
                    <a:p>
                      <a:pPr lvl="0" algn="ctr">
                        <a:buNone/>
                      </a:pPr>
                      <a:endParaRPr lang="en-US" sz="1000" b="0" i="0" u="none" strike="noStrike" noProof="0">
                        <a:solidFill>
                          <a:srgbClr val="000000"/>
                        </a:solidFill>
                        <a:latin typeface="Ubuntu"/>
                      </a:endParaRPr>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1638271327"/>
                  </a:ext>
                </a:extLst>
              </a:tr>
              <a:tr h="255914">
                <a:tc>
                  <a:txBody>
                    <a:bodyPr/>
                    <a:lstStyle/>
                    <a:p>
                      <a:pPr lvl="0">
                        <a:buNone/>
                      </a:pPr>
                      <a:endParaRPr lang="en-US" sz="1100" b="0">
                        <a:solidFill>
                          <a:schemeClr val="tx1"/>
                        </a:solidFill>
                      </a:endParaRPr>
                    </a:p>
                  </a:txBody>
                  <a:tcPr anchor="ctr"/>
                </a:tc>
                <a:tc>
                  <a:txBody>
                    <a:bodyPr/>
                    <a:lstStyle/>
                    <a:p>
                      <a:pPr algn="l" fontAlgn="b"/>
                      <a:endParaRPr lang="en-US" sz="1100" b="0" i="0" u="none" strike="noStrike">
                        <a:solidFill>
                          <a:schemeClr val="tx1"/>
                        </a:solidFill>
                        <a:effectLst/>
                        <a:latin typeface="+mn-lt"/>
                      </a:endParaRPr>
                    </a:p>
                  </a:txBody>
                  <a:tcPr anchor="ctr"/>
                </a:tc>
                <a:tc>
                  <a:txBody>
                    <a:bodyPr/>
                    <a:lstStyle/>
                    <a:p>
                      <a:endParaRPr lang="en-US" sz="1100" b="0">
                        <a:solidFill>
                          <a:schemeClr val="tx1"/>
                        </a:solidFill>
                      </a:endParaRPr>
                    </a:p>
                  </a:txBody>
                  <a:tcPr anchor="ctr"/>
                </a:tc>
                <a:tc>
                  <a:txBody>
                    <a:bodyPr/>
                    <a:lstStyle/>
                    <a:p>
                      <a:pPr lvl="0" algn="ctr">
                        <a:buNone/>
                      </a:pPr>
                      <a:endParaRPr lang="en-US" sz="1000" b="0" i="0" u="none" strike="noStrike" noProof="0">
                        <a:solidFill>
                          <a:srgbClr val="000000"/>
                        </a:solidFill>
                        <a:latin typeface="Ubuntu"/>
                      </a:endParaRPr>
                    </a:p>
                  </a:txBody>
                  <a:tcPr anchor="ctr"/>
                </a:tc>
                <a:tc>
                  <a:txBody>
                    <a:bodyPr/>
                    <a:lstStyle/>
                    <a:p>
                      <a:pPr lvl="0" algn="ctr">
                        <a:buNone/>
                      </a:pPr>
                      <a:endParaRPr lang="en-US" sz="1000" b="0" i="0" u="none" strike="noStrike" noProof="0">
                        <a:solidFill>
                          <a:srgbClr val="000000"/>
                        </a:solidFill>
                        <a:latin typeface="Ubuntu"/>
                      </a:endParaRPr>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1372705525"/>
                  </a:ext>
                </a:extLst>
              </a:tr>
              <a:tr h="255914">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pPr lvl="0" algn="ctr">
                        <a:buNone/>
                      </a:pPr>
                      <a:endParaRPr lang="en-US" sz="1000" b="0" i="0" u="none" strike="noStrike" noProof="0">
                        <a:solidFill>
                          <a:srgbClr val="000000"/>
                        </a:solidFill>
                        <a:latin typeface="Ubuntu"/>
                      </a:endParaRPr>
                    </a:p>
                  </a:txBody>
                  <a:tcPr anchor="ctr"/>
                </a:tc>
                <a:tc>
                  <a:txBody>
                    <a:bodyPr/>
                    <a:lstStyle/>
                    <a:p>
                      <a:pPr lvl="0" algn="ctr">
                        <a:buNone/>
                      </a:pPr>
                      <a:endParaRPr lang="en-US" sz="1000" b="0" i="0" u="none" strike="noStrike" noProof="0">
                        <a:solidFill>
                          <a:srgbClr val="000000"/>
                        </a:solidFill>
                        <a:latin typeface="Ubuntu"/>
                      </a:endParaRPr>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3713958068"/>
                  </a:ext>
                </a:extLst>
              </a:tr>
              <a:tr h="255914">
                <a:tc>
                  <a:txBody>
                    <a:bodyPr/>
                    <a:lstStyle/>
                    <a:p>
                      <a:endParaRPr lang="en-US" sz="1100" b="0">
                        <a:solidFill>
                          <a:schemeClr val="tx1"/>
                        </a:solidFill>
                      </a:endParaRPr>
                    </a:p>
                  </a:txBody>
                  <a:tcPr anchor="ctr"/>
                </a:tc>
                <a:tc>
                  <a:txBody>
                    <a:bodyPr/>
                    <a:lstStyle/>
                    <a:p>
                      <a:pPr algn="l" fontAlgn="b"/>
                      <a:endParaRPr lang="en-US" sz="1100" b="0" i="0" u="none" strike="noStrike" err="1">
                        <a:solidFill>
                          <a:schemeClr val="tx1"/>
                        </a:solidFill>
                        <a:effectLst/>
                        <a:latin typeface="+mn-lt"/>
                      </a:endParaRPr>
                    </a:p>
                  </a:txBody>
                  <a:tcPr anchor="ctr"/>
                </a:tc>
                <a:tc>
                  <a:txBody>
                    <a:bodyPr/>
                    <a:lstStyle/>
                    <a:p>
                      <a:endParaRPr lang="en-US" sz="1100" b="0">
                        <a:solidFill>
                          <a:schemeClr val="tx1"/>
                        </a:solidFill>
                      </a:endParaRPr>
                    </a:p>
                  </a:txBody>
                  <a:tcPr anchor="ctr"/>
                </a:tc>
                <a:tc>
                  <a:txBody>
                    <a:bodyPr/>
                    <a:lstStyle/>
                    <a:p>
                      <a:pPr algn="ctr"/>
                      <a:endParaRPr lang="en-US" sz="1000" b="0">
                        <a:solidFill>
                          <a:schemeClr val="tx1"/>
                        </a:solidFill>
                      </a:endParaRPr>
                    </a:p>
                  </a:txBody>
                  <a:tcPr anchor="ctr"/>
                </a:tc>
                <a:tc>
                  <a:txBody>
                    <a:bodyPr/>
                    <a:lstStyle/>
                    <a:p>
                      <a:pPr lvl="0" algn="ctr">
                        <a:lnSpc>
                          <a:spcPct val="100000"/>
                        </a:lnSpc>
                        <a:spcBef>
                          <a:spcPts val="0"/>
                        </a:spcBef>
                        <a:spcAft>
                          <a:spcPts val="0"/>
                        </a:spcAft>
                        <a:buNone/>
                      </a:pPr>
                      <a:endParaRPr lang="en-US" sz="1000" b="0" i="0" u="none" strike="noStrike" noProof="0">
                        <a:solidFill>
                          <a:srgbClr val="000000"/>
                        </a:solidFill>
                        <a:latin typeface="Ubuntu"/>
                      </a:endParaRPr>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1414038630"/>
                  </a:ext>
                </a:extLst>
              </a:tr>
              <a:tr h="255914">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pPr algn="ctr"/>
                      <a:endParaRPr lang="en-US" sz="1000" b="0">
                        <a:solidFill>
                          <a:schemeClr val="tx1"/>
                        </a:solidFill>
                      </a:endParaRPr>
                    </a:p>
                  </a:txBody>
                  <a:tcPr anchor="ctr"/>
                </a:tc>
                <a:tc>
                  <a:txBody>
                    <a:bodyPr/>
                    <a:lstStyle/>
                    <a:p>
                      <a:pPr algn="ctr"/>
                      <a:endParaRPr lang="en-US" sz="1000"/>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3878396262"/>
                  </a:ext>
                </a:extLst>
              </a:tr>
              <a:tr h="255914">
                <a:tc>
                  <a:txBody>
                    <a:bodyPr/>
                    <a:lstStyle/>
                    <a:p>
                      <a:endParaRPr lang="en-US" sz="1100" b="0">
                        <a:solidFill>
                          <a:schemeClr val="tx1"/>
                        </a:solidFill>
                      </a:endParaRPr>
                    </a:p>
                  </a:txBody>
                  <a:tcPr anchor="ctr"/>
                </a:tc>
                <a:tc>
                  <a:txBody>
                    <a:bodyPr/>
                    <a:lstStyle/>
                    <a:p>
                      <a:pPr algn="l" fontAlgn="b"/>
                      <a:endParaRPr lang="en-US" sz="1100" b="1" i="0" u="none" strike="noStrike">
                        <a:solidFill>
                          <a:srgbClr val="FF0000"/>
                        </a:solidFill>
                        <a:effectLst/>
                        <a:latin typeface="+mn-lt"/>
                      </a:endParaRPr>
                    </a:p>
                  </a:txBody>
                  <a:tcPr anchor="ctr"/>
                </a:tc>
                <a:tc>
                  <a:txBody>
                    <a:bodyPr/>
                    <a:lstStyle/>
                    <a:p>
                      <a:endParaRPr lang="en-US" sz="1100" b="0">
                        <a:solidFill>
                          <a:schemeClr val="tx1"/>
                        </a:solidFill>
                      </a:endParaRPr>
                    </a:p>
                  </a:txBody>
                  <a:tcPr anchor="ctr"/>
                </a:tc>
                <a:tc>
                  <a:txBody>
                    <a:bodyPr/>
                    <a:lstStyle/>
                    <a:p>
                      <a:pPr algn="ctr"/>
                      <a:endParaRPr lang="en-US" sz="1000" b="0">
                        <a:solidFill>
                          <a:schemeClr val="tx1"/>
                        </a:solidFill>
                      </a:endParaRPr>
                    </a:p>
                  </a:txBody>
                  <a:tcPr anchor="ctr"/>
                </a:tc>
                <a:tc>
                  <a:txBody>
                    <a:bodyPr/>
                    <a:lstStyle/>
                    <a:p>
                      <a:pPr algn="ctr"/>
                      <a:endParaRPr lang="en-US" sz="1000"/>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206008715"/>
                  </a:ext>
                </a:extLst>
              </a:tr>
              <a:tr h="0">
                <a:tc>
                  <a:txBody>
                    <a:bodyPr/>
                    <a:lstStyle/>
                    <a:p>
                      <a:endParaRPr lang="en-US" sz="1100" b="0">
                        <a:solidFill>
                          <a:schemeClr val="tx1"/>
                        </a:solidFill>
                      </a:endParaRPr>
                    </a:p>
                  </a:txBody>
                  <a:tcPr anchor="ctr"/>
                </a:tc>
                <a:tc>
                  <a:txBody>
                    <a:bodyPr/>
                    <a:lstStyle/>
                    <a:p>
                      <a:pPr algn="l" fontAlgn="b"/>
                      <a:endParaRPr lang="en-US" sz="1100" b="1" i="0" u="none" strike="noStrike">
                        <a:solidFill>
                          <a:srgbClr val="FF0000"/>
                        </a:solidFill>
                        <a:effectLst/>
                        <a:latin typeface="+mn-lt"/>
                      </a:endParaRPr>
                    </a:p>
                  </a:txBody>
                  <a:tcPr anchor="ctr"/>
                </a:tc>
                <a:tc>
                  <a:txBody>
                    <a:bodyPr/>
                    <a:lstStyle/>
                    <a:p>
                      <a:endParaRPr lang="en-US" sz="1100" b="0">
                        <a:solidFill>
                          <a:schemeClr val="tx1"/>
                        </a:solidFill>
                      </a:endParaRPr>
                    </a:p>
                  </a:txBody>
                  <a:tcPr anchor="ctr"/>
                </a:tc>
                <a:tc>
                  <a:txBody>
                    <a:bodyPr/>
                    <a:lstStyle/>
                    <a:p>
                      <a:pPr algn="ctr"/>
                      <a:endParaRPr lang="en-US" sz="1000" b="0">
                        <a:solidFill>
                          <a:schemeClr val="tx1"/>
                        </a:solidFill>
                      </a:endParaRPr>
                    </a:p>
                  </a:txBody>
                  <a:tcPr anchor="ctr"/>
                </a:tc>
                <a:tc>
                  <a:txBody>
                    <a:bodyPr/>
                    <a:lstStyle/>
                    <a:p>
                      <a:pPr algn="ctr"/>
                      <a:endParaRPr lang="en-US" sz="1000"/>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823086864"/>
                  </a:ext>
                </a:extLst>
              </a:tr>
              <a:tr h="149331">
                <a:tc>
                  <a:txBody>
                    <a:bodyPr/>
                    <a:lstStyle/>
                    <a:p>
                      <a:endParaRPr lang="en-US" sz="1100" b="0">
                        <a:solidFill>
                          <a:schemeClr val="tx1"/>
                        </a:solidFill>
                      </a:endParaRPr>
                    </a:p>
                  </a:txBody>
                  <a:tcPr anchor="ctr"/>
                </a:tc>
                <a:tc>
                  <a:txBody>
                    <a:bodyPr/>
                    <a:lstStyle/>
                    <a:p>
                      <a:pPr algn="l" fontAlgn="b"/>
                      <a:endParaRPr lang="en-US" sz="1100" b="1" i="0" u="none" strike="noStrike">
                        <a:solidFill>
                          <a:srgbClr val="FF0000"/>
                        </a:solidFill>
                        <a:effectLst/>
                        <a:latin typeface="+mn-lt"/>
                      </a:endParaRPr>
                    </a:p>
                  </a:txBody>
                  <a:tcPr anchor="ctr"/>
                </a:tc>
                <a:tc>
                  <a:txBody>
                    <a:bodyPr/>
                    <a:lstStyle/>
                    <a:p>
                      <a:endParaRPr lang="en-US" sz="1100" b="0">
                        <a:solidFill>
                          <a:schemeClr val="tx1"/>
                        </a:solidFill>
                      </a:endParaRPr>
                    </a:p>
                  </a:txBody>
                  <a:tcPr anchor="ctr"/>
                </a:tc>
                <a:tc>
                  <a:txBody>
                    <a:bodyPr/>
                    <a:lstStyle/>
                    <a:p>
                      <a:pPr algn="ctr"/>
                      <a:endParaRPr lang="en-US" sz="1000" b="0">
                        <a:solidFill>
                          <a:schemeClr val="tx1"/>
                        </a:solidFill>
                      </a:endParaRPr>
                    </a:p>
                  </a:txBody>
                  <a:tcPr anchor="ctr"/>
                </a:tc>
                <a:tc>
                  <a:txBody>
                    <a:bodyPr/>
                    <a:lstStyle/>
                    <a:p>
                      <a:pPr algn="ctr"/>
                      <a:endParaRPr lang="en-US" sz="1000"/>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3645333267"/>
                  </a:ext>
                </a:extLst>
              </a:tr>
              <a:tr h="149331">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pPr algn="ctr"/>
                      <a:endParaRPr lang="en-US" sz="1000" b="0">
                        <a:solidFill>
                          <a:schemeClr val="tx1"/>
                        </a:solidFill>
                      </a:endParaRPr>
                    </a:p>
                  </a:txBody>
                  <a:tcPr anchor="ctr"/>
                </a:tc>
                <a:tc>
                  <a:txBody>
                    <a:bodyPr/>
                    <a:lstStyle/>
                    <a:p>
                      <a:pPr algn="ctr"/>
                      <a:endParaRPr lang="en-US" sz="1000"/>
                    </a:p>
                  </a:txBody>
                  <a:tcPr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629023769"/>
                  </a:ext>
                </a:extLst>
              </a:tr>
              <a:tr h="149331">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pPr algn="ctr"/>
                      <a:endParaRPr lang="en-US" sz="1000" b="0">
                        <a:solidFill>
                          <a:schemeClr val="tx1"/>
                        </a:solidFill>
                      </a:endParaRPr>
                    </a:p>
                  </a:txBody>
                  <a:tcPr anchor="ctr"/>
                </a:tc>
                <a:tc>
                  <a:txBody>
                    <a:bodyPr/>
                    <a:lstStyle/>
                    <a:p>
                      <a:pPr algn="ctr"/>
                      <a:endParaRPr lang="en-US" sz="1000"/>
                    </a:p>
                  </a:txBody>
                  <a:tcPr anchor="ctr"/>
                </a:tc>
                <a:tc>
                  <a:txBody>
                    <a:bodyPr/>
                    <a:lstStyle/>
                    <a:p>
                      <a:pPr algn="r" rtl="0" fontAlgn="b"/>
                      <a:r>
                        <a:rPr lang="en-US" sz="1000" b="0" i="0" u="none" strike="noStrike">
                          <a:solidFill>
                            <a:srgbClr val="000000"/>
                          </a:solidFill>
                          <a:effectLst/>
                          <a:latin typeface="+mn-lt"/>
                        </a:rPr>
                        <a:t> $27,000.00</a:t>
                      </a:r>
                    </a:p>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808399802"/>
                  </a:ext>
                </a:extLst>
              </a:tr>
            </a:tbl>
          </a:graphicData>
        </a:graphic>
      </p:graphicFrame>
      <p:graphicFrame>
        <p:nvGraphicFramePr>
          <p:cNvPr id="4" name="Table 3">
            <a:extLst>
              <a:ext uri="{FF2B5EF4-FFF2-40B4-BE49-F238E27FC236}">
                <a16:creationId xmlns:a16="http://schemas.microsoft.com/office/drawing/2014/main" id="{DC271D09-8FC5-358C-A8A5-72A37106CBAC}"/>
              </a:ext>
            </a:extLst>
          </p:cNvPr>
          <p:cNvGraphicFramePr>
            <a:graphicFrameLocks noGrp="1"/>
          </p:cNvGraphicFramePr>
          <p:nvPr>
            <p:extLst>
              <p:ext uri="{D42A27DB-BD31-4B8C-83A1-F6EECF244321}">
                <p14:modId xmlns:p14="http://schemas.microsoft.com/office/powerpoint/2010/main" val="2995527675"/>
              </p:ext>
            </p:extLst>
          </p:nvPr>
        </p:nvGraphicFramePr>
        <p:xfrm>
          <a:off x="304800" y="4866686"/>
          <a:ext cx="11519050" cy="1089660"/>
        </p:xfrm>
        <a:graphic>
          <a:graphicData uri="http://schemas.openxmlformats.org/drawingml/2006/table">
            <a:tbl>
              <a:tblPr firstRow="1" bandRow="1">
                <a:tableStyleId>{073A0DAA-6AF3-43AB-8588-CEC1D06C72B9}</a:tableStyleId>
              </a:tblPr>
              <a:tblGrid>
                <a:gridCol w="4943529">
                  <a:extLst>
                    <a:ext uri="{9D8B030D-6E8A-4147-A177-3AD203B41FA5}">
                      <a16:colId xmlns:a16="http://schemas.microsoft.com/office/drawing/2014/main" val="3588745383"/>
                    </a:ext>
                  </a:extLst>
                </a:gridCol>
                <a:gridCol w="1625520">
                  <a:extLst>
                    <a:ext uri="{9D8B030D-6E8A-4147-A177-3AD203B41FA5}">
                      <a16:colId xmlns:a16="http://schemas.microsoft.com/office/drawing/2014/main" val="3698628748"/>
                    </a:ext>
                  </a:extLst>
                </a:gridCol>
                <a:gridCol w="1625520">
                  <a:extLst>
                    <a:ext uri="{9D8B030D-6E8A-4147-A177-3AD203B41FA5}">
                      <a16:colId xmlns:a16="http://schemas.microsoft.com/office/drawing/2014/main" val="1602284821"/>
                    </a:ext>
                  </a:extLst>
                </a:gridCol>
                <a:gridCol w="1671181">
                  <a:extLst>
                    <a:ext uri="{9D8B030D-6E8A-4147-A177-3AD203B41FA5}">
                      <a16:colId xmlns:a16="http://schemas.microsoft.com/office/drawing/2014/main" val="3361952120"/>
                    </a:ext>
                  </a:extLst>
                </a:gridCol>
                <a:gridCol w="1653300">
                  <a:extLst>
                    <a:ext uri="{9D8B030D-6E8A-4147-A177-3AD203B41FA5}">
                      <a16:colId xmlns:a16="http://schemas.microsoft.com/office/drawing/2014/main" val="1137419098"/>
                    </a:ext>
                  </a:extLst>
                </a:gridCol>
              </a:tblGrid>
              <a:tr h="192215">
                <a:tc>
                  <a:txBody>
                    <a:bodyPr/>
                    <a:lstStyle/>
                    <a:p>
                      <a:r>
                        <a:rPr lang="en-US" sz="1100" b="1">
                          <a:solidFill>
                            <a:schemeClr val="bg1"/>
                          </a:solidFill>
                        </a:rPr>
                        <a:t>Other Direct Cost</a:t>
                      </a:r>
                    </a:p>
                  </a:txBody>
                  <a:tcPr>
                    <a:solidFill>
                      <a:schemeClr val="accent1"/>
                    </a:solidFill>
                  </a:tcPr>
                </a:tc>
                <a:tc>
                  <a:txBody>
                    <a:bodyPr/>
                    <a:lstStyle/>
                    <a:p>
                      <a:r>
                        <a:rPr lang="en-US" sz="1100" b="1">
                          <a:solidFill>
                            <a:schemeClr val="bg1"/>
                          </a:solidFill>
                        </a:rPr>
                        <a:t>Unit Price</a:t>
                      </a:r>
                    </a:p>
                  </a:txBody>
                  <a:tcPr>
                    <a:solidFill>
                      <a:schemeClr val="accent1"/>
                    </a:solidFill>
                  </a:tcPr>
                </a:tc>
                <a:tc>
                  <a:txBody>
                    <a:bodyPr/>
                    <a:lstStyle/>
                    <a:p>
                      <a:pPr lvl="0">
                        <a:buNone/>
                      </a:pPr>
                      <a:r>
                        <a:rPr lang="en-US" sz="1100" b="1">
                          <a:solidFill>
                            <a:schemeClr val="bg1"/>
                          </a:solidFill>
                        </a:rPr>
                        <a:t>Comment</a:t>
                      </a:r>
                    </a:p>
                  </a:txBody>
                  <a:tcPr>
                    <a:solidFill>
                      <a:schemeClr val="accent1"/>
                    </a:solidFill>
                  </a:tcPr>
                </a:tc>
                <a:tc>
                  <a:txBody>
                    <a:bodyPr/>
                    <a:lstStyle/>
                    <a:p>
                      <a:r>
                        <a:rPr lang="en-US" sz="1100" b="1">
                          <a:solidFill>
                            <a:schemeClr val="bg1"/>
                          </a:solidFill>
                        </a:rPr>
                        <a:t>Quantity</a:t>
                      </a:r>
                    </a:p>
                  </a:txBody>
                  <a:tcPr>
                    <a:solidFill>
                      <a:schemeClr val="accent1"/>
                    </a:solidFill>
                  </a:tcPr>
                </a:tc>
                <a:tc>
                  <a:txBody>
                    <a:bodyPr/>
                    <a:lstStyle/>
                    <a:p>
                      <a:r>
                        <a:rPr lang="en-US" sz="1100" b="1">
                          <a:solidFill>
                            <a:schemeClr val="bg1"/>
                          </a:solidFill>
                        </a:rPr>
                        <a:t>Total Cost</a:t>
                      </a:r>
                    </a:p>
                  </a:txBody>
                  <a:tcPr>
                    <a:solidFill>
                      <a:schemeClr val="accent1"/>
                    </a:solidFill>
                  </a:tcPr>
                </a:tc>
                <a:extLst>
                  <a:ext uri="{0D108BD9-81ED-4DB2-BD59-A6C34878D82A}">
                    <a16:rowId xmlns:a16="http://schemas.microsoft.com/office/drawing/2014/main" val="353147149"/>
                  </a:ext>
                </a:extLst>
              </a:tr>
              <a:tr h="255914">
                <a:tc>
                  <a:txBody>
                    <a:bodyPr/>
                    <a:lstStyle/>
                    <a:p>
                      <a:pPr algn="l" fontAlgn="b"/>
                      <a:r>
                        <a:rPr lang="en-US" sz="1100" b="0" i="0" u="none" strike="noStrike">
                          <a:solidFill>
                            <a:srgbClr val="000000"/>
                          </a:solidFill>
                          <a:effectLst/>
                          <a:latin typeface="+mn-lt"/>
                        </a:rPr>
                        <a:t>Monthly AWS</a:t>
                      </a:r>
                    </a:p>
                  </a:txBody>
                  <a:tcPr marR="7620" marT="7620" marB="0" anchor="ctr"/>
                </a:tc>
                <a:tc>
                  <a:txBody>
                    <a:bodyPr/>
                    <a:lstStyle/>
                    <a:p>
                      <a:pPr algn="ctr" rtl="0" fontAlgn="b"/>
                      <a:r>
                        <a:rPr lang="en-US" sz="1000" b="0" i="0" u="none" strike="noStrike">
                          <a:solidFill>
                            <a:srgbClr val="000000"/>
                          </a:solidFill>
                          <a:effectLst/>
                          <a:latin typeface="+mn-lt"/>
                        </a:rPr>
                        <a:t>$500 / month</a:t>
                      </a:r>
                    </a:p>
                  </a:txBody>
                  <a:tcPr marL="7620" marR="7620" marT="7620" marB="0" anchor="ctr"/>
                </a:tc>
                <a:tc>
                  <a:txBody>
                    <a:bodyPr/>
                    <a:lstStyle/>
                    <a:p>
                      <a:pPr lvl="0" algn="ctr">
                        <a:buNone/>
                      </a:pPr>
                      <a:r>
                        <a:rPr lang="en-US" sz="1000" b="0" i="0" u="none" strike="noStrike">
                          <a:solidFill>
                            <a:srgbClr val="000000"/>
                          </a:solidFill>
                          <a:effectLst/>
                          <a:latin typeface="+mn-lt"/>
                        </a:rPr>
                        <a:t>Reduced from current $6,000 / month expense</a:t>
                      </a:r>
                    </a:p>
                  </a:txBody>
                  <a:tcPr marL="7620" marR="7620" marT="7620" marB="0" anchor="ctr"/>
                </a:tc>
                <a:tc>
                  <a:txBody>
                    <a:bodyPr/>
                    <a:lstStyle/>
                    <a:p>
                      <a:pPr algn="ctr" rtl="0" fontAlgn="b"/>
                      <a:r>
                        <a:rPr lang="en-US" sz="1000" b="0" i="0" u="none" strike="noStrike">
                          <a:solidFill>
                            <a:srgbClr val="000000"/>
                          </a:solidFill>
                          <a:effectLst/>
                          <a:latin typeface="+mn-lt"/>
                        </a:rPr>
                        <a:t>1</a:t>
                      </a:r>
                    </a:p>
                  </a:txBody>
                  <a:tcPr marL="7620" marR="7620" marT="7620" marB="0" anchor="ctr"/>
                </a:tc>
                <a:tc>
                  <a:txBody>
                    <a:bodyPr/>
                    <a:lstStyle/>
                    <a:p>
                      <a:pPr algn="r" rtl="0" fontAlgn="b"/>
                      <a:endParaRPr lang="en-US" sz="1000" b="0" i="0" u="none" strike="noStrike">
                        <a:solidFill>
                          <a:srgbClr val="000000"/>
                        </a:solidFill>
                        <a:effectLst/>
                        <a:latin typeface="+mn-lt"/>
                      </a:endParaRPr>
                    </a:p>
                  </a:txBody>
                  <a:tcPr marL="7620" marT="7620" marB="0" anchor="ctr"/>
                </a:tc>
                <a:extLst>
                  <a:ext uri="{0D108BD9-81ED-4DB2-BD59-A6C34878D82A}">
                    <a16:rowId xmlns:a16="http://schemas.microsoft.com/office/drawing/2014/main" val="360089517"/>
                  </a:ext>
                </a:extLst>
              </a:tr>
              <a:tr h="255914">
                <a:tc>
                  <a:txBody>
                    <a:bodyPr/>
                    <a:lstStyle/>
                    <a:p>
                      <a:r>
                        <a:rPr lang="en-US" sz="1100" b="0">
                          <a:solidFill>
                            <a:schemeClr val="tx1"/>
                          </a:solidFill>
                        </a:rPr>
                        <a:t>Software licenses (Unity, Rider/Visual  Studio, Git)</a:t>
                      </a:r>
                    </a:p>
                  </a:txBody>
                  <a:tcPr anchor="ctr"/>
                </a:tc>
                <a:tc>
                  <a:txBody>
                    <a:bodyPr/>
                    <a:lstStyle/>
                    <a:p>
                      <a:endParaRPr lang="en-US" sz="1100" b="0">
                        <a:solidFill>
                          <a:schemeClr val="tx1"/>
                        </a:solidFill>
                      </a:endParaRPr>
                    </a:p>
                  </a:txBody>
                  <a:tcPr anchor="ctr"/>
                </a:tc>
                <a:tc>
                  <a:txBody>
                    <a:bodyPr/>
                    <a:lstStyle/>
                    <a:p>
                      <a:pPr lvl="0">
                        <a:buNone/>
                      </a:pPr>
                      <a:endParaRPr lang="en-US" sz="1100" b="0">
                        <a:solidFill>
                          <a:schemeClr val="tx1"/>
                        </a:solidFill>
                      </a:endParaRPr>
                    </a:p>
                  </a:txBody>
                  <a:tcPr anchor="ctr"/>
                </a:tc>
                <a:tc>
                  <a:txBody>
                    <a:bodyPr/>
                    <a:lstStyle/>
                    <a:p>
                      <a:endParaRPr lang="en-US" sz="1100"/>
                    </a:p>
                  </a:txBody>
                  <a:tcPr anchor="ctr"/>
                </a:tc>
                <a:tc>
                  <a:txBody>
                    <a:bodyPr/>
                    <a:lstStyle/>
                    <a:p>
                      <a:pPr algn="r"/>
                      <a:endParaRPr lang="en-US" sz="1100"/>
                    </a:p>
                  </a:txBody>
                  <a:tcPr anchor="ctr"/>
                </a:tc>
                <a:extLst>
                  <a:ext uri="{0D108BD9-81ED-4DB2-BD59-A6C34878D82A}">
                    <a16:rowId xmlns:a16="http://schemas.microsoft.com/office/drawing/2014/main" val="3878396262"/>
                  </a:ext>
                </a:extLst>
              </a:tr>
              <a:tr h="255914">
                <a:tc>
                  <a:txBody>
                    <a:bodyPr/>
                    <a:lstStyle/>
                    <a:p>
                      <a:endParaRPr lang="en-US" sz="1100" b="0">
                        <a:solidFill>
                          <a:schemeClr val="tx1"/>
                        </a:solidFill>
                      </a:endParaRPr>
                    </a:p>
                  </a:txBody>
                  <a:tcPr anchor="ctr"/>
                </a:tc>
                <a:tc>
                  <a:txBody>
                    <a:bodyPr/>
                    <a:lstStyle/>
                    <a:p>
                      <a:endParaRPr lang="en-US" sz="1100" b="0">
                        <a:solidFill>
                          <a:schemeClr val="tx1"/>
                        </a:solidFill>
                      </a:endParaRPr>
                    </a:p>
                  </a:txBody>
                  <a:tcPr anchor="ctr"/>
                </a:tc>
                <a:tc>
                  <a:txBody>
                    <a:bodyPr/>
                    <a:lstStyle/>
                    <a:p>
                      <a:pPr lvl="0">
                        <a:buNone/>
                      </a:pPr>
                      <a:endParaRPr lang="en-US" sz="1100" b="0">
                        <a:solidFill>
                          <a:schemeClr val="tx1"/>
                        </a:solidFill>
                      </a:endParaRPr>
                    </a:p>
                  </a:txBody>
                  <a:tcPr anchor="ctr"/>
                </a:tc>
                <a:tc>
                  <a:txBody>
                    <a:bodyPr/>
                    <a:lstStyle/>
                    <a:p>
                      <a:endParaRPr lang="en-US" sz="1100"/>
                    </a:p>
                  </a:txBody>
                  <a:tcPr anchor="ctr"/>
                </a:tc>
                <a:tc>
                  <a:txBody>
                    <a:bodyPr/>
                    <a:lstStyle/>
                    <a:p>
                      <a:pPr algn="r"/>
                      <a:endParaRPr lang="en-US" sz="1100"/>
                    </a:p>
                  </a:txBody>
                  <a:tcPr anchor="ctr"/>
                </a:tc>
                <a:extLst>
                  <a:ext uri="{0D108BD9-81ED-4DB2-BD59-A6C34878D82A}">
                    <a16:rowId xmlns:a16="http://schemas.microsoft.com/office/drawing/2014/main" val="206008715"/>
                  </a:ext>
                </a:extLst>
              </a:tr>
            </a:tbl>
          </a:graphicData>
        </a:graphic>
      </p:graphicFrame>
      <p:graphicFrame>
        <p:nvGraphicFramePr>
          <p:cNvPr id="6" name="Table 3">
            <a:extLst>
              <a:ext uri="{FF2B5EF4-FFF2-40B4-BE49-F238E27FC236}">
                <a16:creationId xmlns:a16="http://schemas.microsoft.com/office/drawing/2014/main" id="{7106BB7E-ABE6-DFD4-9736-AB98E527AFE6}"/>
              </a:ext>
            </a:extLst>
          </p:cNvPr>
          <p:cNvGraphicFramePr>
            <a:graphicFrameLocks noGrp="1"/>
          </p:cNvGraphicFramePr>
          <p:nvPr>
            <p:extLst>
              <p:ext uri="{D42A27DB-BD31-4B8C-83A1-F6EECF244321}">
                <p14:modId xmlns:p14="http://schemas.microsoft.com/office/powerpoint/2010/main" val="1665181438"/>
              </p:ext>
            </p:extLst>
          </p:nvPr>
        </p:nvGraphicFramePr>
        <p:xfrm>
          <a:off x="6414303" y="6462531"/>
          <a:ext cx="5407594" cy="304800"/>
        </p:xfrm>
        <a:graphic>
          <a:graphicData uri="http://schemas.openxmlformats.org/drawingml/2006/table">
            <a:tbl>
              <a:tblPr bandRow="1">
                <a:tableStyleId>{5C22544A-7EE6-4342-B048-85BDC9FD1C3A}</a:tableStyleId>
              </a:tblPr>
              <a:tblGrid>
                <a:gridCol w="1360025">
                  <a:extLst>
                    <a:ext uri="{9D8B030D-6E8A-4147-A177-3AD203B41FA5}">
                      <a16:colId xmlns:a16="http://schemas.microsoft.com/office/drawing/2014/main" val="3588745383"/>
                    </a:ext>
                  </a:extLst>
                </a:gridCol>
                <a:gridCol w="2334225">
                  <a:extLst>
                    <a:ext uri="{9D8B030D-6E8A-4147-A177-3AD203B41FA5}">
                      <a16:colId xmlns:a16="http://schemas.microsoft.com/office/drawing/2014/main" val="1875166813"/>
                    </a:ext>
                  </a:extLst>
                </a:gridCol>
                <a:gridCol w="1713344">
                  <a:extLst>
                    <a:ext uri="{9D8B030D-6E8A-4147-A177-3AD203B41FA5}">
                      <a16:colId xmlns:a16="http://schemas.microsoft.com/office/drawing/2014/main" val="829081756"/>
                    </a:ext>
                  </a:extLst>
                </a:gridCol>
              </a:tblGrid>
              <a:tr h="280882">
                <a:tc>
                  <a:txBody>
                    <a:bodyPr/>
                    <a:lstStyle/>
                    <a:p>
                      <a:r>
                        <a:rPr lang="en-US" sz="1400" b="1">
                          <a:solidFill>
                            <a:schemeClr val="bg1"/>
                          </a:solidFill>
                        </a:rPr>
                        <a:t>Total Budget</a:t>
                      </a:r>
                    </a:p>
                  </a:txBody>
                  <a:tcPr>
                    <a:solidFill>
                      <a:schemeClr val="accent1">
                        <a:lumMod val="75000"/>
                      </a:schemeClr>
                    </a:solidFill>
                  </a:tcPr>
                </a:tc>
                <a:tc>
                  <a:txBody>
                    <a:bodyPr/>
                    <a:lstStyle/>
                    <a:p>
                      <a:pPr lvl="0">
                        <a:buNone/>
                      </a:pPr>
                      <a:r>
                        <a:rPr lang="en-US" sz="1300" b="1" i="1">
                          <a:solidFill>
                            <a:schemeClr val="bg1"/>
                          </a:solidFill>
                        </a:rPr>
                        <a:t>(Pays for itself in 5 months)</a:t>
                      </a:r>
                    </a:p>
                  </a:txBody>
                  <a:tcPr>
                    <a:solidFill>
                      <a:srgbClr val="0070AD"/>
                    </a:solidFill>
                  </a:tcPr>
                </a:tc>
                <a:tc>
                  <a:txBody>
                    <a:bodyPr/>
                    <a:lstStyle/>
                    <a:p>
                      <a:pPr algn="r"/>
                      <a:r>
                        <a:rPr lang="en-US" sz="1400" b="1"/>
                        <a:t>  </a:t>
                      </a:r>
                    </a:p>
                  </a:txBody>
                  <a:tcPr>
                    <a:solidFill>
                      <a:schemeClr val="bg2">
                        <a:lumMod val="90000"/>
                      </a:schemeClr>
                    </a:solidFill>
                  </a:tcPr>
                </a:tc>
                <a:extLst>
                  <a:ext uri="{0D108BD9-81ED-4DB2-BD59-A6C34878D82A}">
                    <a16:rowId xmlns:a16="http://schemas.microsoft.com/office/drawing/2014/main" val="1510082024"/>
                  </a:ext>
                </a:extLst>
              </a:tr>
            </a:tbl>
          </a:graphicData>
        </a:graphic>
      </p:graphicFrame>
      <p:sp>
        <p:nvSpPr>
          <p:cNvPr id="7" name="TextBox 6">
            <a:extLst>
              <a:ext uri="{FF2B5EF4-FFF2-40B4-BE49-F238E27FC236}">
                <a16:creationId xmlns:a16="http://schemas.microsoft.com/office/drawing/2014/main" id="{B9F48796-9181-840C-5559-50C9ACFB3EB7}"/>
              </a:ext>
            </a:extLst>
          </p:cNvPr>
          <p:cNvSpPr txBox="1"/>
          <p:nvPr/>
        </p:nvSpPr>
        <p:spPr>
          <a:xfrm>
            <a:off x="304800" y="5953956"/>
            <a:ext cx="4572000" cy="276999"/>
          </a:xfrm>
          <a:prstGeom prst="rect">
            <a:avLst/>
          </a:prstGeom>
          <a:noFill/>
        </p:spPr>
        <p:txBody>
          <a:bodyPr wrap="square" rtlCol="0">
            <a:spAutoFit/>
          </a:bodyPr>
          <a:lstStyle/>
          <a:p>
            <a:r>
              <a:rPr lang="en-US" sz="1200"/>
              <a:t>*See Bid and Proposal Model </a:t>
            </a:r>
          </a:p>
        </p:txBody>
      </p:sp>
    </p:spTree>
    <p:extLst>
      <p:ext uri="{BB962C8B-B14F-4D97-AF65-F5344CB8AC3E}">
        <p14:creationId xmlns:p14="http://schemas.microsoft.com/office/powerpoint/2010/main" val="2607866249"/>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50FF32-FCA2-45C1-7A91-F9989CA62FCF}"/>
              </a:ext>
            </a:extLst>
          </p:cNvPr>
          <p:cNvSpPr>
            <a:spLocks noGrp="1"/>
          </p:cNvSpPr>
          <p:nvPr>
            <p:ph type="title"/>
          </p:nvPr>
        </p:nvSpPr>
        <p:spPr/>
        <p:txBody>
          <a:bodyPr/>
          <a:lstStyle/>
          <a:p>
            <a:r>
              <a:rPr lang="en-US" dirty="0"/>
              <a:t>SOLUTION INVESTMENT CONCEPT:</a:t>
            </a:r>
            <a:endParaRPr lang="en-US" dirty="0">
              <a:highlight>
                <a:srgbClr val="FFFF00"/>
              </a:highlight>
            </a:endParaRPr>
          </a:p>
        </p:txBody>
      </p:sp>
      <p:sp>
        <p:nvSpPr>
          <p:cNvPr id="3" name="TextBox 2">
            <a:extLst>
              <a:ext uri="{FF2B5EF4-FFF2-40B4-BE49-F238E27FC236}">
                <a16:creationId xmlns:a16="http://schemas.microsoft.com/office/drawing/2014/main" id="{935B98EB-D09D-93F8-6027-2672A418FBA7}"/>
              </a:ext>
            </a:extLst>
          </p:cNvPr>
          <p:cNvSpPr txBox="1"/>
          <p:nvPr/>
        </p:nvSpPr>
        <p:spPr>
          <a:xfrm>
            <a:off x="770205" y="1650692"/>
            <a:ext cx="9316330" cy="3556615"/>
          </a:xfrm>
          <a:prstGeom prst="rect">
            <a:avLst/>
          </a:prstGeom>
          <a:noFill/>
        </p:spPr>
        <p:txBody>
          <a:bodyPr wrap="square">
            <a:spAutoFit/>
          </a:bodyPr>
          <a:lstStyle/>
          <a:p>
            <a:pPr marL="0" marR="0">
              <a:lnSpc>
                <a:spcPct val="115000"/>
              </a:lnSpc>
              <a:spcAft>
                <a:spcPts val="800"/>
              </a:spcAft>
              <a:buNone/>
            </a:pPr>
            <a:r>
              <a:rPr lang="en-US" sz="1800" b="1" kern="100" dirty="0">
                <a:effectLst/>
                <a:latin typeface="Arial" panose="020B0604020202020204" pitchFamily="34" charset="0"/>
                <a:ea typeface="Aptos" panose="020B0004020202020204" pitchFamily="34" charset="0"/>
                <a:cs typeface="Times New Roman" panose="02020603050405020304" pitchFamily="18" charset="0"/>
              </a:rPr>
              <a:t>The DoD Landing Zone Accelerator</a:t>
            </a:r>
            <a:r>
              <a:rPr lang="en-US" sz="1800" kern="100" dirty="0">
                <a:effectLst/>
                <a:latin typeface="Arial" panose="020B0604020202020204" pitchFamily="34" charset="0"/>
                <a:ea typeface="Aptos" panose="020B0004020202020204" pitchFamily="34" charset="0"/>
                <a:cs typeface="Times New Roman" panose="02020603050405020304" pitchFamily="18" charset="0"/>
              </a:rPr>
              <a:t> is a modular and secure cloud onboarding framework for Department of Defense agencies, enabling: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Arial" panose="020B0604020202020204" pitchFamily="34" charset="0"/>
                <a:ea typeface="Aptos" panose="020B0004020202020204" pitchFamily="34" charset="0"/>
                <a:cs typeface="Times New Roman" panose="02020603050405020304" pitchFamily="18" charset="0"/>
              </a:rPr>
              <a:t>Multi-cloud compliance</a:t>
            </a:r>
            <a:r>
              <a:rPr lang="en-US" sz="1800" kern="100" dirty="0">
                <a:effectLst/>
                <a:latin typeface="Arial" panose="020B0604020202020204" pitchFamily="34" charset="0"/>
                <a:ea typeface="Aptos" panose="020B0004020202020204" pitchFamily="34" charset="0"/>
                <a:cs typeface="Times New Roman" panose="02020603050405020304" pitchFamily="18" charset="0"/>
              </a:rPr>
              <a:t>: SRG/NIST-800-53 baked into deployment pipelines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Arial" panose="020B0604020202020204" pitchFamily="34" charset="0"/>
                <a:ea typeface="Aptos" panose="020B0004020202020204" pitchFamily="34" charset="0"/>
                <a:cs typeface="Times New Roman" panose="02020603050405020304" pitchFamily="18" charset="0"/>
              </a:rPr>
              <a:t>Zero Trust Ready</a:t>
            </a:r>
            <a:r>
              <a:rPr lang="en-US" sz="1800" kern="100" dirty="0">
                <a:effectLst/>
                <a:latin typeface="Arial" panose="020B0604020202020204" pitchFamily="34" charset="0"/>
                <a:ea typeface="Aptos" panose="020B0004020202020204" pitchFamily="34" charset="0"/>
                <a:cs typeface="Times New Roman" panose="02020603050405020304" pitchFamily="18" charset="0"/>
              </a:rPr>
              <a:t>: Built-in IAM boundary isolation, security zones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Arial" panose="020B0604020202020204" pitchFamily="34" charset="0"/>
                <a:ea typeface="Aptos" panose="020B0004020202020204" pitchFamily="34" charset="0"/>
                <a:cs typeface="Times New Roman" panose="02020603050405020304" pitchFamily="18" charset="0"/>
              </a:rPr>
              <a:t>Fast-track Cloud Onboarding</a:t>
            </a:r>
            <a:r>
              <a:rPr lang="en-US" sz="1800" kern="100" dirty="0">
                <a:effectLst/>
                <a:latin typeface="Arial" panose="020B0604020202020204" pitchFamily="34" charset="0"/>
                <a:ea typeface="Aptos" panose="020B0004020202020204" pitchFamily="34" charset="0"/>
                <a:cs typeface="Times New Roman" panose="02020603050405020304" pitchFamily="18" charset="0"/>
              </a:rPr>
              <a:t>: From 8 weeks → 2 weeks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Arial" panose="020B0604020202020204" pitchFamily="34" charset="0"/>
                <a:ea typeface="Aptos" panose="020B0004020202020204" pitchFamily="34" charset="0"/>
                <a:cs typeface="Times New Roman" panose="02020603050405020304" pitchFamily="18" charset="0"/>
              </a:rPr>
              <a:t>CI/CD for Infrastructure</a:t>
            </a:r>
            <a:r>
              <a:rPr lang="en-US" sz="1800" kern="100" dirty="0">
                <a:effectLst/>
                <a:latin typeface="Arial" panose="020B0604020202020204" pitchFamily="34" charset="0"/>
                <a:ea typeface="Aptos" panose="020B0004020202020204" pitchFamily="34" charset="0"/>
                <a:cs typeface="Times New Roman" panose="02020603050405020304" pitchFamily="18" charset="0"/>
              </a:rPr>
              <a:t>: Terraform and </a:t>
            </a:r>
            <a:r>
              <a:rPr lang="en-US" sz="1800" kern="100" dirty="0" err="1">
                <a:effectLst/>
                <a:latin typeface="Arial" panose="020B0604020202020204" pitchFamily="34" charset="0"/>
                <a:ea typeface="Aptos" panose="020B0004020202020204" pitchFamily="34" charset="0"/>
                <a:cs typeface="Times New Roman" panose="02020603050405020304" pitchFamily="18" charset="0"/>
              </a:rPr>
              <a:t>GitOps</a:t>
            </a:r>
            <a:r>
              <a:rPr lang="en-US" sz="1800" kern="100" dirty="0">
                <a:effectLst/>
                <a:latin typeface="Arial" panose="020B0604020202020204" pitchFamily="34" charset="0"/>
                <a:ea typeface="Aptos" panose="020B0004020202020204" pitchFamily="34" charset="0"/>
                <a:cs typeface="Times New Roman" panose="02020603050405020304" pitchFamily="18" charset="0"/>
              </a:rPr>
              <a:t> pipelines pre-built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Arial" panose="020B0604020202020204" pitchFamily="34" charset="0"/>
                <a:ea typeface="Aptos" panose="020B0004020202020204" pitchFamily="34" charset="0"/>
                <a:cs typeface="Times New Roman" panose="02020603050405020304" pitchFamily="18" charset="0"/>
              </a:rPr>
              <a:t>Cross-cloud visibility</a:t>
            </a:r>
            <a:r>
              <a:rPr lang="en-US" sz="1800" kern="100" dirty="0">
                <a:effectLst/>
                <a:latin typeface="Arial" panose="020B0604020202020204" pitchFamily="34" charset="0"/>
                <a:ea typeface="Aptos" panose="020B0004020202020204" pitchFamily="34" charset="0"/>
                <a:cs typeface="Times New Roman" panose="02020603050405020304" pitchFamily="18" charset="0"/>
              </a:rPr>
              <a:t>: Unified dashboards across AWS, Azure, and GCP</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1800" kern="100" dirty="0">
                <a:effectLst/>
                <a:latin typeface="Arial" panose="020B0604020202020204" pitchFamily="34" charset="0"/>
                <a:ea typeface="Aptos" panose="020B0004020202020204" pitchFamily="34" charset="0"/>
                <a:cs typeface="Times New Roman" panose="02020603050405020304" pitchFamily="18" charset="0"/>
              </a:rPr>
              <a:t>This accelerator serves as a </a:t>
            </a:r>
            <a:r>
              <a:rPr lang="en-US" sz="1800" b="1" kern="100" dirty="0">
                <a:effectLst/>
                <a:latin typeface="Arial" panose="020B0604020202020204" pitchFamily="34" charset="0"/>
                <a:ea typeface="Aptos" panose="020B0004020202020204" pitchFamily="34" charset="0"/>
                <a:cs typeface="Times New Roman" panose="02020603050405020304" pitchFamily="18" charset="0"/>
              </a:rPr>
              <a:t>reusable platform</a:t>
            </a:r>
            <a:r>
              <a:rPr lang="en-US" sz="1800" kern="100" dirty="0">
                <a:effectLst/>
                <a:latin typeface="Arial" panose="020B0604020202020204" pitchFamily="34" charset="0"/>
                <a:ea typeface="Aptos" panose="020B0004020202020204" pitchFamily="34" charset="0"/>
                <a:cs typeface="Times New Roman" panose="02020603050405020304" pitchFamily="18" charset="0"/>
              </a:rPr>
              <a:t> for rapid adoption and can integrate into broader Zero Trust Architecture (ZTA) programs across the federal domain.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8389454"/>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630F3-5541-20DE-F04C-CA9E599198F1}"/>
              </a:ext>
            </a:extLst>
          </p:cNvPr>
          <p:cNvSpPr>
            <a:spLocks noGrp="1"/>
          </p:cNvSpPr>
          <p:nvPr>
            <p:ph type="title"/>
          </p:nvPr>
        </p:nvSpPr>
        <p:spPr/>
        <p:txBody>
          <a:bodyPr/>
          <a:lstStyle/>
          <a:p>
            <a:r>
              <a:rPr lang="en-US" dirty="0"/>
              <a:t>Solution INVESTMENT pitch additional information</a:t>
            </a:r>
          </a:p>
        </p:txBody>
      </p:sp>
      <p:sp>
        <p:nvSpPr>
          <p:cNvPr id="3" name="Text Placeholder 2">
            <a:extLst>
              <a:ext uri="{FF2B5EF4-FFF2-40B4-BE49-F238E27FC236}">
                <a16:creationId xmlns:a16="http://schemas.microsoft.com/office/drawing/2014/main" id="{50EDC5F8-C705-6527-CED0-408F3C54C022}"/>
              </a:ext>
            </a:extLst>
          </p:cNvPr>
          <p:cNvSpPr>
            <a:spLocks noGrp="1"/>
          </p:cNvSpPr>
          <p:nvPr>
            <p:ph type="body" sz="quarter" idx="10"/>
          </p:nvPr>
        </p:nvSpPr>
        <p:spPr/>
        <p:txBody>
          <a:bodyPr vert="horz" lIns="0" tIns="0" rIns="0" bIns="0" rtlCol="0" anchor="t">
            <a:noAutofit/>
          </a:bodyPr>
          <a:lstStyle/>
          <a:p>
            <a:r>
              <a:rPr lang="en-US" dirty="0"/>
              <a:t>Initial discussions with DoD cloud enablement teams have shown strong interest in pre-approved landing zones.</a:t>
            </a:r>
          </a:p>
          <a:p>
            <a:r>
              <a:rPr lang="en-US" dirty="0"/>
              <a:t>Existing internal prototypes exist for AWS and Azure; GCP version is in early stage.</a:t>
            </a:r>
          </a:p>
          <a:p>
            <a:r>
              <a:rPr lang="en-US" dirty="0"/>
              <a:t>Seeking further funding to enhance continuous compliance and Terraform modules.</a:t>
            </a:r>
          </a:p>
        </p:txBody>
      </p:sp>
    </p:spTree>
    <p:extLst>
      <p:ext uri="{BB962C8B-B14F-4D97-AF65-F5344CB8AC3E}">
        <p14:creationId xmlns:p14="http://schemas.microsoft.com/office/powerpoint/2010/main" val="19476564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pt-Capgemini_MasterTemplateCustomcolors.potx" id="{825B9D35-2592-4CA9-BA23-58B006335B2A}" vid="{B094C477-C962-4A54-95AE-F74EAD58A671}"/>
    </a:ext>
  </a:extLst>
</a:theme>
</file>

<file path=ppt/theme/theme2.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67ba6d1-da5a-46b2-a3ef-b71bd5d6ef07">
      <Terms xmlns="http://schemas.microsoft.com/office/infopath/2007/PartnerControls"/>
    </lcf76f155ced4ddcb4097134ff3c332f>
    <TaxCatchAll xmlns="800a47a1-2251-4aa7-b96a-43516c14afed" xsi:nil="true"/>
    <_Flow_SignoffStatus xmlns="f67ba6d1-da5a-46b2-a3ef-b71bd5d6ef0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CC8A897A5C4841B572A99DE978D72A" ma:contentTypeVersion="19" ma:contentTypeDescription="Create a new document." ma:contentTypeScope="" ma:versionID="ed1d05371d107c986aaecbc334266cd0">
  <xsd:schema xmlns:xsd="http://www.w3.org/2001/XMLSchema" xmlns:xs="http://www.w3.org/2001/XMLSchema" xmlns:p="http://schemas.microsoft.com/office/2006/metadata/properties" xmlns:ns2="f67ba6d1-da5a-46b2-a3ef-b71bd5d6ef07" xmlns:ns3="800a47a1-2251-4aa7-b96a-43516c14afed" targetNamespace="http://schemas.microsoft.com/office/2006/metadata/properties" ma:root="true" ma:fieldsID="7e1a4c984ff8f18944f65dbdbf699b7a" ns2:_="" ns3:_="">
    <xsd:import namespace="f67ba6d1-da5a-46b2-a3ef-b71bd5d6ef07"/>
    <xsd:import namespace="800a47a1-2251-4aa7-b96a-43516c14afe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7ba6d1-da5a-46b2-a3ef-b71bd5d6ef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5b0e521-1542-4dfa-a9db-e948f9dd978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Sign-off status" ma:internalName="Sign_x002d_off_x0020_status">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00a47a1-2251-4aa7-b96a-43516c14afe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276cbad-cc1e-4001-8bc4-e1d1ef105b8d}" ma:internalName="TaxCatchAll" ma:showField="CatchAllData" ma:web="800a47a1-2251-4aa7-b96a-43516c14a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D104E0-FFA0-4395-ACEF-3D0375F013BE}">
  <ds:schemaRefs>
    <ds:schemaRef ds:uri="http://schemas.microsoft.com/sharepoint/v3/contenttype/forms"/>
  </ds:schemaRefs>
</ds:datastoreItem>
</file>

<file path=customXml/itemProps2.xml><?xml version="1.0" encoding="utf-8"?>
<ds:datastoreItem xmlns:ds="http://schemas.openxmlformats.org/officeDocument/2006/customXml" ds:itemID="{300AB21C-98C5-48E9-8C69-9AB7E9EAB309}">
  <ds:schemaRefs>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dcmitype/"/>
    <ds:schemaRef ds:uri="f67ba6d1-da5a-46b2-a3ef-b71bd5d6ef07"/>
    <ds:schemaRef ds:uri="800a47a1-2251-4aa7-b96a-43516c14afed"/>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672F9229-EA18-4D26-A8A5-E2883CAD7F28}">
  <ds:schemaRefs>
    <ds:schemaRef ds:uri="800a47a1-2251-4aa7-b96a-43516c14afed"/>
    <ds:schemaRef ds:uri="f67ba6d1-da5a-46b2-a3ef-b71bd5d6ef0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21</TotalTime>
  <Words>645</Words>
  <Application>Microsoft Office PowerPoint</Application>
  <PresentationFormat>Widescreen</PresentationFormat>
  <Paragraphs>138</Paragraphs>
  <Slides>5</Slides>
  <Notes>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7" baseType="lpstr">
      <vt:lpstr>Aptos</vt:lpstr>
      <vt:lpstr>Aptos Narrow</vt:lpstr>
      <vt:lpstr>Arial</vt:lpstr>
      <vt:lpstr>Arial,Sans-Serif</vt:lpstr>
      <vt:lpstr>Symbol</vt:lpstr>
      <vt:lpstr>Ubuntu</vt:lpstr>
      <vt:lpstr>Ubuntu Light</vt:lpstr>
      <vt:lpstr>Ubuntu Medium</vt:lpstr>
      <vt:lpstr>Verdana</vt:lpstr>
      <vt:lpstr>Wingdings</vt:lpstr>
      <vt:lpstr>Capgemini2021</vt:lpstr>
      <vt:lpstr>think-cell Slide</vt:lpstr>
      <vt:lpstr>SOLUTION INVESTMENT PITCH OVERVIEW</vt:lpstr>
      <vt:lpstr>SOLUTION INVESTMENT OPPORTUNITY ALIGNMENT</vt:lpstr>
      <vt:lpstr>SOLUTION INVESTMENT budget</vt:lpstr>
      <vt:lpstr>SOLUTION INVESTMENT CONCEPT:</vt:lpstr>
      <vt:lpstr>Solution INVESTMENT pitch additional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presentation 2 lines</dc:title>
  <dc:creator>Oliver, Danielle</dc:creator>
  <cp:lastModifiedBy>Collins Afanwi</cp:lastModifiedBy>
  <cp:revision>9</cp:revision>
  <dcterms:created xsi:type="dcterms:W3CDTF">2022-08-16T15:21:52Z</dcterms:created>
  <dcterms:modified xsi:type="dcterms:W3CDTF">2025-04-15T10:21:41Z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0x010100F3CC8A897A5C4841B572A99DE978D72A</vt:lpwstr>
  </property>
  <property fmtid="{D5CDD505-2E9C-101B-9397-08002B2CF9AE}" pid="3" name="MediaServiceImageTags">
    <vt:lpwstr/>
  </property>
</Properties>
</file>